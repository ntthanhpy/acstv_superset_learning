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49" r:id="rId2"/>
    <p:sldMasterId id="2147483650" r:id="rId3"/>
  </p:sldMasterIdLst>
  <p:notesMasterIdLst>
    <p:notesMasterId r:id="rId20"/>
  </p:notesMasterIdLst>
  <p:sldIdLst>
    <p:sldId id="256" r:id="rId4"/>
    <p:sldId id="295" r:id="rId5"/>
    <p:sldId id="258" r:id="rId6"/>
    <p:sldId id="293" r:id="rId7"/>
    <p:sldId id="272" r:id="rId8"/>
    <p:sldId id="261" r:id="rId9"/>
    <p:sldId id="279" r:id="rId10"/>
    <p:sldId id="280" r:id="rId11"/>
    <p:sldId id="282" r:id="rId12"/>
    <p:sldId id="284" r:id="rId13"/>
    <p:sldId id="286" r:id="rId14"/>
    <p:sldId id="292" r:id="rId15"/>
    <p:sldId id="291" r:id="rId16"/>
    <p:sldId id="294" r:id="rId17"/>
    <p:sldId id="296" r:id="rId18"/>
    <p:sldId id="271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24" autoAdjust="0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126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to Takashi" userId="462256b7-6371-4185-848f-3c3de46a5740" providerId="ADAL" clId="{60A7ED73-7FAE-4EF2-A107-7CBAFD4916B0}"/>
    <pc:docChg chg="undo custSel addSld delSld modSld">
      <pc:chgData name="Kato Takashi" userId="462256b7-6371-4185-848f-3c3de46a5740" providerId="ADAL" clId="{60A7ED73-7FAE-4EF2-A107-7CBAFD4916B0}" dt="2026-08-07T01:52:21.266" v="4" actId="26606"/>
      <pc:docMkLst>
        <pc:docMk/>
      </pc:docMkLst>
      <pc:sldChg chg="modSp mod">
        <pc:chgData name="Kato Takashi" userId="462256b7-6371-4185-848f-3c3de46a5740" providerId="ADAL" clId="{60A7ED73-7FAE-4EF2-A107-7CBAFD4916B0}" dt="2026-08-07T01:52:21.266" v="4" actId="26606"/>
        <pc:sldMkLst>
          <pc:docMk/>
          <pc:sldMk cId="0" sldId="256"/>
        </pc:sldMkLst>
        <pc:spChg chg="add mod">
          <ac:chgData name="Kato Takashi" userId="462256b7-6371-4185-848f-3c3de46a5740" providerId="ADAL" clId="{60A7ED73-7FAE-4EF2-A107-7CBAFD4916B0}" dt="2026-08-07T01:52:21.266" v="4" actId="26606"/>
          <ac:spMkLst>
            <pc:docMk/>
            <pc:sldMk cId="0" sldId="256"/>
            <ac:spMk id="25" creationId="{00000000-0000-0000-0000-000000000000}"/>
          </ac:spMkLst>
        </pc:spChg>
      </pc:sldChg>
      <pc:sldChg chg="modSp mod">
        <pc:chgData name="Kato Takashi" userId="462256b7-6371-4185-848f-3c3de46a5740" providerId="ADAL" clId="{60A7ED73-7FAE-4EF2-A107-7CBAFD4916B0}" dt="2026-08-07T01:52:21.266" v="4" actId="26606"/>
        <pc:sldMkLst>
          <pc:docMk/>
          <pc:sldMk cId="0" sldId="258"/>
        </pc:sldMkLst>
        <pc:spChg chg="add mod">
          <ac:chgData name="Kato Takashi" userId="462256b7-6371-4185-848f-3c3de46a5740" providerId="ADAL" clId="{60A7ED73-7FAE-4EF2-A107-7CBAFD4916B0}" dt="2026-08-07T01:52:21.266" v="4" actId="26606"/>
          <ac:spMkLst>
            <pc:docMk/>
            <pc:sldMk cId="0" sldId="258"/>
            <ac:spMk id="36" creationId="{00000000-0000-0000-0000-000000000000}"/>
          </ac:spMkLst>
        </pc:spChg>
      </pc:sldChg>
      <pc:sldChg chg="modSp mod">
        <pc:chgData name="Kato Takashi" userId="462256b7-6371-4185-848f-3c3de46a5740" providerId="ADAL" clId="{60A7ED73-7FAE-4EF2-A107-7CBAFD4916B0}" dt="2026-08-07T01:52:21.266" v="4" actId="26606"/>
        <pc:sldMkLst>
          <pc:docMk/>
          <pc:sldMk cId="0" sldId="261"/>
        </pc:sldMkLst>
        <pc:spChg chg="add mod">
          <ac:chgData name="Kato Takashi" userId="462256b7-6371-4185-848f-3c3de46a5740" providerId="ADAL" clId="{60A7ED73-7FAE-4EF2-A107-7CBAFD4916B0}" dt="2026-08-07T01:52:21.266" v="4" actId="26606"/>
          <ac:spMkLst>
            <pc:docMk/>
            <pc:sldMk cId="0" sldId="261"/>
            <ac:spMk id="80" creationId="{00000000-0000-0000-0000-000000000000}"/>
          </ac:spMkLst>
        </pc:spChg>
      </pc:sldChg>
      <pc:sldChg chg="modSp mod">
        <pc:chgData name="Kato Takashi" userId="462256b7-6371-4185-848f-3c3de46a5740" providerId="ADAL" clId="{60A7ED73-7FAE-4EF2-A107-7CBAFD4916B0}" dt="2026-08-07T01:52:21.266" v="4" actId="26606"/>
        <pc:sldMkLst>
          <pc:docMk/>
          <pc:sldMk cId="0" sldId="271"/>
        </pc:sldMkLst>
        <pc:spChg chg="add mod">
          <ac:chgData name="Kato Takashi" userId="462256b7-6371-4185-848f-3c3de46a5740" providerId="ADAL" clId="{60A7ED73-7FAE-4EF2-A107-7CBAFD4916B0}" dt="2026-08-07T01:52:21.266" v="4" actId="26606"/>
          <ac:spMkLst>
            <pc:docMk/>
            <pc:sldMk cId="0" sldId="271"/>
            <ac:spMk id="25" creationId="{00000000-0000-0000-0000-000000000000}"/>
          </ac:spMkLst>
        </pc:spChg>
      </pc:sldChg>
      <pc:sldChg chg="modSp mod">
        <pc:chgData name="Kato Takashi" userId="462256b7-6371-4185-848f-3c3de46a5740" providerId="ADAL" clId="{60A7ED73-7FAE-4EF2-A107-7CBAFD4916B0}" dt="2026-08-07T01:52:21.266" v="4" actId="26606"/>
        <pc:sldMkLst>
          <pc:docMk/>
          <pc:sldMk cId="0" sldId="272"/>
        </pc:sldMkLst>
        <pc:spChg chg="add mod">
          <ac:chgData name="Kato Takashi" userId="462256b7-6371-4185-848f-3c3de46a5740" providerId="ADAL" clId="{60A7ED73-7FAE-4EF2-A107-7CBAFD4916B0}" dt="2026-08-07T01:52:21.266" v="4" actId="26606"/>
          <ac:spMkLst>
            <pc:docMk/>
            <pc:sldMk cId="0" sldId="272"/>
            <ac:spMk id="41" creationId="{00000000-0000-0000-0000-000000000000}"/>
          </ac:spMkLst>
        </pc:spChg>
      </pc:sldChg>
      <pc:sldChg chg="modSp mod">
        <pc:chgData name="Kato Takashi" userId="462256b7-6371-4185-848f-3c3de46a5740" providerId="ADAL" clId="{60A7ED73-7FAE-4EF2-A107-7CBAFD4916B0}" dt="2026-08-07T01:52:21.266" v="4" actId="26606"/>
        <pc:sldMkLst>
          <pc:docMk/>
          <pc:sldMk cId="0" sldId="279"/>
        </pc:sldMkLst>
        <pc:spChg chg="add mod">
          <ac:chgData name="Kato Takashi" userId="462256b7-6371-4185-848f-3c3de46a5740" providerId="ADAL" clId="{60A7ED73-7FAE-4EF2-A107-7CBAFD4916B0}" dt="2026-08-07T01:52:21.266" v="4" actId="26606"/>
          <ac:spMkLst>
            <pc:docMk/>
            <pc:sldMk cId="0" sldId="279"/>
            <ac:spMk id="80" creationId="{00000000-0000-0000-0000-000000000000}"/>
          </ac:spMkLst>
        </pc:spChg>
      </pc:sldChg>
      <pc:sldChg chg="modSp mod">
        <pc:chgData name="Kato Takashi" userId="462256b7-6371-4185-848f-3c3de46a5740" providerId="ADAL" clId="{60A7ED73-7FAE-4EF2-A107-7CBAFD4916B0}" dt="2026-08-07T01:52:21.266" v="4" actId="26606"/>
        <pc:sldMkLst>
          <pc:docMk/>
          <pc:sldMk cId="0" sldId="280"/>
        </pc:sldMkLst>
        <pc:spChg chg="add mod">
          <ac:chgData name="Kato Takashi" userId="462256b7-6371-4185-848f-3c3de46a5740" providerId="ADAL" clId="{60A7ED73-7FAE-4EF2-A107-7CBAFD4916B0}" dt="2026-08-07T01:52:21.266" v="4" actId="26606"/>
          <ac:spMkLst>
            <pc:docMk/>
            <pc:sldMk cId="0" sldId="280"/>
            <ac:spMk id="80" creationId="{00000000-0000-0000-0000-000000000000}"/>
          </ac:spMkLst>
        </pc:spChg>
      </pc:sldChg>
      <pc:sldChg chg="modSp mod">
        <pc:chgData name="Kato Takashi" userId="462256b7-6371-4185-848f-3c3de46a5740" providerId="ADAL" clId="{60A7ED73-7FAE-4EF2-A107-7CBAFD4916B0}" dt="2026-08-07T01:52:21.266" v="4" actId="26606"/>
        <pc:sldMkLst>
          <pc:docMk/>
          <pc:sldMk cId="0" sldId="282"/>
        </pc:sldMkLst>
        <pc:spChg chg="add mod">
          <ac:chgData name="Kato Takashi" userId="462256b7-6371-4185-848f-3c3de46a5740" providerId="ADAL" clId="{60A7ED73-7FAE-4EF2-A107-7CBAFD4916B0}" dt="2026-08-07T01:52:21.266" v="4" actId="26606"/>
          <ac:spMkLst>
            <pc:docMk/>
            <pc:sldMk cId="0" sldId="282"/>
            <ac:spMk id="80" creationId="{00000000-0000-0000-0000-000000000000}"/>
          </ac:spMkLst>
        </pc:spChg>
      </pc:sldChg>
      <pc:sldChg chg="modSp mod">
        <pc:chgData name="Kato Takashi" userId="462256b7-6371-4185-848f-3c3de46a5740" providerId="ADAL" clId="{60A7ED73-7FAE-4EF2-A107-7CBAFD4916B0}" dt="2026-08-07T01:52:21.266" v="4" actId="26606"/>
        <pc:sldMkLst>
          <pc:docMk/>
          <pc:sldMk cId="0" sldId="284"/>
        </pc:sldMkLst>
        <pc:spChg chg="add mod">
          <ac:chgData name="Kato Takashi" userId="462256b7-6371-4185-848f-3c3de46a5740" providerId="ADAL" clId="{60A7ED73-7FAE-4EF2-A107-7CBAFD4916B0}" dt="2026-08-07T01:52:21.266" v="4" actId="26606"/>
          <ac:spMkLst>
            <pc:docMk/>
            <pc:sldMk cId="0" sldId="284"/>
            <ac:spMk id="80" creationId="{00000000-0000-0000-0000-000000000000}"/>
          </ac:spMkLst>
        </pc:spChg>
      </pc:sldChg>
      <pc:sldChg chg="modSp mod">
        <pc:chgData name="Kato Takashi" userId="462256b7-6371-4185-848f-3c3de46a5740" providerId="ADAL" clId="{60A7ED73-7FAE-4EF2-A107-7CBAFD4916B0}" dt="2026-08-07T01:52:21.266" v="4" actId="26606"/>
        <pc:sldMkLst>
          <pc:docMk/>
          <pc:sldMk cId="0" sldId="286"/>
        </pc:sldMkLst>
        <pc:spChg chg="add mod">
          <ac:chgData name="Kato Takashi" userId="462256b7-6371-4185-848f-3c3de46a5740" providerId="ADAL" clId="{60A7ED73-7FAE-4EF2-A107-7CBAFD4916B0}" dt="2026-08-07T01:52:21.266" v="4" actId="26606"/>
          <ac:spMkLst>
            <pc:docMk/>
            <pc:sldMk cId="0" sldId="286"/>
            <ac:spMk id="80" creationId="{00000000-0000-0000-0000-000000000000}"/>
          </ac:spMkLst>
        </pc:spChg>
      </pc:sldChg>
      <pc:sldChg chg="modSp add del mod">
        <pc:chgData name="Kato Takashi" userId="462256b7-6371-4185-848f-3c3de46a5740" providerId="ADAL" clId="{60A7ED73-7FAE-4EF2-A107-7CBAFD4916B0}" dt="2026-08-07T01:52:21.266" v="4" actId="26606"/>
        <pc:sldMkLst>
          <pc:docMk/>
          <pc:sldMk cId="3362795024" sldId="290"/>
        </pc:sldMkLst>
        <pc:spChg chg="add mod">
          <ac:chgData name="Kato Takashi" userId="462256b7-6371-4185-848f-3c3de46a5740" providerId="ADAL" clId="{60A7ED73-7FAE-4EF2-A107-7CBAFD4916B0}" dt="2026-08-07T01:46:38.338" v="1" actId="26606"/>
          <ac:spMkLst>
            <pc:docMk/>
            <pc:sldMk cId="3362795024" sldId="290"/>
            <ac:spMk id="80" creationId="{95273B6F-A59E-1331-7B20-A432456C850C}"/>
          </ac:spMkLst>
        </pc:spChg>
      </pc:sldChg>
      <pc:sldChg chg="modSp mod">
        <pc:chgData name="Kato Takashi" userId="462256b7-6371-4185-848f-3c3de46a5740" providerId="ADAL" clId="{60A7ED73-7FAE-4EF2-A107-7CBAFD4916B0}" dt="2026-08-07T01:52:21.266" v="4" actId="26606"/>
        <pc:sldMkLst>
          <pc:docMk/>
          <pc:sldMk cId="3362795024" sldId="291"/>
        </pc:sldMkLst>
        <pc:spChg chg="add mod">
          <ac:chgData name="Kato Takashi" userId="462256b7-6371-4185-848f-3c3de46a5740" providerId="ADAL" clId="{60A7ED73-7FAE-4EF2-A107-7CBAFD4916B0}" dt="2026-08-07T01:52:21.266" v="4" actId="26606"/>
          <ac:spMkLst>
            <pc:docMk/>
            <pc:sldMk cId="3362795024" sldId="291"/>
            <ac:spMk id="80" creationId="{95273B6F-A59E-1331-7B20-A432456C850C}"/>
          </ac:spMkLst>
        </pc:spChg>
      </pc:sldChg>
      <pc:sldChg chg="modSp mod">
        <pc:chgData name="Kato Takashi" userId="462256b7-6371-4185-848f-3c3de46a5740" providerId="ADAL" clId="{60A7ED73-7FAE-4EF2-A107-7CBAFD4916B0}" dt="2026-08-07T01:52:21.266" v="4" actId="26606"/>
        <pc:sldMkLst>
          <pc:docMk/>
          <pc:sldMk cId="3362795024" sldId="292"/>
        </pc:sldMkLst>
        <pc:spChg chg="add mod">
          <ac:chgData name="Kato Takashi" userId="462256b7-6371-4185-848f-3c3de46a5740" providerId="ADAL" clId="{60A7ED73-7FAE-4EF2-A107-7CBAFD4916B0}" dt="2026-08-07T01:52:21.266" v="4" actId="26606"/>
          <ac:spMkLst>
            <pc:docMk/>
            <pc:sldMk cId="3362795024" sldId="292"/>
            <ac:spMk id="80" creationId="{95273B6F-A59E-1331-7B20-A432456C850C}"/>
          </ac:spMkLst>
        </pc:spChg>
      </pc:sldChg>
      <pc:sldChg chg="addSp delSp modSp mod">
        <pc:chgData name="Kato Takashi" userId="462256b7-6371-4185-848f-3c3de46a5740" providerId="ADAL" clId="{60A7ED73-7FAE-4EF2-A107-7CBAFD4916B0}" dt="2026-08-07T01:52:21.266" v="4" actId="26606"/>
        <pc:sldMkLst>
          <pc:docMk/>
          <pc:sldMk cId="0" sldId="293"/>
        </pc:sldMkLst>
        <pc:spChg chg="mod">
          <ac:chgData name="Kato Takashi" userId="462256b7-6371-4185-848f-3c3de46a5740" providerId="ADAL" clId="{60A7ED73-7FAE-4EF2-A107-7CBAFD4916B0}" dt="2026-08-07T01:46:38.338" v="1" actId="26606"/>
          <ac:spMkLst>
            <pc:docMk/>
            <pc:sldMk cId="0" sldId="293"/>
            <ac:spMk id="4" creationId="{00000000-0000-0000-0000-000000000000}"/>
          </ac:spMkLst>
        </pc:spChg>
        <pc:spChg chg="mod">
          <ac:chgData name="Kato Takashi" userId="462256b7-6371-4185-848f-3c3de46a5740" providerId="ADAL" clId="{60A7ED73-7FAE-4EF2-A107-7CBAFD4916B0}" dt="2026-08-07T01:46:38.338" v="1" actId="26606"/>
          <ac:spMkLst>
            <pc:docMk/>
            <pc:sldMk cId="0" sldId="293"/>
            <ac:spMk id="14" creationId="{00000000-0000-0000-0000-000000000000}"/>
          </ac:spMkLst>
        </pc:spChg>
        <pc:spChg chg="mod">
          <ac:chgData name="Kato Takashi" userId="462256b7-6371-4185-848f-3c3de46a5740" providerId="ADAL" clId="{60A7ED73-7FAE-4EF2-A107-7CBAFD4916B0}" dt="2026-08-07T01:46:38.338" v="1" actId="26606"/>
          <ac:spMkLst>
            <pc:docMk/>
            <pc:sldMk cId="0" sldId="293"/>
            <ac:spMk id="17" creationId="{00000000-0000-0000-0000-000000000000}"/>
          </ac:spMkLst>
        </pc:spChg>
        <pc:spChg chg="mod">
          <ac:chgData name="Kato Takashi" userId="462256b7-6371-4185-848f-3c3de46a5740" providerId="ADAL" clId="{60A7ED73-7FAE-4EF2-A107-7CBAFD4916B0}" dt="2026-08-07T01:46:38.338" v="1" actId="26606"/>
          <ac:spMkLst>
            <pc:docMk/>
            <pc:sldMk cId="0" sldId="293"/>
            <ac:spMk id="23" creationId="{00000000-0000-0000-0000-000000000000}"/>
          </ac:spMkLst>
        </pc:spChg>
        <pc:spChg chg="mod">
          <ac:chgData name="Kato Takashi" userId="462256b7-6371-4185-848f-3c3de46a5740" providerId="ADAL" clId="{60A7ED73-7FAE-4EF2-A107-7CBAFD4916B0}" dt="2026-08-07T01:52:21.266" v="4" actId="26606"/>
          <ac:spMkLst>
            <pc:docMk/>
            <pc:sldMk cId="0" sldId="293"/>
            <ac:spMk id="24" creationId="{00000000-0000-0000-0000-000000000000}"/>
          </ac:spMkLst>
        </pc:spChg>
        <pc:spChg chg="mod">
          <ac:chgData name="Kato Takashi" userId="462256b7-6371-4185-848f-3c3de46a5740" providerId="ADAL" clId="{60A7ED73-7FAE-4EF2-A107-7CBAFD4916B0}" dt="2026-08-07T01:52:21.266" v="4" actId="26606"/>
          <ac:spMkLst>
            <pc:docMk/>
            <pc:sldMk cId="0" sldId="293"/>
            <ac:spMk id="26" creationId="{00000000-0000-0000-0000-000000000000}"/>
          </ac:spMkLst>
        </pc:spChg>
        <pc:spChg chg="mod">
          <ac:chgData name="Kato Takashi" userId="462256b7-6371-4185-848f-3c3de46a5740" providerId="ADAL" clId="{60A7ED73-7FAE-4EF2-A107-7CBAFD4916B0}" dt="2026-08-07T01:46:38.338" v="1" actId="26606"/>
          <ac:spMkLst>
            <pc:docMk/>
            <pc:sldMk cId="0" sldId="293"/>
            <ac:spMk id="28" creationId="{00000000-0000-0000-0000-000000000000}"/>
          </ac:spMkLst>
        </pc:spChg>
        <pc:spChg chg="del mod">
          <ac:chgData name="Kato Takashi" userId="462256b7-6371-4185-848f-3c3de46a5740" providerId="ADAL" clId="{60A7ED73-7FAE-4EF2-A107-7CBAFD4916B0}" dt="2026-08-07T01:52:21.266" v="4" actId="26606"/>
          <ac:spMkLst>
            <pc:docMk/>
            <pc:sldMk cId="0" sldId="293"/>
            <ac:spMk id="31" creationId="{00000000-0000-0000-0000-000000000000}"/>
          </ac:spMkLst>
        </pc:spChg>
        <pc:spChg chg="del mod">
          <ac:chgData name="Kato Takashi" userId="462256b7-6371-4185-848f-3c3de46a5740" providerId="ADAL" clId="{60A7ED73-7FAE-4EF2-A107-7CBAFD4916B0}" dt="2026-08-07T01:52:21.266" v="4" actId="26606"/>
          <ac:spMkLst>
            <pc:docMk/>
            <pc:sldMk cId="0" sldId="293"/>
            <ac:spMk id="34" creationId="{00000000-0000-0000-0000-000000000000}"/>
          </ac:spMkLst>
        </pc:spChg>
        <pc:spChg chg="mod">
          <ac:chgData name="Kato Takashi" userId="462256b7-6371-4185-848f-3c3de46a5740" providerId="ADAL" clId="{60A7ED73-7FAE-4EF2-A107-7CBAFD4916B0}" dt="2026-08-07T01:46:38.338" v="1" actId="26606"/>
          <ac:spMkLst>
            <pc:docMk/>
            <pc:sldMk cId="0" sldId="293"/>
            <ac:spMk id="36" creationId="{00000000-0000-0000-0000-000000000000}"/>
          </ac:spMkLst>
        </pc:spChg>
        <pc:spChg chg="mod">
          <ac:chgData name="Kato Takashi" userId="462256b7-6371-4185-848f-3c3de46a5740" providerId="ADAL" clId="{60A7ED73-7FAE-4EF2-A107-7CBAFD4916B0}" dt="2026-08-07T01:52:21.266" v="4" actId="26606"/>
          <ac:spMkLst>
            <pc:docMk/>
            <pc:sldMk cId="0" sldId="293"/>
            <ac:spMk id="56" creationId="{00000000-0000-0000-0000-000000000000}"/>
          </ac:spMkLst>
        </pc:spChg>
        <pc:spChg chg="mod">
          <ac:chgData name="Kato Takashi" userId="462256b7-6371-4185-848f-3c3de46a5740" providerId="ADAL" clId="{60A7ED73-7FAE-4EF2-A107-7CBAFD4916B0}" dt="2026-08-07T01:52:21.266" v="4" actId="26606"/>
          <ac:spMkLst>
            <pc:docMk/>
            <pc:sldMk cId="0" sldId="293"/>
            <ac:spMk id="172" creationId="{00000000-0000-0000-0000-000000000000}"/>
          </ac:spMkLst>
        </pc:spChg>
        <pc:spChg chg="mod">
          <ac:chgData name="Kato Takashi" userId="462256b7-6371-4185-848f-3c3de46a5740" providerId="ADAL" clId="{60A7ED73-7FAE-4EF2-A107-7CBAFD4916B0}" dt="2026-08-07T01:52:21.266" v="4" actId="26606"/>
          <ac:spMkLst>
            <pc:docMk/>
            <pc:sldMk cId="0" sldId="293"/>
            <ac:spMk id="183" creationId="{00000000-0000-0000-0000-000000000000}"/>
          </ac:spMkLst>
        </pc:spChg>
        <pc:spChg chg="mod">
          <ac:chgData name="Kato Takashi" userId="462256b7-6371-4185-848f-3c3de46a5740" providerId="ADAL" clId="{60A7ED73-7FAE-4EF2-A107-7CBAFD4916B0}" dt="2026-08-07T01:52:21.266" v="4" actId="26606"/>
          <ac:spMkLst>
            <pc:docMk/>
            <pc:sldMk cId="0" sldId="293"/>
            <ac:spMk id="190" creationId="{00000000-0000-0000-0000-000000000000}"/>
          </ac:spMkLst>
        </pc:spChg>
        <pc:spChg chg="mod">
          <ac:chgData name="Kato Takashi" userId="462256b7-6371-4185-848f-3c3de46a5740" providerId="ADAL" clId="{60A7ED73-7FAE-4EF2-A107-7CBAFD4916B0}" dt="2026-08-07T01:52:21.266" v="4" actId="26606"/>
          <ac:spMkLst>
            <pc:docMk/>
            <pc:sldMk cId="0" sldId="293"/>
            <ac:spMk id="896" creationId="{00000000-0000-0000-0000-000000000000}"/>
          </ac:spMkLst>
        </pc:spChg>
        <pc:spChg chg="add mod">
          <ac:chgData name="Kato Takashi" userId="462256b7-6371-4185-848f-3c3de46a5740" providerId="ADAL" clId="{60A7ED73-7FAE-4EF2-A107-7CBAFD4916B0}" dt="2026-08-07T01:52:21.266" v="4" actId="26606"/>
          <ac:spMkLst>
            <pc:docMk/>
            <pc:sldMk cId="0" sldId="293"/>
            <ac:spMk id="900004" creationId="{00000000-0000-0000-0000-000000000000}"/>
          </ac:spMkLst>
        </pc:spChg>
        <pc:spChg chg="mod">
          <ac:chgData name="Kato Takashi" userId="462256b7-6371-4185-848f-3c3de46a5740" providerId="ADAL" clId="{60A7ED73-7FAE-4EF2-A107-7CBAFD4916B0}" dt="2026-08-07T01:46:38.338" v="1" actId="26606"/>
          <ac:spMkLst>
            <pc:docMk/>
            <pc:sldMk cId="0" sldId="293"/>
            <ac:spMk id="900006" creationId="{00000000-0000-0000-0000-000000000000}"/>
          </ac:spMkLst>
        </pc:spChg>
      </pc:sldChg>
      <pc:sldChg chg="modSp mod">
        <pc:chgData name="Kato Takashi" userId="462256b7-6371-4185-848f-3c3de46a5740" providerId="ADAL" clId="{60A7ED73-7FAE-4EF2-A107-7CBAFD4916B0}" dt="2026-08-07T01:52:21.266" v="4" actId="26606"/>
        <pc:sldMkLst>
          <pc:docMk/>
          <pc:sldMk cId="0" sldId="295"/>
        </pc:sldMkLst>
        <pc:spChg chg="add mod">
          <ac:chgData name="Kato Takashi" userId="462256b7-6371-4185-848f-3c3de46a5740" providerId="ADAL" clId="{60A7ED73-7FAE-4EF2-A107-7CBAFD4916B0}" dt="2026-08-07T01:52:21.266" v="4" actId="26606"/>
          <ac:spMkLst>
            <pc:docMk/>
            <pc:sldMk cId="0" sldId="295"/>
            <ac:spMk id="43" creationId="{00000000-0000-0000-0000-000000000000}"/>
          </ac:spMkLst>
        </pc:spChg>
      </pc:sldChg>
      <pc:sldChg chg="modSp mod">
        <pc:chgData name="Kato Takashi" userId="462256b7-6371-4185-848f-3c3de46a5740" providerId="ADAL" clId="{60A7ED73-7FAE-4EF2-A107-7CBAFD4916B0}" dt="2026-08-07T01:52:21.266" v="4" actId="26606"/>
        <pc:sldMkLst>
          <pc:docMk/>
          <pc:sldMk cId="3362795024" sldId="296"/>
        </pc:sldMkLst>
        <pc:spChg chg="add mod">
          <ac:chgData name="Kato Takashi" userId="462256b7-6371-4185-848f-3c3de46a5740" providerId="ADAL" clId="{60A7ED73-7FAE-4EF2-A107-7CBAFD4916B0}" dt="2026-08-07T01:52:21.266" v="4" actId="26606"/>
          <ac:spMkLst>
            <pc:docMk/>
            <pc:sldMk cId="3362795024" sldId="296"/>
            <ac:spMk id="80" creationId="{95273B6F-A59E-1331-7B20-A432456C850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07/08/2026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User-provided current dashboard screenshot and attached Fraud Monitoring Dashboard deck used as style and structure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User-provided dashboard screenshot used as current-state visual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Figures are layout examples only. User requested a redesigned screen with trend drill-down and metric switching.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Closing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紙用（無地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3965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用（メッセージ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E158E56-EFE5-4373-B289-0D6C556DCD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6000" y="266259"/>
            <a:ext cx="11480911" cy="36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3000" b="1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kumimoji="1" lang="ja-JP" altLang="en-US"/>
              <a:t>タイトル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5D5FAD5-80A9-45D8-B596-C9B30FF33F1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6000" y="1112370"/>
            <a:ext cx="11880000" cy="400110"/>
          </a:xfrm>
          <a:prstGeom prst="rect">
            <a:avLst/>
          </a:prstGeom>
          <a:solidFill>
            <a:srgbClr val="E9EBF5"/>
          </a:solidFill>
        </p:spPr>
        <p:txBody>
          <a:bodyPr>
            <a:sp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2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/>
            <a:r>
              <a:rPr kumimoji="1" lang="ja-JP" altLang="en-US"/>
              <a:t>メッセージ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AD12A10-D55A-4FD8-A808-15A78B34DC2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6000" y="45696"/>
            <a:ext cx="11480400" cy="1800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 marL="457200" indent="0">
              <a:buNone/>
              <a:defRPr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 marL="914400" indent="0">
              <a:buNone/>
              <a:defRPr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 marL="1371600" indent="0">
              <a:buNone/>
              <a:defRPr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 marL="1828800" indent="0">
              <a:buNone/>
              <a:defRPr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kumimoji="1" lang="ja-JP" altLang="en-US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3780316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紙用（無地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19442700-C942-DFC7-A97A-B275EC7DFC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C5DA87-3110-4B93-9076-FD3046395AB2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317695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用（メッセージ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E158E56-EFE5-4373-B289-0D6C556DCD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6000" y="266259"/>
            <a:ext cx="11480911" cy="36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3000" b="1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kumimoji="1" lang="ja-JP" altLang="en-US"/>
              <a:t>タイトル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5D5FAD5-80A9-45D8-B596-C9B30FF33F1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6000" y="862204"/>
            <a:ext cx="11880000" cy="307777"/>
          </a:xfrm>
          <a:prstGeom prst="rect">
            <a:avLst/>
          </a:prstGeom>
          <a:solidFill>
            <a:srgbClr val="E9EBF5"/>
          </a:solidFill>
        </p:spPr>
        <p:txBody>
          <a:bodyPr>
            <a:sp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14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/>
            <a:r>
              <a:rPr kumimoji="1" lang="ja-JP" altLang="en-US"/>
              <a:t>メッセージ</a:t>
            </a:r>
          </a:p>
        </p:txBody>
      </p:sp>
      <p:sp>
        <p:nvSpPr>
          <p:cNvPr id="7" name="bk object 16">
            <a:extLst>
              <a:ext uri="{FF2B5EF4-FFF2-40B4-BE49-F238E27FC236}">
                <a16:creationId xmlns:a16="http://schemas.microsoft.com/office/drawing/2014/main" id="{7C290F00-D7DF-491C-BCA2-CBF9212E2900}"/>
              </a:ext>
            </a:extLst>
          </p:cNvPr>
          <p:cNvSpPr/>
          <p:nvPr userDrawn="1"/>
        </p:nvSpPr>
        <p:spPr>
          <a:xfrm>
            <a:off x="0" y="648716"/>
            <a:ext cx="12192000" cy="9064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0"/>
                  <a:lumOff val="100000"/>
                </a:schemeClr>
              </a:gs>
              <a:gs pos="0">
                <a:schemeClr val="accent1">
                  <a:lumMod val="0"/>
                  <a:lumOff val="100000"/>
                </a:schemeClr>
              </a:gs>
              <a:gs pos="100000">
                <a:srgbClr val="4B5CAE"/>
              </a:gs>
            </a:gsLst>
            <a:lin ang="10800000" scaled="1"/>
            <a:tileRect/>
          </a:gradFill>
        </p:spPr>
        <p:txBody>
          <a:bodyPr wrap="square" lIns="0" tIns="0" rIns="0" bIns="0" rtlCol="0"/>
          <a:lstStyle/>
          <a:p>
            <a:endParaRPr>
              <a:latin typeface="BIZ UDPゴシック" panose="020B0400000000000000" pitchFamily="50" charset="-128"/>
            </a:endParaRP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AD12A10-D55A-4FD8-A808-15A78B34DC2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6000" y="45696"/>
            <a:ext cx="11480400" cy="1800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 marL="457200" indent="0">
              <a:buNone/>
              <a:defRPr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 marL="914400" indent="0">
              <a:buNone/>
              <a:defRPr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 marL="1371600" indent="0">
              <a:buNone/>
              <a:defRPr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 marL="1828800" indent="0">
              <a:buNone/>
              <a:defRPr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kumimoji="1" lang="ja-JP" altLang="en-US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3012016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用（メッセージ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E158E56-EFE5-4373-B289-0D6C556DCD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6000" y="266259"/>
            <a:ext cx="11480911" cy="36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2800" b="1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kumimoji="1" lang="ja-JP" altLang="en-US"/>
              <a:t>タイトル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5D5FAD5-80A9-45D8-B596-C9B30FF33F1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6000" y="786190"/>
            <a:ext cx="11880000" cy="338554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16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/>
            <a:r>
              <a:rPr kumimoji="1" lang="ja-JP" altLang="en-US"/>
              <a:t>メッセージ</a:t>
            </a:r>
          </a:p>
        </p:txBody>
      </p:sp>
      <p:sp>
        <p:nvSpPr>
          <p:cNvPr id="7" name="bk object 16">
            <a:extLst>
              <a:ext uri="{FF2B5EF4-FFF2-40B4-BE49-F238E27FC236}">
                <a16:creationId xmlns:a16="http://schemas.microsoft.com/office/drawing/2014/main" id="{7C290F00-D7DF-491C-BCA2-CBF9212E2900}"/>
              </a:ext>
            </a:extLst>
          </p:cNvPr>
          <p:cNvSpPr/>
          <p:nvPr userDrawn="1"/>
        </p:nvSpPr>
        <p:spPr>
          <a:xfrm>
            <a:off x="0" y="648716"/>
            <a:ext cx="12192000" cy="9064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0"/>
                  <a:lumOff val="100000"/>
                </a:schemeClr>
              </a:gs>
              <a:gs pos="0">
                <a:schemeClr val="accent1">
                  <a:lumMod val="0"/>
                  <a:lumOff val="100000"/>
                </a:schemeClr>
              </a:gs>
              <a:gs pos="100000">
                <a:srgbClr val="4B5CAE"/>
              </a:gs>
            </a:gsLst>
            <a:lin ang="10800000" scaled="1"/>
            <a:tileRect/>
          </a:gradFill>
        </p:spPr>
        <p:txBody>
          <a:bodyPr wrap="square" lIns="0" tIns="0" rIns="0" bIns="0" rtlCol="0"/>
          <a:lstStyle/>
          <a:p>
            <a:endParaRPr>
              <a:latin typeface="BIZ UDPゴシック" panose="020B0400000000000000" pitchFamily="50" charset="-128"/>
            </a:endParaRP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AD12A10-D55A-4FD8-A808-15A78B34DC2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6000" y="45696"/>
            <a:ext cx="11480400" cy="1800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 marL="457200" indent="0">
              <a:buNone/>
              <a:defRPr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 marL="914400" indent="0">
              <a:buNone/>
              <a:defRPr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 marL="1371600" indent="0">
              <a:buNone/>
              <a:defRPr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 marL="1828800" indent="0">
              <a:buNone/>
              <a:defRPr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kumimoji="1" lang="ja-JP" altLang="en-US"/>
              <a:t>サブタイトル</a:t>
            </a:r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217E139-488B-42C9-997E-0FD25609576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5BC5DA87-3110-4B93-9076-FD3046395AB2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340132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紙用（無地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6597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k object 16">
            <a:extLst>
              <a:ext uri="{FF2B5EF4-FFF2-40B4-BE49-F238E27FC236}">
                <a16:creationId xmlns:a16="http://schemas.microsoft.com/office/drawing/2014/main" id="{2555DC2F-36DE-4562-BAAA-FFDAE12FD8EA}"/>
              </a:ext>
            </a:extLst>
          </p:cNvPr>
          <p:cNvSpPr/>
          <p:nvPr userDrawn="1"/>
        </p:nvSpPr>
        <p:spPr>
          <a:xfrm>
            <a:off x="0" y="830000"/>
            <a:ext cx="12192000" cy="9064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0"/>
                  <a:lumOff val="100000"/>
                </a:schemeClr>
              </a:gs>
              <a:gs pos="0">
                <a:schemeClr val="accent1">
                  <a:lumMod val="0"/>
                  <a:lumOff val="100000"/>
                </a:schemeClr>
              </a:gs>
              <a:gs pos="100000">
                <a:srgbClr val="4B5CAE"/>
              </a:gs>
            </a:gsLst>
            <a:lin ang="10800000" scaled="1"/>
            <a:tileRect/>
          </a:gradFill>
        </p:spPr>
        <p:txBody>
          <a:bodyPr wrap="square" lIns="0" tIns="0" rIns="0" bIns="0" rtlCol="0"/>
          <a:lstStyle/>
          <a:p>
            <a:endParaRPr>
              <a:latin typeface="BIZ UDPゴシック" panose="020B0400000000000000" pitchFamily="50" charset="-128"/>
            </a:endParaRPr>
          </a:p>
        </p:txBody>
      </p:sp>
      <p:sp>
        <p:nvSpPr>
          <p:cNvPr id="9" name="フッター プレースホルダー 4">
            <a:extLst>
              <a:ext uri="{FF2B5EF4-FFF2-40B4-BE49-F238E27FC236}">
                <a16:creationId xmlns:a16="http://schemas.microsoft.com/office/drawing/2014/main" id="{F8F4BAF3-BA5F-4DAD-9310-E83E9B1710ED}"/>
              </a:ext>
            </a:extLst>
          </p:cNvPr>
          <p:cNvSpPr txBox="1">
            <a:spLocks/>
          </p:cNvSpPr>
          <p:nvPr userDrawn="1"/>
        </p:nvSpPr>
        <p:spPr>
          <a:xfrm>
            <a:off x="0" y="6560000"/>
            <a:ext cx="3788450" cy="186708"/>
          </a:xfrm>
          <a:prstGeom prst="rect">
            <a:avLst/>
          </a:prstGeom>
          <a:ln w="28575">
            <a:noFill/>
          </a:ln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ja-JP" sz="1000" b="0" i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ACS Trading Co., Ltd. </a:t>
            </a:r>
            <a:endParaRPr lang="ja-JP" altLang="en-US" sz="1000" b="0" i="1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" name="スライド番号プレースホルダー 5">
            <a:extLst>
              <a:ext uri="{FF2B5EF4-FFF2-40B4-BE49-F238E27FC236}">
                <a16:creationId xmlns:a16="http://schemas.microsoft.com/office/drawing/2014/main" id="{755BC429-FC2A-4053-8E8E-5494B7243B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4841" y="6578841"/>
            <a:ext cx="540000" cy="252000"/>
          </a:xfrm>
          <a:prstGeom prst="rect">
            <a:avLst/>
          </a:prstGeom>
        </p:spPr>
        <p:txBody>
          <a:bodyPr lIns="36000" tIns="36000" rIns="36000" bIns="36000"/>
          <a:lstStyle>
            <a:lvl1pPr algn="r">
              <a:defRPr sz="14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5BC5DA87-3110-4B93-9076-FD3046395AB2}" type="slidenum">
              <a:rPr lang="ja-JP" altLang="en-US" smtClean="0"/>
              <a:pPr/>
              <a:t>‹#›</a:t>
            </a:fld>
            <a:endParaRPr lang="ja-JP" altLang="en-US"/>
          </a:p>
        </p:txBody>
      </p:sp>
      <p:pic>
        <p:nvPicPr>
          <p:cNvPr id="2" name="Picture 16" descr="Công ty TNHH TM ACS Việt Nam">
            <a:extLst>
              <a:ext uri="{FF2B5EF4-FFF2-40B4-BE49-F238E27FC236}">
                <a16:creationId xmlns:a16="http://schemas.microsoft.com/office/drawing/2014/main" id="{3C344C40-AF04-8B01-9FBF-E8C005ED84E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58192" y="88469"/>
            <a:ext cx="514734" cy="529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電子マネーＷＡＯＮポイント」を「ＷＡＯＮ ＰＯＩＮＴ」に統合 | イオン株式会社のプレスリリース">
            <a:extLst>
              <a:ext uri="{FF2B5EF4-FFF2-40B4-BE49-F238E27FC236}">
                <a16:creationId xmlns:a16="http://schemas.microsoft.com/office/drawing/2014/main" id="{ED86FA25-3609-164B-A8D1-4DCB8115BC3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310007" y="70289"/>
            <a:ext cx="707592" cy="61999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4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k object 16">
            <a:extLst>
              <a:ext uri="{FF2B5EF4-FFF2-40B4-BE49-F238E27FC236}">
                <a16:creationId xmlns:a16="http://schemas.microsoft.com/office/drawing/2014/main" id="{2555DC2F-36DE-4562-BAAA-FFDAE12FD8EA}"/>
              </a:ext>
            </a:extLst>
          </p:cNvPr>
          <p:cNvSpPr/>
          <p:nvPr userDrawn="1"/>
        </p:nvSpPr>
        <p:spPr>
          <a:xfrm>
            <a:off x="0" y="712087"/>
            <a:ext cx="12192000" cy="9064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0"/>
                  <a:lumOff val="100000"/>
                </a:schemeClr>
              </a:gs>
              <a:gs pos="0">
                <a:schemeClr val="accent1">
                  <a:lumMod val="0"/>
                  <a:lumOff val="100000"/>
                </a:schemeClr>
              </a:gs>
              <a:gs pos="100000">
                <a:srgbClr val="4B5CAE"/>
              </a:gs>
            </a:gsLst>
            <a:lin ang="10800000" scaled="1"/>
            <a:tileRect/>
          </a:gradFill>
        </p:spPr>
        <p:txBody>
          <a:bodyPr wrap="square" lIns="0" tIns="0" rIns="0" bIns="0" rtlCol="0"/>
          <a:lstStyle/>
          <a:p>
            <a:endParaRPr>
              <a:latin typeface="BIZ UDPゴシック" panose="020B0400000000000000" pitchFamily="50" charset="-128"/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B9EB927C-4F7E-43FF-967A-794581A6E12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96" t="4211" r="3793" b="3972"/>
          <a:stretch/>
        </p:blipFill>
        <p:spPr>
          <a:xfrm>
            <a:off x="11491244" y="102583"/>
            <a:ext cx="510148" cy="528748"/>
          </a:xfrm>
          <a:prstGeom prst="rect">
            <a:avLst/>
          </a:prstGeom>
        </p:spPr>
      </p:pic>
      <p:sp>
        <p:nvSpPr>
          <p:cNvPr id="9" name="フッター プレースホルダー 4">
            <a:extLst>
              <a:ext uri="{FF2B5EF4-FFF2-40B4-BE49-F238E27FC236}">
                <a16:creationId xmlns:a16="http://schemas.microsoft.com/office/drawing/2014/main" id="{F8F4BAF3-BA5F-4DAD-9310-E83E9B1710ED}"/>
              </a:ext>
            </a:extLst>
          </p:cNvPr>
          <p:cNvSpPr txBox="1">
            <a:spLocks/>
          </p:cNvSpPr>
          <p:nvPr userDrawn="1"/>
        </p:nvSpPr>
        <p:spPr>
          <a:xfrm>
            <a:off x="0" y="6671292"/>
            <a:ext cx="3788450" cy="186708"/>
          </a:xfrm>
          <a:prstGeom prst="rect">
            <a:avLst/>
          </a:prstGeom>
          <a:ln w="28575">
            <a:noFill/>
          </a:ln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ja-JP" sz="1000" b="0" i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AEON Financial Service Co., Ltd. </a:t>
            </a:r>
            <a:endParaRPr lang="ja-JP" altLang="en-US" sz="1000" b="0" i="1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" name="スライド番号プレースホルダー 5">
            <a:extLst>
              <a:ext uri="{FF2B5EF4-FFF2-40B4-BE49-F238E27FC236}">
                <a16:creationId xmlns:a16="http://schemas.microsoft.com/office/drawing/2014/main" id="{755BC429-FC2A-4053-8E8E-5494B7243B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4841" y="6578841"/>
            <a:ext cx="540000" cy="252000"/>
          </a:xfrm>
          <a:prstGeom prst="rect">
            <a:avLst/>
          </a:prstGeom>
        </p:spPr>
        <p:txBody>
          <a:bodyPr lIns="36000" tIns="36000" rIns="36000" bIns="36000"/>
          <a:lstStyle>
            <a:lvl1pPr algn="r">
              <a:defRPr sz="14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5BC5DA87-3110-4B93-9076-FD3046395AB2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993398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k object 16">
            <a:extLst>
              <a:ext uri="{FF2B5EF4-FFF2-40B4-BE49-F238E27FC236}">
                <a16:creationId xmlns:a16="http://schemas.microsoft.com/office/drawing/2014/main" id="{2555DC2F-36DE-4562-BAAA-FFDAE12FD8EA}"/>
              </a:ext>
            </a:extLst>
          </p:cNvPr>
          <p:cNvSpPr/>
          <p:nvPr userDrawn="1"/>
        </p:nvSpPr>
        <p:spPr>
          <a:xfrm>
            <a:off x="0" y="712087"/>
            <a:ext cx="12192000" cy="9064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0"/>
                  <a:lumOff val="100000"/>
                </a:schemeClr>
              </a:gs>
              <a:gs pos="0">
                <a:schemeClr val="accent1">
                  <a:lumMod val="0"/>
                  <a:lumOff val="100000"/>
                </a:schemeClr>
              </a:gs>
              <a:gs pos="100000">
                <a:srgbClr val="4B5CAE"/>
              </a:gs>
            </a:gsLst>
            <a:lin ang="10800000" scaled="1"/>
            <a:tileRect/>
          </a:gradFill>
        </p:spPr>
        <p:txBody>
          <a:bodyPr wrap="square" lIns="0" tIns="0" rIns="0" bIns="0" rtlCol="0"/>
          <a:lstStyle/>
          <a:p>
            <a:endParaRPr>
              <a:latin typeface="BIZ UDPゴシック" panose="020B0400000000000000" pitchFamily="50" charset="-128"/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B9EB927C-4F7E-43FF-967A-794581A6E12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96" t="4211" r="3793" b="3972"/>
          <a:stretch/>
        </p:blipFill>
        <p:spPr>
          <a:xfrm>
            <a:off x="11491244" y="102583"/>
            <a:ext cx="510148" cy="528748"/>
          </a:xfrm>
          <a:prstGeom prst="rect">
            <a:avLst/>
          </a:prstGeom>
        </p:spPr>
      </p:pic>
      <p:sp>
        <p:nvSpPr>
          <p:cNvPr id="9" name="フッター プレースホルダー 4">
            <a:extLst>
              <a:ext uri="{FF2B5EF4-FFF2-40B4-BE49-F238E27FC236}">
                <a16:creationId xmlns:a16="http://schemas.microsoft.com/office/drawing/2014/main" id="{F8F4BAF3-BA5F-4DAD-9310-E83E9B1710ED}"/>
              </a:ext>
            </a:extLst>
          </p:cNvPr>
          <p:cNvSpPr txBox="1">
            <a:spLocks/>
          </p:cNvSpPr>
          <p:nvPr userDrawn="1"/>
        </p:nvSpPr>
        <p:spPr>
          <a:xfrm>
            <a:off x="0" y="6671292"/>
            <a:ext cx="3788450" cy="186708"/>
          </a:xfrm>
          <a:prstGeom prst="rect">
            <a:avLst/>
          </a:prstGeom>
          <a:ln w="28575">
            <a:noFill/>
          </a:ln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ja-JP" sz="1000" b="0" i="1">
                <a:solidFill>
                  <a:schemeClr val="tx1">
                    <a:lumMod val="65000"/>
                    <a:lumOff val="3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AEON Financial Service Co., Ltd. </a:t>
            </a:r>
            <a:endParaRPr lang="ja-JP" altLang="en-US" sz="1000" b="0" i="1">
              <a:solidFill>
                <a:schemeClr val="tx1">
                  <a:lumMod val="65000"/>
                  <a:lumOff val="3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" name="スライド番号プレースホルダー 5">
            <a:extLst>
              <a:ext uri="{FF2B5EF4-FFF2-40B4-BE49-F238E27FC236}">
                <a16:creationId xmlns:a16="http://schemas.microsoft.com/office/drawing/2014/main" id="{755BC429-FC2A-4053-8E8E-5494B7243B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4841" y="6578841"/>
            <a:ext cx="540000" cy="252000"/>
          </a:xfrm>
          <a:prstGeom prst="rect">
            <a:avLst/>
          </a:prstGeom>
        </p:spPr>
        <p:txBody>
          <a:bodyPr lIns="36000" tIns="36000" rIns="36000" bIns="36000"/>
          <a:lstStyle>
            <a:lvl1pPr algn="r">
              <a:defRPr sz="14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5BC5DA87-3110-4B93-9076-FD3046395AB2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860653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11480" y="1325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8" b="1">
                <a:solidFill>
                  <a:srgbClr val="C1912F"/>
                </a:solidFill>
              </a:rPr>
              <a:t>WWP Data Analytic Project</a:t>
            </a:r>
            <a:endParaRPr lang="en-US" sz="828"/>
          </a:p>
        </p:txBody>
      </p:sp>
      <p:sp>
        <p:nvSpPr>
          <p:cNvPr id="4" name="Text 1"/>
          <p:cNvSpPr/>
          <p:nvPr/>
        </p:nvSpPr>
        <p:spPr>
          <a:xfrm>
            <a:off x="411480" y="1691640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75" b="1" dirty="0">
                <a:solidFill>
                  <a:srgbClr val="1F3D6B"/>
                </a:solidFill>
              </a:rPr>
              <a:t>(Draft) Redesign Plan of Merchant Insight Dashboard</a:t>
            </a:r>
            <a:endParaRPr lang="en-US" sz="2875" dirty="0"/>
          </a:p>
        </p:txBody>
      </p:sp>
      <p:sp>
        <p:nvSpPr>
          <p:cNvPr id="5" name="Shape 2"/>
          <p:cNvSpPr/>
          <p:nvPr/>
        </p:nvSpPr>
        <p:spPr>
          <a:xfrm>
            <a:off x="411480" y="2542032"/>
            <a:ext cx="594360" cy="0"/>
          </a:xfrm>
          <a:prstGeom prst="line">
            <a:avLst/>
          </a:prstGeom>
          <a:noFill/>
          <a:ln w="16510">
            <a:solidFill>
              <a:srgbClr val="C191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11480" y="281635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2">
                <a:solidFill>
                  <a:srgbClr val="4A5568"/>
                </a:solidFill>
              </a:rPr>
              <a:t>Migration from Looker Studio to Apache Superset + ClickHouse</a:t>
            </a:r>
            <a:endParaRPr lang="en-US" sz="1322"/>
          </a:p>
        </p:txBody>
      </p:sp>
      <p:sp>
        <p:nvSpPr>
          <p:cNvPr id="7" name="Text 4"/>
          <p:cNvSpPr/>
          <p:nvPr/>
        </p:nvSpPr>
        <p:spPr>
          <a:xfrm>
            <a:off x="411480" y="3822192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1">
                <a:solidFill>
                  <a:srgbClr val="4A5568"/>
                </a:solidFill>
              </a:rPr>
              <a:t>Data Management Department / IT Division</a:t>
            </a:r>
            <a:endParaRPr lang="en-US" sz="931"/>
          </a:p>
          <a:p>
            <a:pPr marL="0" indent="0">
              <a:buNone/>
            </a:pPr>
            <a:r>
              <a:rPr lang="en-US" sz="931">
                <a:solidFill>
                  <a:srgbClr val="4A5568"/>
                </a:solidFill>
              </a:rPr>
              <a:t>ACS Trading Vietnam Co., Ltd.</a:t>
            </a:r>
            <a:endParaRPr lang="en-US" sz="931"/>
          </a:p>
          <a:p>
            <a:pPr marL="0" indent="0">
              <a:buNone/>
            </a:pPr>
            <a:r>
              <a:rPr lang="en-US" sz="931">
                <a:solidFill>
                  <a:srgbClr val="4A5568"/>
                </a:solidFill>
              </a:rPr>
              <a:t>4th August 2026</a:t>
            </a:r>
            <a:endParaRPr lang="en-US" sz="931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8016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380">
                <a:solidFill>
                  <a:srgbClr val="8B95A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"/>
          <p:cNvSpPr/>
          <p:nvPr/>
        </p:nvSpPr>
        <p:spPr>
          <a:xfrm>
            <a:off x="274320" y="109728"/>
            <a:ext cx="987552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00" b="1">
                <a:solidFill>
                  <a:srgbClr val="1F3D6B"/>
                </a:solidFill>
              </a:rPr>
              <a:t>Purpose of the Dashboard</a:t>
            </a:r>
          </a:p>
        </p:txBody>
      </p:sp>
      <p:sp>
        <p:nvSpPr>
          <p:cNvPr id="102" name="Text"/>
          <p:cNvSpPr/>
          <p:nvPr/>
        </p:nvSpPr>
        <p:spPr>
          <a:xfrm>
            <a:off x="274320" y="520000"/>
            <a:ext cx="1152144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00" b="0">
                <a:solidFill>
                  <a:srgbClr val="2E5FA3"/>
                </a:solidFill>
              </a:rPr>
              <a:t>Framing what the dashboard is for, and for whom, before designing the screens.</a:t>
            </a:r>
          </a:p>
        </p:txBody>
      </p:sp>
      <p:sp>
        <p:nvSpPr>
          <p:cNvPr id="103" name="Text"/>
          <p:cNvSpPr/>
          <p:nvPr/>
        </p:nvSpPr>
        <p:spPr>
          <a:xfrm>
            <a:off x="457200" y="1135272"/>
            <a:ext cx="26244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50" b="1">
                <a:solidFill>
                  <a:srgbClr val="1F3D6B"/>
                </a:solidFill>
              </a:rPr>
              <a:t>Why</a:t>
            </a:r>
          </a:p>
        </p:txBody>
      </p:sp>
      <p:sp>
        <p:nvSpPr>
          <p:cNvPr id="104" name="Text"/>
          <p:cNvSpPr/>
          <p:nvPr/>
        </p:nvSpPr>
        <p:spPr>
          <a:xfrm>
            <a:off x="457200" y="1445272"/>
            <a:ext cx="26244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b="0">
                <a:solidFill>
                  <a:srgbClr val="4A5568"/>
                </a:solidFill>
              </a:rPr>
              <a:t>What is the purpose of the dashboard?</a:t>
            </a:r>
          </a:p>
        </p:txBody>
      </p:sp>
      <p:sp>
        <p:nvSpPr>
          <p:cNvPr id="105" name="Text"/>
          <p:cNvSpPr/>
          <p:nvPr/>
        </p:nvSpPr>
        <p:spPr>
          <a:xfrm>
            <a:off x="3341600" y="1135272"/>
            <a:ext cx="26244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50" b="1">
                <a:solidFill>
                  <a:srgbClr val="1F3D6B"/>
                </a:solidFill>
              </a:rPr>
              <a:t>What, so What</a:t>
            </a:r>
          </a:p>
        </p:txBody>
      </p:sp>
      <p:sp>
        <p:nvSpPr>
          <p:cNvPr id="106" name="Text"/>
          <p:cNvSpPr/>
          <p:nvPr/>
        </p:nvSpPr>
        <p:spPr>
          <a:xfrm>
            <a:off x="3341600" y="1445272"/>
            <a:ext cx="26244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b="0">
                <a:solidFill>
                  <a:srgbClr val="4A5568"/>
                </a:solidFill>
              </a:rPr>
              <a:t>For what decisions and actions, and what information do we need?</a:t>
            </a:r>
          </a:p>
        </p:txBody>
      </p:sp>
      <p:sp>
        <p:nvSpPr>
          <p:cNvPr id="107" name="Text"/>
          <p:cNvSpPr/>
          <p:nvPr/>
        </p:nvSpPr>
        <p:spPr>
          <a:xfrm>
            <a:off x="6226000" y="1135272"/>
            <a:ext cx="26244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50" b="1">
                <a:solidFill>
                  <a:srgbClr val="1F3D6B"/>
                </a:solidFill>
              </a:rPr>
              <a:t>Who, When, Where</a:t>
            </a:r>
          </a:p>
        </p:txBody>
      </p:sp>
      <p:sp>
        <p:nvSpPr>
          <p:cNvPr id="108" name="Text"/>
          <p:cNvSpPr/>
          <p:nvPr/>
        </p:nvSpPr>
        <p:spPr>
          <a:xfrm>
            <a:off x="6334820" y="1415000"/>
            <a:ext cx="26244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b="0">
                <a:solidFill>
                  <a:srgbClr val="4A5568"/>
                </a:solidFill>
              </a:rPr>
              <a:t>Who looks at it, when, and where?</a:t>
            </a:r>
          </a:p>
        </p:txBody>
      </p:sp>
      <p:sp>
        <p:nvSpPr>
          <p:cNvPr id="109" name="Text"/>
          <p:cNvSpPr/>
          <p:nvPr/>
        </p:nvSpPr>
        <p:spPr>
          <a:xfrm>
            <a:off x="9110400" y="1135272"/>
            <a:ext cx="26244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50" b="1">
                <a:solidFill>
                  <a:srgbClr val="1F3D6B"/>
                </a:solidFill>
              </a:rPr>
              <a:t>How</a:t>
            </a:r>
          </a:p>
        </p:txBody>
      </p:sp>
      <p:sp>
        <p:nvSpPr>
          <p:cNvPr id="110" name="Text"/>
          <p:cNvSpPr/>
          <p:nvPr/>
        </p:nvSpPr>
        <p:spPr>
          <a:xfrm>
            <a:off x="9110400" y="1445272"/>
            <a:ext cx="26244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b="0">
                <a:solidFill>
                  <a:srgbClr val="4A5568"/>
                </a:solidFill>
              </a:rPr>
              <a:t>What functions and data items are required, and how often refreshed?</a:t>
            </a:r>
          </a:p>
        </p:txBody>
      </p:sp>
      <p:sp>
        <p:nvSpPr>
          <p:cNvPr id="111" name="Card"/>
          <p:cNvSpPr/>
          <p:nvPr/>
        </p:nvSpPr>
        <p:spPr>
          <a:xfrm>
            <a:off x="457200" y="1870000"/>
            <a:ext cx="2624400" cy="4150000"/>
          </a:xfrm>
          <a:prstGeom prst="roundRect">
            <a:avLst>
              <a:gd name="adj" fmla="val 5263"/>
            </a:avLst>
          </a:prstGeom>
          <a:solidFill>
            <a:srgbClr val="F6F8FB"/>
          </a:solidFill>
          <a:ln w="762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Accent"/>
          <p:cNvSpPr/>
          <p:nvPr/>
        </p:nvSpPr>
        <p:spPr>
          <a:xfrm>
            <a:off x="457200" y="1870000"/>
            <a:ext cx="45720" cy="4150000"/>
          </a:xfrm>
          <a:prstGeom prst="rect">
            <a:avLst/>
          </a:prstGeom>
          <a:solidFill>
            <a:srgbClr val="2E5FA3"/>
          </a:solidFill>
          <a:ln w="762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Text"/>
          <p:cNvSpPr/>
          <p:nvPr/>
        </p:nvSpPr>
        <p:spPr>
          <a:xfrm>
            <a:off x="617200" y="2030000"/>
            <a:ext cx="2334400" cy="38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0">
                <a:solidFill>
                  <a:srgbClr val="1F3D6B"/>
                </a:solidFill>
              </a:rPr>
              <a:t>Give merchant HQ and store managers a timely view of sales, spot issues and opportunities when the weekly target is missed, and decide countermeasures quickly.</a:t>
            </a:r>
          </a:p>
        </p:txBody>
      </p:sp>
      <p:sp>
        <p:nvSpPr>
          <p:cNvPr id="114" name="Card"/>
          <p:cNvSpPr/>
          <p:nvPr/>
        </p:nvSpPr>
        <p:spPr>
          <a:xfrm>
            <a:off x="3341600" y="1870000"/>
            <a:ext cx="2624400" cy="1290000"/>
          </a:xfrm>
          <a:prstGeom prst="roundRect">
            <a:avLst>
              <a:gd name="adj" fmla="val 5263"/>
            </a:avLst>
          </a:prstGeom>
          <a:solidFill>
            <a:srgbClr val="F6F8FB"/>
          </a:solidFill>
          <a:ln w="762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Accent"/>
          <p:cNvSpPr/>
          <p:nvPr/>
        </p:nvSpPr>
        <p:spPr>
          <a:xfrm>
            <a:off x="3341600" y="1870000"/>
            <a:ext cx="45720" cy="1290000"/>
          </a:xfrm>
          <a:prstGeom prst="rect">
            <a:avLst/>
          </a:prstGeom>
          <a:solidFill>
            <a:srgbClr val="D02C8C"/>
          </a:solidFill>
          <a:ln w="7620">
            <a:solidFill>
              <a:srgbClr val="D02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Text"/>
          <p:cNvSpPr/>
          <p:nvPr/>
        </p:nvSpPr>
        <p:spPr>
          <a:xfrm>
            <a:off x="3501600" y="2030000"/>
            <a:ext cx="2334400" cy="9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0">
                <a:solidFill>
                  <a:srgbClr val="1F3D6B"/>
                </a:solidFill>
              </a:rPr>
              <a:t>Merchant HQ and store managers see how each store is tracking, and decide which stores and customer segments to act on first.</a:t>
            </a:r>
          </a:p>
        </p:txBody>
      </p:sp>
      <p:sp>
        <p:nvSpPr>
          <p:cNvPr id="117" name="Card"/>
          <p:cNvSpPr/>
          <p:nvPr/>
        </p:nvSpPr>
        <p:spPr>
          <a:xfrm>
            <a:off x="3341600" y="3300000"/>
            <a:ext cx="2624400" cy="1290000"/>
          </a:xfrm>
          <a:prstGeom prst="roundRect">
            <a:avLst>
              <a:gd name="adj" fmla="val 5263"/>
            </a:avLst>
          </a:prstGeom>
          <a:solidFill>
            <a:srgbClr val="F6F8FB"/>
          </a:solidFill>
          <a:ln w="762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Accent"/>
          <p:cNvSpPr/>
          <p:nvPr/>
        </p:nvSpPr>
        <p:spPr>
          <a:xfrm>
            <a:off x="3341600" y="3300000"/>
            <a:ext cx="45720" cy="1290000"/>
          </a:xfrm>
          <a:prstGeom prst="rect">
            <a:avLst/>
          </a:prstGeom>
          <a:solidFill>
            <a:srgbClr val="D02C8C"/>
          </a:solidFill>
          <a:ln w="7620">
            <a:solidFill>
              <a:srgbClr val="D02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Text"/>
          <p:cNvSpPr/>
          <p:nvPr/>
        </p:nvSpPr>
        <p:spPr>
          <a:xfrm>
            <a:off x="3501600" y="3460000"/>
            <a:ext cx="2334400" cy="9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0">
                <a:solidFill>
                  <a:srgbClr val="1F3D6B"/>
                </a:solidFill>
              </a:rPr>
              <a:t>Confirm whether sales are tracking to target, and report the status to members and management.</a:t>
            </a:r>
          </a:p>
        </p:txBody>
      </p:sp>
      <p:sp>
        <p:nvSpPr>
          <p:cNvPr id="120" name="Card"/>
          <p:cNvSpPr/>
          <p:nvPr/>
        </p:nvSpPr>
        <p:spPr>
          <a:xfrm>
            <a:off x="3341600" y="4730000"/>
            <a:ext cx="2624400" cy="1290000"/>
          </a:xfrm>
          <a:prstGeom prst="roundRect">
            <a:avLst>
              <a:gd name="adj" fmla="val 5263"/>
            </a:avLst>
          </a:prstGeom>
          <a:solidFill>
            <a:srgbClr val="F6F8FB"/>
          </a:solidFill>
          <a:ln w="762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Accent"/>
          <p:cNvSpPr/>
          <p:nvPr/>
        </p:nvSpPr>
        <p:spPr>
          <a:xfrm>
            <a:off x="3341600" y="4730000"/>
            <a:ext cx="45720" cy="1290000"/>
          </a:xfrm>
          <a:prstGeom prst="rect">
            <a:avLst/>
          </a:prstGeom>
          <a:solidFill>
            <a:srgbClr val="D02C8C"/>
          </a:solidFill>
          <a:ln w="7620">
            <a:solidFill>
              <a:srgbClr val="D02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Text"/>
          <p:cNvSpPr/>
          <p:nvPr/>
        </p:nvSpPr>
        <p:spPr>
          <a:xfrm>
            <a:off x="3501600" y="4890000"/>
            <a:ext cx="2334400" cy="9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0">
                <a:solidFill>
                  <a:srgbClr val="1F3D6B"/>
                </a:solidFill>
              </a:rPr>
              <a:t>When sales miss the target, identify the drivers and discuss countermeasures based on the data.</a:t>
            </a:r>
          </a:p>
        </p:txBody>
      </p:sp>
      <p:sp>
        <p:nvSpPr>
          <p:cNvPr id="123" name="Card"/>
          <p:cNvSpPr/>
          <p:nvPr/>
        </p:nvSpPr>
        <p:spPr>
          <a:xfrm>
            <a:off x="6226000" y="1870000"/>
            <a:ext cx="2624400" cy="1290000"/>
          </a:xfrm>
          <a:prstGeom prst="roundRect">
            <a:avLst>
              <a:gd name="adj" fmla="val 5263"/>
            </a:avLst>
          </a:prstGeom>
          <a:solidFill>
            <a:srgbClr val="F6F8FB"/>
          </a:solidFill>
          <a:ln w="762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Accent"/>
          <p:cNvSpPr/>
          <p:nvPr/>
        </p:nvSpPr>
        <p:spPr>
          <a:xfrm>
            <a:off x="6226000" y="1870000"/>
            <a:ext cx="45720" cy="1290000"/>
          </a:xfrm>
          <a:prstGeom prst="rect">
            <a:avLst/>
          </a:prstGeom>
          <a:solidFill>
            <a:srgbClr val="2F8F5B"/>
          </a:solidFill>
          <a:ln w="7620">
            <a:solidFill>
              <a:srgbClr val="2F8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Text"/>
          <p:cNvSpPr/>
          <p:nvPr/>
        </p:nvSpPr>
        <p:spPr>
          <a:xfrm>
            <a:off x="6386000" y="2030000"/>
            <a:ext cx="2334400" cy="9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>
                <a:solidFill>
                  <a:srgbClr val="1F3D6B"/>
                </a:solidFill>
              </a:rPr>
              <a:t>·  Merchant HQ and store managers</a:t>
            </a:r>
          </a:p>
          <a:p>
            <a:pPr marL="0" indent="0">
              <a:buNone/>
            </a:pPr>
            <a:r>
              <a:rPr lang="en-US" sz="1120" b="0">
                <a:solidFill>
                  <a:srgbClr val="1F3D6B"/>
                </a:solidFill>
              </a:rPr>
              <a:t>·  Weekly store review, checked anytime</a:t>
            </a:r>
          </a:p>
          <a:p>
            <a:pPr marL="0" indent="0">
              <a:buNone/>
            </a:pPr>
            <a:r>
              <a:rPr lang="en-US" sz="1120" b="0">
                <a:solidFill>
                  <a:srgbClr val="1F3D6B"/>
                </a:solidFill>
              </a:rPr>
              <a:t>·  Own laptop or in-store PC</a:t>
            </a:r>
          </a:p>
        </p:txBody>
      </p:sp>
      <p:sp>
        <p:nvSpPr>
          <p:cNvPr id="126" name="Card"/>
          <p:cNvSpPr/>
          <p:nvPr/>
        </p:nvSpPr>
        <p:spPr>
          <a:xfrm>
            <a:off x="6226000" y="3300000"/>
            <a:ext cx="2624400" cy="1290000"/>
          </a:xfrm>
          <a:prstGeom prst="roundRect">
            <a:avLst>
              <a:gd name="adj" fmla="val 5263"/>
            </a:avLst>
          </a:prstGeom>
          <a:solidFill>
            <a:srgbClr val="F6F8FB"/>
          </a:solidFill>
          <a:ln w="762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Accent"/>
          <p:cNvSpPr/>
          <p:nvPr/>
        </p:nvSpPr>
        <p:spPr>
          <a:xfrm>
            <a:off x="6226000" y="3300000"/>
            <a:ext cx="45720" cy="1290000"/>
          </a:xfrm>
          <a:prstGeom prst="rect">
            <a:avLst/>
          </a:prstGeom>
          <a:solidFill>
            <a:srgbClr val="2F8F5B"/>
          </a:solidFill>
          <a:ln w="7620">
            <a:solidFill>
              <a:srgbClr val="2F8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Text"/>
          <p:cNvSpPr/>
          <p:nvPr/>
        </p:nvSpPr>
        <p:spPr>
          <a:xfrm>
            <a:off x="6386000" y="3460000"/>
            <a:ext cx="2334400" cy="9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>
                <a:solidFill>
                  <a:srgbClr val="1F3D6B"/>
                </a:solidFill>
              </a:rPr>
              <a:t>·  Executive management</a:t>
            </a:r>
          </a:p>
          <a:p>
            <a:pPr marL="0" indent="0">
              <a:buNone/>
            </a:pPr>
            <a:r>
              <a:rPr lang="en-US" sz="1120" b="0">
                <a:solidFill>
                  <a:srgbClr val="1F3D6B"/>
                </a:solidFill>
              </a:rPr>
              <a:t>·  Bi-weekly management meeting</a:t>
            </a:r>
          </a:p>
          <a:p>
            <a:pPr marL="0" indent="0">
              <a:buNone/>
            </a:pPr>
            <a:r>
              <a:rPr lang="en-US" sz="1120" b="0">
                <a:solidFill>
                  <a:srgbClr val="1F3D6B"/>
                </a:solidFill>
              </a:rPr>
              <a:t>·  Sales status explained with a dashboard capture</a:t>
            </a:r>
          </a:p>
        </p:txBody>
      </p:sp>
      <p:sp>
        <p:nvSpPr>
          <p:cNvPr id="129" name="Card"/>
          <p:cNvSpPr/>
          <p:nvPr/>
        </p:nvSpPr>
        <p:spPr>
          <a:xfrm>
            <a:off x="6226000" y="4730000"/>
            <a:ext cx="2624400" cy="1290000"/>
          </a:xfrm>
          <a:prstGeom prst="roundRect">
            <a:avLst>
              <a:gd name="adj" fmla="val 5263"/>
            </a:avLst>
          </a:prstGeom>
          <a:solidFill>
            <a:srgbClr val="F6F8FB"/>
          </a:solidFill>
          <a:ln w="762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Accent"/>
          <p:cNvSpPr/>
          <p:nvPr/>
        </p:nvSpPr>
        <p:spPr>
          <a:xfrm>
            <a:off x="6226000" y="4730000"/>
            <a:ext cx="45720" cy="1290000"/>
          </a:xfrm>
          <a:prstGeom prst="rect">
            <a:avLst/>
          </a:prstGeom>
          <a:solidFill>
            <a:srgbClr val="2F8F5B"/>
          </a:solidFill>
          <a:ln w="7620">
            <a:solidFill>
              <a:srgbClr val="2F8F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1" name="Text"/>
          <p:cNvSpPr/>
          <p:nvPr/>
        </p:nvSpPr>
        <p:spPr>
          <a:xfrm>
            <a:off x="6386000" y="4890000"/>
            <a:ext cx="2334400" cy="9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>
                <a:solidFill>
                  <a:srgbClr val="1F3D6B"/>
                </a:solidFill>
              </a:rPr>
              <a:t>·  Project members and analysts</a:t>
            </a:r>
          </a:p>
          <a:p>
            <a:pPr marL="0" indent="0">
              <a:buNone/>
            </a:pPr>
            <a:r>
              <a:rPr lang="en-US" sz="1120" b="0">
                <a:solidFill>
                  <a:srgbClr val="1F3D6B"/>
                </a:solidFill>
              </a:rPr>
              <a:t>·  Weekly team meeting</a:t>
            </a:r>
          </a:p>
          <a:p>
            <a:pPr marL="0" indent="0">
              <a:buNone/>
            </a:pPr>
            <a:r>
              <a:rPr lang="en-US" sz="1120" b="0">
                <a:solidFill>
                  <a:srgbClr val="1F3D6B"/>
                </a:solidFill>
              </a:rPr>
              <a:t>·  Shown on a monitor or large display</a:t>
            </a:r>
          </a:p>
        </p:txBody>
      </p:sp>
      <p:sp>
        <p:nvSpPr>
          <p:cNvPr id="132" name="Card"/>
          <p:cNvSpPr/>
          <p:nvPr/>
        </p:nvSpPr>
        <p:spPr>
          <a:xfrm>
            <a:off x="9110400" y="1870000"/>
            <a:ext cx="2624400" cy="4150000"/>
          </a:xfrm>
          <a:prstGeom prst="roundRect">
            <a:avLst>
              <a:gd name="adj" fmla="val 5263"/>
            </a:avLst>
          </a:prstGeom>
          <a:solidFill>
            <a:srgbClr val="F6F8FB"/>
          </a:solidFill>
          <a:ln w="762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3" name="Accent"/>
          <p:cNvSpPr/>
          <p:nvPr/>
        </p:nvSpPr>
        <p:spPr>
          <a:xfrm>
            <a:off x="9110400" y="1870000"/>
            <a:ext cx="45720" cy="4150000"/>
          </a:xfrm>
          <a:prstGeom prst="rect">
            <a:avLst/>
          </a:prstGeom>
          <a:solidFill>
            <a:srgbClr val="D98F1F"/>
          </a:solidFill>
          <a:ln w="7620">
            <a:solidFill>
              <a:srgbClr val="D98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Text"/>
          <p:cNvSpPr/>
          <p:nvPr/>
        </p:nvSpPr>
        <p:spPr>
          <a:xfrm>
            <a:off x="9270400" y="2030000"/>
            <a:ext cx="2334400" cy="38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>
                <a:solidFill>
                  <a:srgbClr val="1F3D6B"/>
                </a:solidFill>
              </a:rPr>
              <a:t>Data required</a:t>
            </a:r>
          </a:p>
          <a:p>
            <a:pPr marL="0" indent="0">
              <a:buNone/>
            </a:pPr>
            <a:r>
              <a:rPr lang="en-US" sz="1120" b="1">
                <a:solidFill>
                  <a:srgbClr val="1F3D6B"/>
                </a:solidFill>
              </a:rPr>
              <a:t>·  Sales data</a:t>
            </a:r>
          </a:p>
          <a:p>
            <a:pPr marL="0" indent="0">
              <a:buNone/>
            </a:pPr>
            <a:r>
              <a:rPr lang="en-US" sz="1050" b="0">
                <a:solidFill>
                  <a:srgbClr val="4A5568"/>
                </a:solidFill>
              </a:rPr>
              <a:t>     Weekly actual vs target</a:t>
            </a:r>
          </a:p>
          <a:p>
            <a:pPr marL="0" indent="0">
              <a:buNone/>
            </a:pPr>
            <a:r>
              <a:rPr lang="en-US" sz="1050" b="0">
                <a:solidFill>
                  <a:srgbClr val="4A5568"/>
                </a:solidFill>
              </a:rPr>
              <a:t>     By department</a:t>
            </a:r>
          </a:p>
          <a:p>
            <a:pPr marL="0" indent="0">
              <a:buNone/>
            </a:pPr>
            <a:r>
              <a:rPr lang="en-US" sz="1050" b="0">
                <a:solidFill>
                  <a:srgbClr val="4A5568"/>
                </a:solidFill>
              </a:rPr>
              <a:t>     By customer attribute</a:t>
            </a:r>
          </a:p>
          <a:p>
            <a:pPr marL="0" indent="0">
              <a:buNone/>
            </a:pPr>
            <a:r>
              <a:rPr lang="en-US" sz="1050" b="0">
                <a:solidFill>
                  <a:srgbClr val="4A5568"/>
                </a:solidFill>
              </a:rPr>
              <a:t>     By partner store</a:t>
            </a:r>
          </a:p>
          <a:p>
            <a:pPr marL="0" indent="0">
              <a:buNone/>
            </a:pPr>
            <a:r>
              <a:rPr lang="en-US" sz="1120" b="1">
                <a:solidFill>
                  <a:srgbClr val="1F3D6B"/>
                </a:solidFill>
              </a:rPr>
              <a:t>·  Customer data — weekly trend</a:t>
            </a:r>
          </a:p>
          <a:p>
            <a:pPr marL="0" indent="0">
              <a:buNone/>
            </a:pPr>
            <a:r>
              <a:rPr lang="en-US" sz="1120" b="1">
                <a:solidFill>
                  <a:srgbClr val="1F3D6B"/>
                </a:solidFill>
              </a:rPr>
              <a:t>·  Partner store data — weekly trend</a:t>
            </a:r>
          </a:p>
          <a:p>
            <a:pPr marL="0" indent="0">
              <a:buNone/>
            </a:pPr>
            <a:r>
              <a:rPr lang="en-US" sz="600" b="0">
                <a:solidFill>
                  <a:srgbClr val="4A5568"/>
                </a:solidFill>
              </a:rPr>
              <a:t> </a:t>
            </a:r>
          </a:p>
          <a:p>
            <a:pPr marL="0" indent="0">
              <a:buNone/>
            </a:pPr>
            <a:r>
              <a:rPr lang="en-US" sz="1250" b="1">
                <a:solidFill>
                  <a:srgbClr val="1F3D6B"/>
                </a:solidFill>
              </a:rPr>
              <a:t>Functions required</a:t>
            </a:r>
          </a:p>
          <a:p>
            <a:pPr marL="0" indent="0">
              <a:buNone/>
            </a:pPr>
            <a:r>
              <a:rPr lang="en-US" sz="1080" b="0">
                <a:solidFill>
                  <a:srgbClr val="1F3D6B"/>
                </a:solidFill>
              </a:rPr>
              <a:t>·  Find partner stores growing in sales and customers</a:t>
            </a:r>
          </a:p>
          <a:p>
            <a:pPr marL="0" indent="0">
              <a:buNone/>
            </a:pPr>
            <a:r>
              <a:rPr lang="en-US" sz="1080" b="0">
                <a:solidFill>
                  <a:srgbClr val="1F3D6B"/>
                </a:solidFill>
              </a:rPr>
              <a:t>·  Find areas and stores to develop next</a:t>
            </a:r>
          </a:p>
          <a:p>
            <a:pPr marL="0" indent="0">
              <a:buNone/>
            </a:pPr>
            <a:r>
              <a:rPr lang="en-US" sz="1080" b="0">
                <a:solidFill>
                  <a:srgbClr val="1F3D6B"/>
                </a:solidFill>
              </a:rPr>
              <a:t>·  Weekly refresh, aligned to the meeting cycle</a:t>
            </a:r>
          </a:p>
        </p:txBody>
      </p:sp>
      <p:sp>
        <p:nvSpPr>
          <p:cNvPr id="135" name="Arrow"/>
          <p:cNvSpPr/>
          <p:nvPr/>
        </p:nvSpPr>
        <p:spPr>
          <a:xfrm>
            <a:off x="3136600" y="3945000"/>
            <a:ext cx="140000" cy="0"/>
          </a:xfrm>
          <a:prstGeom prst="line">
            <a:avLst/>
          </a:prstGeom>
          <a:ln w="15240">
            <a:solidFill>
              <a:srgbClr val="9BB0C9"/>
            </a:solidFill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6" name="Arrow"/>
          <p:cNvSpPr/>
          <p:nvPr/>
        </p:nvSpPr>
        <p:spPr>
          <a:xfrm>
            <a:off x="6021000" y="2515000"/>
            <a:ext cx="140000" cy="0"/>
          </a:xfrm>
          <a:prstGeom prst="line">
            <a:avLst/>
          </a:prstGeom>
          <a:ln w="15240">
            <a:solidFill>
              <a:srgbClr val="9BB0C9"/>
            </a:solidFill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7" name="Arrow"/>
          <p:cNvSpPr/>
          <p:nvPr/>
        </p:nvSpPr>
        <p:spPr>
          <a:xfrm>
            <a:off x="6021000" y="3945000"/>
            <a:ext cx="140000" cy="0"/>
          </a:xfrm>
          <a:prstGeom prst="line">
            <a:avLst/>
          </a:prstGeom>
          <a:ln w="15240">
            <a:solidFill>
              <a:srgbClr val="9BB0C9"/>
            </a:solidFill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8" name="Arrow"/>
          <p:cNvSpPr/>
          <p:nvPr/>
        </p:nvSpPr>
        <p:spPr>
          <a:xfrm>
            <a:off x="6021000" y="5375000"/>
            <a:ext cx="140000" cy="0"/>
          </a:xfrm>
          <a:prstGeom prst="line">
            <a:avLst/>
          </a:prstGeom>
          <a:ln w="15240">
            <a:solidFill>
              <a:srgbClr val="9BB0C9"/>
            </a:solidFill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9" name="Arrow"/>
          <p:cNvSpPr/>
          <p:nvPr/>
        </p:nvSpPr>
        <p:spPr>
          <a:xfrm>
            <a:off x="8905400" y="3945000"/>
            <a:ext cx="140000" cy="0"/>
          </a:xfrm>
          <a:prstGeom prst="line">
            <a:avLst/>
          </a:prstGeom>
          <a:ln w="15240">
            <a:solidFill>
              <a:srgbClr val="9BB0C9"/>
            </a:solidFill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8016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551">
                <a:solidFill>
                  <a:srgbClr val="8B95A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90" b="1">
                <a:solidFill>
                  <a:srgbClr val="1F3D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 Dashboard Assessment</a:t>
            </a:r>
            <a:endParaRPr lang="en-US" sz="2190"/>
          </a:p>
        </p:txBody>
      </p:sp>
      <p:sp>
        <p:nvSpPr>
          <p:cNvPr id="3" name="Text 1"/>
          <p:cNvSpPr/>
          <p:nvPr/>
        </p:nvSpPr>
        <p:spPr>
          <a:xfrm>
            <a:off x="274320" y="502920"/>
            <a:ext cx="11521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7">
                <a:solidFill>
                  <a:srgbClr val="4A5568"/>
                </a:solidFill>
              </a:rPr>
              <a:t>The existing screen is useful as a summary, but multiple analytical purposes are crowded into one page.</a:t>
            </a:r>
            <a:endParaRPr lang="en-US" sz="927"/>
          </a:p>
        </p:txBody>
      </p:sp>
      <p:sp>
        <p:nvSpPr>
          <p:cNvPr id="5" name="Shape 2"/>
          <p:cNvSpPr/>
          <p:nvPr/>
        </p:nvSpPr>
        <p:spPr>
          <a:xfrm>
            <a:off x="320040" y="1050000"/>
            <a:ext cx="2743200" cy="5257800"/>
          </a:xfrm>
          <a:prstGeom prst="roundRect">
            <a:avLst>
              <a:gd name="adj" fmla="val 1667"/>
            </a:avLst>
          </a:prstGeom>
          <a:solidFill>
            <a:srgbClr val="F6F8FB"/>
          </a:solidFill>
          <a:ln w="762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/mnt/data/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660" y="1159728"/>
            <a:ext cx="1844816" cy="49834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337560" y="1050000"/>
            <a:ext cx="2651760" cy="1005840"/>
          </a:xfrm>
          <a:prstGeom prst="roundRect">
            <a:avLst>
              <a:gd name="adj" fmla="val 4545"/>
            </a:avLst>
          </a:prstGeom>
          <a:solidFill>
            <a:srgbClr val="F6F8FB"/>
          </a:solidFill>
          <a:ln w="7620">
            <a:solidFill>
              <a:srgbClr val="D8E1EA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3337560" y="1050000"/>
            <a:ext cx="45720" cy="10058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3456432" y="1132296"/>
            <a:ext cx="2450592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108" b="1">
                <a:solidFill>
                  <a:srgbClr val="1F3D6B"/>
                </a:solidFill>
              </a:rPr>
              <a:t>Good Points</a:t>
            </a:r>
            <a:endParaRPr lang="en-US" sz="1108"/>
          </a:p>
        </p:txBody>
      </p:sp>
      <p:sp>
        <p:nvSpPr>
          <p:cNvPr id="10" name="Text 6"/>
          <p:cNvSpPr/>
          <p:nvPr/>
        </p:nvSpPr>
        <p:spPr>
          <a:xfrm>
            <a:off x="3456432" y="1388328"/>
            <a:ext cx="2450592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88">
                <a:solidFill>
                  <a:srgbClr val="4A5568"/>
                </a:solidFill>
              </a:rPr>
              <a:t>KPI row, traffic trend, attributes, map, and rankings are already available in one view.</a:t>
            </a:r>
            <a:endParaRPr lang="en-US" sz="888"/>
          </a:p>
        </p:txBody>
      </p:sp>
      <p:sp>
        <p:nvSpPr>
          <p:cNvPr id="11" name="Shape 7"/>
          <p:cNvSpPr/>
          <p:nvPr/>
        </p:nvSpPr>
        <p:spPr>
          <a:xfrm>
            <a:off x="6172200" y="1050000"/>
            <a:ext cx="2651760" cy="1005840"/>
          </a:xfrm>
          <a:prstGeom prst="roundRect">
            <a:avLst>
              <a:gd name="adj" fmla="val 4545"/>
            </a:avLst>
          </a:prstGeom>
          <a:solidFill>
            <a:srgbClr val="F6F8FB"/>
          </a:solidFill>
          <a:ln w="7620">
            <a:solidFill>
              <a:srgbClr val="D8E1EA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6172200" y="1050000"/>
            <a:ext cx="45720" cy="10058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6291072" y="1132296"/>
            <a:ext cx="2450592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108" b="1">
                <a:solidFill>
                  <a:srgbClr val="1F3D6B"/>
                </a:solidFill>
              </a:rPr>
              <a:t>Key Gap</a:t>
            </a:r>
            <a:endParaRPr lang="en-US" sz="1108"/>
          </a:p>
        </p:txBody>
      </p:sp>
      <p:sp>
        <p:nvSpPr>
          <p:cNvPr id="14" name="Text 10"/>
          <p:cNvSpPr/>
          <p:nvPr/>
        </p:nvSpPr>
        <p:spPr>
          <a:xfrm>
            <a:off x="6291072" y="1388328"/>
            <a:ext cx="2450592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88">
                <a:solidFill>
                  <a:srgbClr val="4A5568"/>
                </a:solidFill>
              </a:rPr>
              <a:t>Trend cannot be explored after clicking a KPI or segment. The page mostly answers “what,” not “why.”</a:t>
            </a:r>
            <a:endParaRPr lang="en-US" sz="888"/>
          </a:p>
        </p:txBody>
      </p:sp>
      <p:sp>
        <p:nvSpPr>
          <p:cNvPr id="15" name="Shape 11"/>
          <p:cNvSpPr/>
          <p:nvPr/>
        </p:nvSpPr>
        <p:spPr>
          <a:xfrm>
            <a:off x="9006840" y="1050000"/>
            <a:ext cx="2651760" cy="1005840"/>
          </a:xfrm>
          <a:prstGeom prst="roundRect">
            <a:avLst>
              <a:gd name="adj" fmla="val 4545"/>
            </a:avLst>
          </a:prstGeom>
          <a:solidFill>
            <a:srgbClr val="F6F8FB"/>
          </a:solidFill>
          <a:ln w="7620">
            <a:solidFill>
              <a:srgbClr val="D8E1EA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9006840" y="1050000"/>
            <a:ext cx="45720" cy="100584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9125712" y="1132296"/>
            <a:ext cx="2450592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108" b="1">
                <a:solidFill>
                  <a:srgbClr val="1F3D6B"/>
                </a:solidFill>
              </a:rPr>
              <a:t>Migration Opportunity</a:t>
            </a:r>
            <a:endParaRPr lang="en-US" sz="1108"/>
          </a:p>
        </p:txBody>
      </p:sp>
      <p:sp>
        <p:nvSpPr>
          <p:cNvPr id="18" name="Text 14"/>
          <p:cNvSpPr/>
          <p:nvPr/>
        </p:nvSpPr>
        <p:spPr>
          <a:xfrm>
            <a:off x="9125712" y="1388328"/>
            <a:ext cx="2450592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88">
                <a:solidFill>
                  <a:srgbClr val="4A5568"/>
                </a:solidFill>
              </a:rPr>
              <a:t>Superset can be used as the interaction layer, while ClickHouse becomes the fast serving layer for filters and drill-down.</a:t>
            </a:r>
            <a:endParaRPr lang="en-US" sz="888"/>
          </a:p>
        </p:txBody>
      </p:sp>
      <p:sp>
        <p:nvSpPr>
          <p:cNvPr id="19" name="Text 15"/>
          <p:cNvSpPr/>
          <p:nvPr/>
        </p:nvSpPr>
        <p:spPr>
          <a:xfrm>
            <a:off x="3337560" y="2467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11" b="1">
                <a:solidFill>
                  <a:srgbClr val="1F3D6B"/>
                </a:solidFill>
              </a:rPr>
              <a:t>Recommended redesign direction</a:t>
            </a:r>
            <a:endParaRPr lang="en-US" sz="1611"/>
          </a:p>
        </p:txBody>
      </p:sp>
      <p:sp>
        <p:nvSpPr>
          <p:cNvPr id="20" name="Shape 16"/>
          <p:cNvSpPr/>
          <p:nvPr/>
        </p:nvSpPr>
        <p:spPr>
          <a:xfrm>
            <a:off x="3337560" y="2833080"/>
            <a:ext cx="3749040" cy="914400"/>
          </a:xfrm>
          <a:prstGeom prst="roundRect">
            <a:avLst>
              <a:gd name="adj" fmla="val 5000"/>
            </a:avLst>
          </a:prstGeom>
          <a:solidFill>
            <a:srgbClr val="F6F8FB"/>
          </a:solidFill>
          <a:ln w="7620">
            <a:solidFill>
              <a:srgbClr val="D8E1EA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3337560" y="2833080"/>
            <a:ext cx="45720" cy="91440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3456432" y="2915376"/>
            <a:ext cx="3547872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108" b="1">
                <a:solidFill>
                  <a:srgbClr val="1F3D6B"/>
                </a:solidFill>
              </a:rPr>
              <a:t>Separate Summary from Analysis</a:t>
            </a:r>
            <a:endParaRPr lang="en-US" sz="1108"/>
          </a:p>
        </p:txBody>
      </p:sp>
      <p:sp>
        <p:nvSpPr>
          <p:cNvPr id="23" name="Text 19"/>
          <p:cNvSpPr/>
          <p:nvPr/>
        </p:nvSpPr>
        <p:spPr>
          <a:xfrm>
            <a:off x="3456432" y="3171408"/>
            <a:ext cx="3547872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88">
                <a:solidFill>
                  <a:srgbClr val="4A5568"/>
                </a:solidFill>
              </a:rPr>
              <a:t>Move detailed heatmaps, maps, and rankings into L2 tabs to reduce cognitive load on L1.</a:t>
            </a:r>
            <a:endParaRPr lang="en-US" sz="888"/>
          </a:p>
        </p:txBody>
      </p:sp>
      <p:sp>
        <p:nvSpPr>
          <p:cNvPr id="24" name="Shape 20"/>
          <p:cNvSpPr/>
          <p:nvPr/>
        </p:nvSpPr>
        <p:spPr>
          <a:xfrm>
            <a:off x="7360920" y="2833080"/>
            <a:ext cx="4297680" cy="914400"/>
          </a:xfrm>
          <a:prstGeom prst="roundRect">
            <a:avLst>
              <a:gd name="adj" fmla="val 5000"/>
            </a:avLst>
          </a:prstGeom>
          <a:solidFill>
            <a:srgbClr val="F6F8FB"/>
          </a:solidFill>
          <a:ln w="7620">
            <a:solidFill>
              <a:srgbClr val="D8E1EA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7360920" y="2833080"/>
            <a:ext cx="45720" cy="914400"/>
          </a:xfrm>
          <a:prstGeom prst="rect">
            <a:avLst/>
          </a:prstGeom>
          <a:solidFill>
            <a:srgbClr val="D02C8C"/>
          </a:solidFill>
          <a:ln w="12700">
            <a:solidFill>
              <a:srgbClr val="D02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7479792" y="2915376"/>
            <a:ext cx="4096512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108" b="1">
                <a:solidFill>
                  <a:srgbClr val="1F3D6B"/>
                </a:solidFill>
              </a:rPr>
              <a:t>Use Click-to-Explain Navigation</a:t>
            </a:r>
            <a:endParaRPr lang="en-US" sz="1108"/>
          </a:p>
        </p:txBody>
      </p:sp>
      <p:sp>
        <p:nvSpPr>
          <p:cNvPr id="27" name="Text 23"/>
          <p:cNvSpPr/>
          <p:nvPr/>
        </p:nvSpPr>
        <p:spPr>
          <a:xfrm>
            <a:off x="7479792" y="3171408"/>
            <a:ext cx="4096512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88">
                <a:solidFill>
                  <a:srgbClr val="4A5568"/>
                </a:solidFill>
              </a:rPr>
              <a:t>KPI click opens trend and contribution analysis. Segment click opens the matching L2 analysis screen.</a:t>
            </a:r>
            <a:endParaRPr lang="en-US" sz="888"/>
          </a:p>
        </p:txBody>
      </p:sp>
      <p:sp>
        <p:nvSpPr>
          <p:cNvPr id="28" name="Shape 24"/>
          <p:cNvSpPr/>
          <p:nvPr/>
        </p:nvSpPr>
        <p:spPr>
          <a:xfrm>
            <a:off x="3337560" y="3976080"/>
            <a:ext cx="3749040" cy="914400"/>
          </a:xfrm>
          <a:prstGeom prst="roundRect">
            <a:avLst>
              <a:gd name="adj" fmla="val 5000"/>
            </a:avLst>
          </a:prstGeom>
          <a:solidFill>
            <a:srgbClr val="F6F8FB"/>
          </a:solidFill>
          <a:ln w="7620">
            <a:solidFill>
              <a:srgbClr val="D8E1EA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5"/>
          <p:cNvSpPr/>
          <p:nvPr/>
        </p:nvSpPr>
        <p:spPr>
          <a:xfrm>
            <a:off x="3337560" y="3976080"/>
            <a:ext cx="45720" cy="914400"/>
          </a:xfrm>
          <a:prstGeom prst="rect">
            <a:avLst/>
          </a:prstGeom>
          <a:solidFill>
            <a:srgbClr val="D98F1F"/>
          </a:solidFill>
          <a:ln w="12700">
            <a:solidFill>
              <a:srgbClr val="D98F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/>
          <p:nvPr/>
        </p:nvSpPr>
        <p:spPr>
          <a:xfrm>
            <a:off x="3456432" y="4058376"/>
            <a:ext cx="3547872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108" b="1">
                <a:solidFill>
                  <a:srgbClr val="1F3D6B"/>
                </a:solidFill>
              </a:rPr>
              <a:t>Standardize Metric Modes</a:t>
            </a:r>
            <a:endParaRPr lang="en-US" sz="1108"/>
          </a:p>
        </p:txBody>
      </p:sp>
      <p:sp>
        <p:nvSpPr>
          <p:cNvPr id="31" name="Text 27"/>
          <p:cNvSpPr/>
          <p:nvPr/>
        </p:nvSpPr>
        <p:spPr>
          <a:xfrm>
            <a:off x="3456432" y="4314408"/>
            <a:ext cx="3547872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88">
                <a:solidFill>
                  <a:srgbClr val="4A5568"/>
                </a:solidFill>
              </a:rPr>
              <a:t>Count, %, Growth, and Index should be selectable from the same metric control.</a:t>
            </a:r>
            <a:endParaRPr lang="en-US" sz="888"/>
          </a:p>
        </p:txBody>
      </p:sp>
      <p:sp>
        <p:nvSpPr>
          <p:cNvPr id="32" name="Shape 28"/>
          <p:cNvSpPr/>
          <p:nvPr/>
        </p:nvSpPr>
        <p:spPr>
          <a:xfrm>
            <a:off x="7360920" y="3976080"/>
            <a:ext cx="4297680" cy="914400"/>
          </a:xfrm>
          <a:prstGeom prst="roundRect">
            <a:avLst>
              <a:gd name="adj" fmla="val 5000"/>
            </a:avLst>
          </a:prstGeom>
          <a:solidFill>
            <a:srgbClr val="F6F8FB"/>
          </a:solidFill>
          <a:ln w="7620">
            <a:solidFill>
              <a:srgbClr val="D8E1EA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29"/>
          <p:cNvSpPr/>
          <p:nvPr/>
        </p:nvSpPr>
        <p:spPr>
          <a:xfrm>
            <a:off x="7360920" y="3976080"/>
            <a:ext cx="45720" cy="9144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0"/>
          <p:cNvSpPr/>
          <p:nvPr/>
        </p:nvSpPr>
        <p:spPr>
          <a:xfrm>
            <a:off x="7479792" y="4058376"/>
            <a:ext cx="4096512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108" b="1">
                <a:solidFill>
                  <a:srgbClr val="1F3D6B"/>
                </a:solidFill>
              </a:rPr>
              <a:t>Make Map Analytical</a:t>
            </a:r>
            <a:endParaRPr lang="en-US" sz="1108"/>
          </a:p>
        </p:txBody>
      </p:sp>
      <p:sp>
        <p:nvSpPr>
          <p:cNvPr id="35" name="Text 31"/>
          <p:cNvSpPr/>
          <p:nvPr/>
        </p:nvSpPr>
        <p:spPr>
          <a:xfrm>
            <a:off x="7479792" y="4314408"/>
            <a:ext cx="4096512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88">
                <a:solidFill>
                  <a:srgbClr val="4A5568"/>
                </a:solidFill>
              </a:rPr>
              <a:t>Province map should show both size and growth, then drill into province-specific trend and ranking.</a:t>
            </a:r>
            <a:endParaRPr lang="en-US" sz="888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8016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546">
                <a:solidFill>
                  <a:srgbClr val="8B95A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ayer Map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274320" y="10972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97" b="1">
                <a:solidFill>
                  <a:srgbClr val="1F3D6B"/>
                </a:solidFill>
              </a:rPr>
              <a:t>Overall Layer Composition Map (L1 / L2)</a:t>
            </a:r>
          </a:p>
        </p:txBody>
      </p:sp>
      <p:sp>
        <p:nvSpPr>
          <p:cNvPr id="3" name="Text 3"/>
          <p:cNvSpPr/>
          <p:nvPr/>
        </p:nvSpPr>
        <p:spPr>
          <a:xfrm>
            <a:off x="274320" y="502920"/>
            <a:ext cx="11521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0">
                <a:solidFill>
                  <a:srgbClr val="4A5568"/>
                </a:solidFill>
              </a:rPr>
              <a:t>KPI trends live on L1. L2 explains who, where, when, and which member group drives the change — and that is the deepest level.</a:t>
            </a:r>
          </a:p>
        </p:txBody>
      </p:sp>
      <p:sp>
        <p:nvSpPr>
          <p:cNvPr id="4" name="Shape 4"/>
          <p:cNvSpPr/>
          <p:nvPr/>
        </p:nvSpPr>
        <p:spPr>
          <a:xfrm>
            <a:off x="274320" y="980000"/>
            <a:ext cx="780000" cy="1150000"/>
          </a:xfrm>
          <a:prstGeom prst="roundRect">
            <a:avLst>
              <a:gd name="adj" fmla="val 7143"/>
            </a:avLst>
          </a:prstGeom>
          <a:solidFill>
            <a:srgbClr val="1F3D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5"/>
          <p:cNvSpPr/>
          <p:nvPr/>
        </p:nvSpPr>
        <p:spPr>
          <a:xfrm>
            <a:off x="274320" y="980000"/>
            <a:ext cx="780000" cy="11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L1</a:t>
            </a:r>
          </a:p>
        </p:txBody>
      </p:sp>
      <p:sp>
        <p:nvSpPr>
          <p:cNvPr id="6" name="Shape 6"/>
          <p:cNvSpPr/>
          <p:nvPr/>
        </p:nvSpPr>
        <p:spPr>
          <a:xfrm>
            <a:off x="274320" y="2500000"/>
            <a:ext cx="780000" cy="2200000"/>
          </a:xfrm>
          <a:prstGeom prst="roundRect">
            <a:avLst>
              <a:gd name="adj" fmla="val 7143"/>
            </a:avLst>
          </a:prstGeom>
          <a:solidFill>
            <a:srgbClr val="3A5BA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7"/>
          <p:cNvSpPr/>
          <p:nvPr/>
        </p:nvSpPr>
        <p:spPr>
          <a:xfrm>
            <a:off x="274320" y="2500000"/>
            <a:ext cx="780000" cy="2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L2</a:t>
            </a:r>
          </a:p>
        </p:txBody>
      </p:sp>
      <p:sp>
        <p:nvSpPr>
          <p:cNvPr id="10" name="Shape 10"/>
          <p:cNvSpPr/>
          <p:nvPr/>
        </p:nvSpPr>
        <p:spPr>
          <a:xfrm>
            <a:off x="1234440" y="980000"/>
            <a:ext cx="10683000" cy="1150000"/>
          </a:xfrm>
          <a:prstGeom prst="roundRect">
            <a:avLst>
              <a:gd name="adj" fmla="val 7143"/>
            </a:avLst>
          </a:prstGeom>
          <a:solidFill>
            <a:srgbClr val="F6F8FB"/>
          </a:solidFill>
          <a:ln w="762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1234440" y="980000"/>
            <a:ext cx="54864" cy="1150000"/>
          </a:xfrm>
          <a:prstGeom prst="rect">
            <a:avLst/>
          </a:prstGeom>
          <a:solidFill>
            <a:srgbClr val="1F3D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2"/>
          <p:cNvSpPr/>
          <p:nvPr/>
        </p:nvSpPr>
        <p:spPr>
          <a:xfrm>
            <a:off x="1444440" y="1080000"/>
            <a:ext cx="900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>
                <a:solidFill>
                  <a:srgbClr val="1F3D6B"/>
                </a:solidFill>
              </a:rPr>
              <a:t>L1 · Merchant Insight Overview  —  KPI cards + KPI trend in one screen</a:t>
            </a:r>
          </a:p>
        </p:txBody>
      </p:sp>
      <p:sp>
        <p:nvSpPr>
          <p:cNvPr id="13" name="Text 13"/>
          <p:cNvSpPr/>
          <p:nvPr/>
        </p:nvSpPr>
        <p:spPr>
          <a:xfrm>
            <a:off x="1444440" y="1380000"/>
            <a:ext cx="102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0">
                <a:solidFill>
                  <a:srgbClr val="4A5568"/>
                </a:solidFill>
              </a:rPr>
              <a:t>6 KPI cards · trend chart for the selected KPI (daily / weekly / monthly, MoM · YoY) · key movement by segment · alerts</a:t>
            </a:r>
          </a:p>
        </p:txBody>
      </p:sp>
      <p:sp>
        <p:nvSpPr>
          <p:cNvPr id="14" name="Text 14"/>
          <p:cNvSpPr/>
          <p:nvPr/>
        </p:nvSpPr>
        <p:spPr>
          <a:xfrm>
            <a:off x="1444440" y="1630000"/>
            <a:ext cx="102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80" b="1">
                <a:solidFill>
                  <a:srgbClr val="3A5BA0"/>
                </a:solidFill>
              </a:rPr>
              <a:t>Purchasing Members · Net Sales · Transactions · AOV · New Member % · Repeat Ratio</a:t>
            </a:r>
          </a:p>
        </p:txBody>
      </p:sp>
      <p:sp>
        <p:nvSpPr>
          <p:cNvPr id="15" name="Text 15"/>
          <p:cNvSpPr/>
          <p:nvPr/>
        </p:nvSpPr>
        <p:spPr>
          <a:xfrm>
            <a:off x="1444440" y="1880000"/>
            <a:ext cx="102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80" b="1">
                <a:solidFill>
                  <a:srgbClr val="C2417B"/>
                </a:solidFill>
              </a:rPr>
              <a:t>Clicking a KPI card switches the trend panel in place — no separate L2 trend screen.</a:t>
            </a:r>
          </a:p>
        </p:txBody>
      </p:sp>
      <p:sp>
        <p:nvSpPr>
          <p:cNvPr id="16" name="Shape 16"/>
          <p:cNvSpPr/>
          <p:nvPr/>
        </p:nvSpPr>
        <p:spPr>
          <a:xfrm>
            <a:off x="1234440" y="2500000"/>
            <a:ext cx="2520750" cy="2200000"/>
          </a:xfrm>
          <a:prstGeom prst="roundRect">
            <a:avLst>
              <a:gd name="adj" fmla="val 7143"/>
            </a:avLst>
          </a:prstGeom>
          <a:solidFill>
            <a:srgbClr val="F6F8FB"/>
          </a:solidFill>
          <a:ln w="762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7"/>
          <p:cNvSpPr/>
          <p:nvPr/>
        </p:nvSpPr>
        <p:spPr>
          <a:xfrm>
            <a:off x="1234440" y="2500000"/>
            <a:ext cx="54864" cy="2200000"/>
          </a:xfrm>
          <a:prstGeom prst="rect">
            <a:avLst/>
          </a:prstGeom>
          <a:solidFill>
            <a:srgbClr val="C2417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8"/>
          <p:cNvSpPr/>
          <p:nvPr/>
        </p:nvSpPr>
        <p:spPr>
          <a:xfrm>
            <a:off x="1414440" y="2620000"/>
            <a:ext cx="226075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>
                <a:solidFill>
                  <a:srgbClr val="1F3D6B"/>
                </a:solidFill>
              </a:rPr>
              <a:t>L2 · Demographic Analysis</a:t>
            </a:r>
          </a:p>
        </p:txBody>
      </p:sp>
      <p:sp>
        <p:nvSpPr>
          <p:cNvPr id="19" name="Text 19"/>
          <p:cNvSpPr/>
          <p:nvPr/>
        </p:nvSpPr>
        <p:spPr>
          <a:xfrm>
            <a:off x="1414440" y="3120000"/>
            <a:ext cx="224075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0">
                <a:solidFill>
                  <a:srgbClr val="4A5568"/>
                </a:solidFill>
              </a:rPr>
              <a:t>· Age and gender composition</a:t>
            </a:r>
          </a:p>
        </p:txBody>
      </p:sp>
      <p:sp>
        <p:nvSpPr>
          <p:cNvPr id="20" name="Text 20"/>
          <p:cNvSpPr/>
          <p:nvPr/>
        </p:nvSpPr>
        <p:spPr>
          <a:xfrm>
            <a:off x="1414440" y="3460000"/>
            <a:ext cx="224075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0">
                <a:solidFill>
                  <a:srgbClr val="4A5568"/>
                </a:solidFill>
              </a:rPr>
              <a:t>· New vs existing member mix</a:t>
            </a:r>
          </a:p>
        </p:txBody>
      </p:sp>
      <p:sp>
        <p:nvSpPr>
          <p:cNvPr id="21" name="Text 21"/>
          <p:cNvSpPr/>
          <p:nvPr/>
        </p:nvSpPr>
        <p:spPr>
          <a:xfrm>
            <a:off x="1414440" y="3800000"/>
            <a:ext cx="224075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0">
                <a:solidFill>
                  <a:srgbClr val="4A5568"/>
                </a:solidFill>
              </a:rPr>
              <a:t>· Composition change by segment</a:t>
            </a:r>
          </a:p>
        </p:txBody>
      </p:sp>
      <p:sp>
        <p:nvSpPr>
          <p:cNvPr id="22" name="Text 22"/>
          <p:cNvSpPr/>
          <p:nvPr/>
        </p:nvSpPr>
        <p:spPr>
          <a:xfrm>
            <a:off x="1414440" y="4140000"/>
            <a:ext cx="224075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0">
                <a:solidFill>
                  <a:srgbClr val="4A5568"/>
                </a:solidFill>
              </a:rPr>
              <a:t>· Segment growth heatmap</a:t>
            </a:r>
          </a:p>
        </p:txBody>
      </p:sp>
      <p:sp>
        <p:nvSpPr>
          <p:cNvPr id="23" name="Shape 23"/>
          <p:cNvSpPr/>
          <p:nvPr/>
        </p:nvSpPr>
        <p:spPr>
          <a:xfrm>
            <a:off x="3955190" y="2500000"/>
            <a:ext cx="2520750" cy="2200000"/>
          </a:xfrm>
          <a:prstGeom prst="roundRect">
            <a:avLst>
              <a:gd name="adj" fmla="val 7143"/>
            </a:avLst>
          </a:prstGeom>
          <a:solidFill>
            <a:srgbClr val="F6F8FB"/>
          </a:solidFill>
          <a:ln w="762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4"/>
          <p:cNvSpPr/>
          <p:nvPr/>
        </p:nvSpPr>
        <p:spPr>
          <a:xfrm>
            <a:off x="3955190" y="2500000"/>
            <a:ext cx="54864" cy="22000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5"/>
          <p:cNvSpPr/>
          <p:nvPr/>
        </p:nvSpPr>
        <p:spPr>
          <a:xfrm>
            <a:off x="4135190" y="2620000"/>
            <a:ext cx="226075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>
                <a:solidFill>
                  <a:srgbClr val="1F3D6B"/>
                </a:solidFill>
              </a:rPr>
              <a:t>L2 · Geography Analysis</a:t>
            </a:r>
          </a:p>
        </p:txBody>
      </p:sp>
      <p:sp>
        <p:nvSpPr>
          <p:cNvPr id="26" name="Text 26"/>
          <p:cNvSpPr/>
          <p:nvPr/>
        </p:nvSpPr>
        <p:spPr>
          <a:xfrm>
            <a:off x="4135190" y="3120000"/>
            <a:ext cx="224075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0">
                <a:solidFill>
                  <a:srgbClr val="4A5568"/>
                </a:solidFill>
              </a:rPr>
              <a:t>· Province map · size and growth</a:t>
            </a:r>
          </a:p>
        </p:txBody>
      </p:sp>
      <p:sp>
        <p:nvSpPr>
          <p:cNvPr id="27" name="Text 27"/>
          <p:cNvSpPr/>
          <p:nvPr/>
        </p:nvSpPr>
        <p:spPr>
          <a:xfrm>
            <a:off x="4135190" y="3460000"/>
            <a:ext cx="224075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0">
                <a:solidFill>
                  <a:srgbClr val="4A5568"/>
                </a:solidFill>
              </a:rPr>
              <a:t>· Region and city comparison</a:t>
            </a:r>
          </a:p>
        </p:txBody>
      </p:sp>
      <p:sp>
        <p:nvSpPr>
          <p:cNvPr id="28" name="Text 28"/>
          <p:cNvSpPr/>
          <p:nvPr/>
        </p:nvSpPr>
        <p:spPr>
          <a:xfrm>
            <a:off x="4135190" y="3800000"/>
            <a:ext cx="224075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0">
                <a:solidFill>
                  <a:srgbClr val="4A5568"/>
                </a:solidFill>
              </a:rPr>
              <a:t>· Catchment distribution</a:t>
            </a:r>
          </a:p>
        </p:txBody>
      </p:sp>
      <p:sp>
        <p:nvSpPr>
          <p:cNvPr id="29" name="Text 29"/>
          <p:cNvSpPr/>
          <p:nvPr/>
        </p:nvSpPr>
        <p:spPr>
          <a:xfrm>
            <a:off x="4135190" y="4140000"/>
            <a:ext cx="224075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0">
                <a:solidFill>
                  <a:srgbClr val="4A5568"/>
                </a:solidFill>
              </a:rPr>
              <a:t>· Store coverage view</a:t>
            </a:r>
          </a:p>
        </p:txBody>
      </p:sp>
      <p:sp>
        <p:nvSpPr>
          <p:cNvPr id="55" name="Arrow 55"/>
          <p:cNvSpPr/>
          <p:nvPr/>
        </p:nvSpPr>
        <p:spPr>
          <a:xfrm>
            <a:off x="2494815" y="2180000"/>
            <a:ext cx="0" cy="320000"/>
          </a:xfrm>
          <a:prstGeom prst="line">
            <a:avLst/>
          </a:prstGeom>
          <a:ln w="19050">
            <a:solidFill>
              <a:srgbClr val="1F3D6B"/>
            </a:solidFill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56" name="Arrow 56"/>
          <p:cNvSpPr/>
          <p:nvPr/>
        </p:nvSpPr>
        <p:spPr>
          <a:xfrm>
            <a:off x="5215565" y="2180000"/>
            <a:ext cx="0" cy="320000"/>
          </a:xfrm>
          <a:prstGeom prst="line">
            <a:avLst/>
          </a:prstGeom>
          <a:ln w="19050">
            <a:solidFill>
              <a:srgbClr val="1F3D6B"/>
            </a:solidFill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3"/>
          <p:cNvSpPr/>
          <p:nvPr/>
        </p:nvSpPr>
        <p:spPr>
          <a:xfrm>
            <a:off x="1234440" y="2170000"/>
            <a:ext cx="15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>
                <a:solidFill>
                  <a:srgbClr val="3A5BA0"/>
                </a:solidFill>
              </a:rPr>
              <a:t>Click to open L2</a:t>
            </a:r>
          </a:p>
        </p:txBody>
      </p:sp>
      <p:sp>
        <p:nvSpPr>
          <p:cNvPr id="64" name="Shape 64"/>
          <p:cNvSpPr/>
          <p:nvPr/>
        </p:nvSpPr>
        <p:spPr>
          <a:xfrm>
            <a:off x="685800" y="5000000"/>
            <a:ext cx="11018520" cy="640000"/>
          </a:xfrm>
          <a:prstGeom prst="roundRect">
            <a:avLst>
              <a:gd name="adj" fmla="val 7143"/>
            </a:avLst>
          </a:prstGeom>
          <a:solidFill>
            <a:srgbClr val="F4F7FB"/>
          </a:solidFill>
          <a:ln w="762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5"/>
          <p:cNvSpPr/>
          <p:nvPr/>
        </p:nvSpPr>
        <p:spPr>
          <a:xfrm>
            <a:off x="868680" y="5125000"/>
            <a:ext cx="1065276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1F3D6B"/>
                </a:solidFill>
              </a:rPr>
              <a:t>Persistent global filters: operation unit · store · business category · tenant · date range · compare with</a:t>
            </a:r>
          </a:p>
        </p:txBody>
      </p:sp>
      <p:sp>
        <p:nvSpPr>
          <p:cNvPr id="66" name="Text 66"/>
          <p:cNvSpPr/>
          <p:nvPr/>
        </p:nvSpPr>
        <p:spPr>
          <a:xfrm>
            <a:off x="868680" y="5370000"/>
            <a:ext cx="1065276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0">
                <a:solidFill>
                  <a:srgbClr val="4A5568"/>
                </a:solidFill>
              </a:rPr>
              <a:t>Filters, period and metric mode are carried over on every transition. A click on L2 cross-filters the screen; no screen goes deeper than L2.</a:t>
            </a:r>
          </a:p>
        </p:txBody>
      </p:sp>
      <p:sp>
        <p:nvSpPr>
          <p:cNvPr id="90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0000" y="640000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1551">
                <a:solidFill>
                  <a:srgbClr val="8B95A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896" name="Shape 70"/>
          <p:cNvSpPr/>
          <p:nvPr/>
        </p:nvSpPr>
        <p:spPr>
          <a:xfrm>
            <a:off x="6675940" y="2500000"/>
            <a:ext cx="2520750" cy="2200000"/>
          </a:xfrm>
          <a:prstGeom prst="roundRect">
            <a:avLst>
              <a:gd name="adj" fmla="val 7143"/>
            </a:avLst>
          </a:prstGeom>
          <a:solidFill>
            <a:srgbClr val="F6F8FB"/>
          </a:solidFill>
          <a:ln w="762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2" name="Shape 71"/>
          <p:cNvSpPr/>
          <p:nvPr/>
        </p:nvSpPr>
        <p:spPr>
          <a:xfrm>
            <a:off x="6675940" y="2500000"/>
            <a:ext cx="54864" cy="2200000"/>
          </a:xfrm>
          <a:prstGeom prst="rect">
            <a:avLst/>
          </a:prstGeom>
          <a:solidFill>
            <a:srgbClr val="D89A1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0" name="Text 70"/>
          <p:cNvSpPr/>
          <p:nvPr/>
        </p:nvSpPr>
        <p:spPr>
          <a:xfrm>
            <a:off x="6855940" y="2620000"/>
            <a:ext cx="226075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>
                <a:solidFill>
                  <a:srgbClr val="1F3D6B"/>
                </a:solidFill>
              </a:rPr>
              <a:t>L2 · Visit Timing Analysis</a:t>
            </a:r>
          </a:p>
        </p:txBody>
      </p:sp>
      <p:sp>
        <p:nvSpPr>
          <p:cNvPr id="181" name="Text 71"/>
          <p:cNvSpPr/>
          <p:nvPr/>
        </p:nvSpPr>
        <p:spPr>
          <a:xfrm>
            <a:off x="6855940" y="3120000"/>
            <a:ext cx="224075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0">
                <a:solidFill>
                  <a:srgbClr val="4A5568"/>
                </a:solidFill>
              </a:rPr>
              <a:t>· Hour × weekday heatmap</a:t>
            </a:r>
          </a:p>
        </p:txBody>
      </p:sp>
      <p:sp>
        <p:nvSpPr>
          <p:cNvPr id="182" name="Text 72"/>
          <p:cNvSpPr/>
          <p:nvPr/>
        </p:nvSpPr>
        <p:spPr>
          <a:xfrm>
            <a:off x="6855940" y="3460000"/>
            <a:ext cx="224075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0">
                <a:solidFill>
                  <a:srgbClr val="4A5568"/>
                </a:solidFill>
              </a:rPr>
              <a:t>· Daypart composition and shift</a:t>
            </a:r>
          </a:p>
        </p:txBody>
      </p:sp>
      <p:sp>
        <p:nvSpPr>
          <p:cNvPr id="183" name="Text 73"/>
          <p:cNvSpPr/>
          <p:nvPr/>
        </p:nvSpPr>
        <p:spPr>
          <a:xfrm>
            <a:off x="6855940" y="3800000"/>
            <a:ext cx="224075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0">
                <a:solidFill>
                  <a:srgbClr val="4A5568"/>
                </a:solidFill>
              </a:rPr>
              <a:t>· Peak windows by store type</a:t>
            </a:r>
          </a:p>
        </p:txBody>
      </p:sp>
      <p:sp>
        <p:nvSpPr>
          <p:cNvPr id="184" name="Text 74"/>
          <p:cNvSpPr/>
          <p:nvPr/>
        </p:nvSpPr>
        <p:spPr>
          <a:xfrm>
            <a:off x="6855940" y="4140000"/>
            <a:ext cx="224075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0">
                <a:solidFill>
                  <a:srgbClr val="4A5568"/>
                </a:solidFill>
              </a:rPr>
              <a:t>· Timing change vs last month</a:t>
            </a:r>
          </a:p>
        </p:txBody>
      </p:sp>
      <p:sp>
        <p:nvSpPr>
          <p:cNvPr id="190" name="Arrow 75"/>
          <p:cNvSpPr/>
          <p:nvPr/>
        </p:nvSpPr>
        <p:spPr>
          <a:xfrm>
            <a:off x="7936315" y="2180000"/>
            <a:ext cx="0" cy="320000"/>
          </a:xfrm>
          <a:prstGeom prst="line">
            <a:avLst/>
          </a:prstGeom>
          <a:ln w="19050">
            <a:solidFill>
              <a:srgbClr val="1F3D6B"/>
            </a:solidFill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900001" name="Shape 80"/>
          <p:cNvSpPr/>
          <p:nvPr/>
        </p:nvSpPr>
        <p:spPr>
          <a:xfrm>
            <a:off x="9396690" y="2500000"/>
            <a:ext cx="2520750" cy="2200000"/>
          </a:xfrm>
          <a:prstGeom prst="roundRect">
            <a:avLst>
              <a:gd name="adj" fmla="val 7143"/>
            </a:avLst>
          </a:prstGeom>
          <a:solidFill>
            <a:srgbClr val="F6F8FB"/>
          </a:solidFill>
          <a:ln w="762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0002" name="Shape 81"/>
          <p:cNvSpPr/>
          <p:nvPr/>
        </p:nvSpPr>
        <p:spPr>
          <a:xfrm>
            <a:off x="9396690" y="2500000"/>
            <a:ext cx="54864" cy="2200000"/>
          </a:xfrm>
          <a:prstGeom prst="rect">
            <a:avLst/>
          </a:prstGeom>
          <a:solidFill>
            <a:srgbClr val="D89A1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0003" name="Text 80"/>
          <p:cNvSpPr/>
          <p:nvPr/>
        </p:nvSpPr>
        <p:spPr>
          <a:xfrm>
            <a:off x="9576690" y="2620000"/>
            <a:ext cx="226075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3D6B"/>
                </a:solidFill>
              </a:rPr>
              <a:t>L2 · Decile Analysis</a:t>
            </a:r>
          </a:p>
        </p:txBody>
      </p:sp>
      <p:sp>
        <p:nvSpPr>
          <p:cNvPr id="900004" name="Text 81"/>
          <p:cNvSpPr/>
          <p:nvPr/>
        </p:nvSpPr>
        <p:spPr>
          <a:xfrm>
            <a:off x="9576690" y="3120000"/>
            <a:ext cx="224075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0">
                <a:solidFill>
                  <a:srgbClr val="4A5568"/>
                </a:solidFill>
              </a:rPr>
              <a:t>· Cumulative sales share by decile</a:t>
            </a:r>
          </a:p>
        </p:txBody>
      </p:sp>
      <p:sp>
        <p:nvSpPr>
          <p:cNvPr id="900005" name="Text 82"/>
          <p:cNvSpPr/>
          <p:nvPr/>
        </p:nvSpPr>
        <p:spPr>
          <a:xfrm>
            <a:off x="9576690" y="3460000"/>
            <a:ext cx="224075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0">
                <a:solidFill>
                  <a:srgbClr val="4A5568"/>
                </a:solidFill>
              </a:rPr>
              <a:t>· Decile movement vs last month</a:t>
            </a:r>
          </a:p>
        </p:txBody>
      </p:sp>
      <p:sp>
        <p:nvSpPr>
          <p:cNvPr id="900006" name="Text 83"/>
          <p:cNvSpPr/>
          <p:nvPr/>
        </p:nvSpPr>
        <p:spPr>
          <a:xfrm>
            <a:off x="9576690" y="3800000"/>
            <a:ext cx="224075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0">
                <a:solidFill>
                  <a:srgbClr val="4A5568"/>
                </a:solidFill>
              </a:rPr>
              <a:t>· Members, sales and growth table</a:t>
            </a:r>
          </a:p>
        </p:txBody>
      </p:sp>
      <p:sp>
        <p:nvSpPr>
          <p:cNvPr id="900007" name="Text 84"/>
          <p:cNvSpPr/>
          <p:nvPr/>
        </p:nvSpPr>
        <p:spPr>
          <a:xfrm>
            <a:off x="9576690" y="4140000"/>
            <a:ext cx="224075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0">
                <a:solidFill>
                  <a:srgbClr val="4A5568"/>
                </a:solidFill>
              </a:rPr>
              <a:t>· Decile × segment breakdown</a:t>
            </a:r>
          </a:p>
        </p:txBody>
      </p:sp>
      <p:sp>
        <p:nvSpPr>
          <p:cNvPr id="900008" name="Arrow 85"/>
          <p:cNvSpPr/>
          <p:nvPr/>
        </p:nvSpPr>
        <p:spPr>
          <a:xfrm>
            <a:off x="10657065" y="2180000"/>
            <a:ext cx="0" cy="320000"/>
          </a:xfrm>
          <a:prstGeom prst="line">
            <a:avLst/>
          </a:prstGeom>
          <a:ln w="19050">
            <a:solidFill>
              <a:srgbClr val="1F3D6B"/>
            </a:solidFill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55" b="1">
                <a:solidFill>
                  <a:srgbClr val="1F3D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KPI Definitions and Calculation Rules</a:t>
            </a:r>
            <a:endParaRPr lang="en-US" sz="2255"/>
          </a:p>
        </p:txBody>
      </p:sp>
      <p:sp>
        <p:nvSpPr>
          <p:cNvPr id="3" name="Text 1"/>
          <p:cNvSpPr/>
          <p:nvPr/>
        </p:nvSpPr>
        <p:spPr>
          <a:xfrm>
            <a:off x="274320" y="502920"/>
            <a:ext cx="11521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5">
                <a:solidFill>
                  <a:srgbClr val="4A5568"/>
                </a:solidFill>
              </a:rPr>
              <a:t>Register these definitions in the Superset dataset so they appear on hover across every screen.</a:t>
            </a:r>
            <a:endParaRPr lang="en-US" sz="955"/>
          </a:p>
        </p:txBody>
      </p:sp>
      <p:sp>
        <p:nvSpPr>
          <p:cNvPr id="5" name="Shape 2"/>
          <p:cNvSpPr/>
          <p:nvPr/>
        </p:nvSpPr>
        <p:spPr>
          <a:xfrm>
            <a:off x="457200" y="1095974"/>
            <a:ext cx="11247120" cy="4526280"/>
          </a:xfrm>
          <a:prstGeom prst="roundRect">
            <a:avLst>
              <a:gd name="adj" fmla="val 808"/>
            </a:avLst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57200" y="1095974"/>
            <a:ext cx="11247120" cy="384048"/>
          </a:xfrm>
          <a:prstGeom prst="rect">
            <a:avLst/>
          </a:prstGeom>
          <a:solidFill>
            <a:srgbClr val="1F3D6B"/>
          </a:solidFill>
          <a:ln w="12700">
            <a:solidFill>
              <a:srgbClr val="1F3D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13232" y="1214846"/>
            <a:ext cx="1450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8" b="1">
                <a:solidFill>
                  <a:srgbClr val="FFFFFF"/>
                </a:solidFill>
              </a:rPr>
              <a:t>KPI</a:t>
            </a:r>
            <a:endParaRPr lang="en-US" sz="928"/>
          </a:p>
        </p:txBody>
      </p:sp>
      <p:sp>
        <p:nvSpPr>
          <p:cNvPr id="8" name="Text 5"/>
          <p:cNvSpPr/>
          <p:nvPr/>
        </p:nvSpPr>
        <p:spPr>
          <a:xfrm>
            <a:off x="2270000" y="1214846"/>
            <a:ext cx="3400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8" b="1">
                <a:solidFill>
                  <a:srgbClr val="FFFFFF"/>
                </a:solidFill>
              </a:rPr>
              <a:t>Definition</a:t>
            </a:r>
            <a:endParaRPr lang="en-US" sz="928"/>
          </a:p>
        </p:txBody>
      </p:sp>
      <p:sp>
        <p:nvSpPr>
          <p:cNvPr id="9" name="Text 6"/>
          <p:cNvSpPr/>
          <p:nvPr/>
        </p:nvSpPr>
        <p:spPr>
          <a:xfrm>
            <a:off x="5770000" y="1214846"/>
            <a:ext cx="2900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8" b="1">
                <a:solidFill>
                  <a:srgbClr val="FFFFFF"/>
                </a:solidFill>
              </a:rPr>
              <a:t>Calculation</a:t>
            </a:r>
            <a:endParaRPr lang="en-US" sz="928"/>
          </a:p>
        </p:txBody>
      </p:sp>
      <p:sp>
        <p:nvSpPr>
          <p:cNvPr id="10" name="Text 7"/>
          <p:cNvSpPr/>
          <p:nvPr/>
        </p:nvSpPr>
        <p:spPr>
          <a:xfrm>
            <a:off x="10150000" y="1214846"/>
            <a:ext cx="1450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8" b="1">
                <a:solidFill>
                  <a:srgbClr val="FFFFFF"/>
                </a:solidFill>
              </a:rPr>
              <a:t>Source table</a:t>
            </a:r>
            <a:endParaRPr lang="en-US" sz="928"/>
          </a:p>
        </p:txBody>
      </p:sp>
      <p:sp>
        <p:nvSpPr>
          <p:cNvPr id="601" name="Text 601"/>
          <p:cNvSpPr/>
          <p:nvPr/>
        </p:nvSpPr>
        <p:spPr>
          <a:xfrm>
            <a:off x="8770000" y="1214846"/>
            <a:ext cx="1230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8" b="1">
                <a:solidFill>
                  <a:srgbClr val="FFFFFF"/>
                </a:solidFill>
              </a:rPr>
              <a:t>Display Format</a:t>
            </a:r>
            <a:endParaRPr lang="en-US" sz="928"/>
          </a:p>
        </p:txBody>
      </p:sp>
      <p:sp>
        <p:nvSpPr>
          <p:cNvPr id="501" name="Shape 501"/>
          <p:cNvSpPr/>
          <p:nvPr/>
        </p:nvSpPr>
        <p:spPr>
          <a:xfrm>
            <a:off x="457200" y="1608038"/>
            <a:ext cx="11247120" cy="430000"/>
          </a:xfrm>
          <a:prstGeom prst="rect">
            <a:avLst/>
          </a:prstGeom>
          <a:solidFill>
            <a:srgbClr val="FFFFFF"/>
          </a:solidFill>
          <a:ln w="2540">
            <a:solidFill>
              <a:srgbClr val="E6EC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2" name="Text 502"/>
          <p:cNvSpPr/>
          <p:nvPr/>
        </p:nvSpPr>
        <p:spPr>
          <a:xfrm>
            <a:off x="713232" y="1768174"/>
            <a:ext cx="1450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8" b="1">
                <a:solidFill>
                  <a:srgbClr val="2E5FA3"/>
                </a:solidFill>
              </a:rPr>
              <a:t>Purchasing Members</a:t>
            </a:r>
            <a:endParaRPr lang="en-US" sz="928"/>
          </a:p>
        </p:txBody>
      </p:sp>
      <p:sp>
        <p:nvSpPr>
          <p:cNvPr id="503" name="Text 503"/>
          <p:cNvSpPr/>
          <p:nvPr/>
        </p:nvSpPr>
        <p:spPr>
          <a:xfrm>
            <a:off x="2270000" y="1768174"/>
            <a:ext cx="3400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8">
                <a:solidFill>
                  <a:srgbClr val="4A5568"/>
                </a:solidFill>
              </a:rPr>
              <a:t>Unique members with at least one purchase in the period</a:t>
            </a:r>
            <a:endParaRPr lang="en-US" sz="928"/>
          </a:p>
        </p:txBody>
      </p:sp>
      <p:sp>
        <p:nvSpPr>
          <p:cNvPr id="504" name="Text 504"/>
          <p:cNvSpPr/>
          <p:nvPr/>
        </p:nvSpPr>
        <p:spPr>
          <a:xfrm>
            <a:off x="5770000" y="1768174"/>
            <a:ext cx="2900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8">
                <a:solidFill>
                  <a:srgbClr val="4A5568"/>
                </a:solidFill>
              </a:rPr>
              <a:t>uniq(member_id) where transactions &gt; 0</a:t>
            </a:r>
            <a:endParaRPr lang="en-US" sz="928"/>
          </a:p>
        </p:txBody>
      </p:sp>
      <p:sp>
        <p:nvSpPr>
          <p:cNvPr id="505" name="Text 505"/>
          <p:cNvSpPr/>
          <p:nvPr/>
        </p:nvSpPr>
        <p:spPr>
          <a:xfrm>
            <a:off x="10150000" y="1768174"/>
            <a:ext cx="1450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8">
                <a:solidFill>
                  <a:srgbClr val="4A5568"/>
                </a:solidFill>
              </a:rPr>
              <a:t>agg_segment_daily</a:t>
            </a:r>
            <a:endParaRPr lang="en-US" sz="928"/>
          </a:p>
        </p:txBody>
      </p:sp>
      <p:sp>
        <p:nvSpPr>
          <p:cNvPr id="602" name="Text 602"/>
          <p:cNvSpPr/>
          <p:nvPr/>
        </p:nvSpPr>
        <p:spPr>
          <a:xfrm>
            <a:off x="8770000" y="1768174"/>
            <a:ext cx="1230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8">
                <a:solidFill>
                  <a:srgbClr val="4A5568"/>
                </a:solidFill>
              </a:rPr>
              <a:t>KPI card / line</a:t>
            </a:r>
            <a:endParaRPr lang="en-US" sz="928"/>
          </a:p>
        </p:txBody>
      </p:sp>
      <p:sp>
        <p:nvSpPr>
          <p:cNvPr id="506" name="Shape 506"/>
          <p:cNvSpPr/>
          <p:nvPr/>
        </p:nvSpPr>
        <p:spPr>
          <a:xfrm>
            <a:off x="457200" y="2100038"/>
            <a:ext cx="11247120" cy="430000"/>
          </a:xfrm>
          <a:prstGeom prst="rect">
            <a:avLst/>
          </a:prstGeom>
          <a:solidFill>
            <a:srgbClr val="FFFFFF"/>
          </a:solidFill>
          <a:ln w="2540">
            <a:solidFill>
              <a:srgbClr val="E6EC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7" name="Text 507"/>
          <p:cNvSpPr/>
          <p:nvPr/>
        </p:nvSpPr>
        <p:spPr>
          <a:xfrm>
            <a:off x="713232" y="2260174"/>
            <a:ext cx="1450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8" b="1">
                <a:solidFill>
                  <a:srgbClr val="2E5FA3"/>
                </a:solidFill>
              </a:rPr>
              <a:t>Net Sales</a:t>
            </a:r>
            <a:endParaRPr lang="en-US" sz="928"/>
          </a:p>
        </p:txBody>
      </p:sp>
      <p:sp>
        <p:nvSpPr>
          <p:cNvPr id="508" name="Text 508"/>
          <p:cNvSpPr/>
          <p:nvPr/>
        </p:nvSpPr>
        <p:spPr>
          <a:xfrm>
            <a:off x="2270000" y="2260174"/>
            <a:ext cx="3400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8">
                <a:solidFill>
                  <a:srgbClr val="4A5568"/>
                </a:solidFill>
              </a:rPr>
              <a:t>Sales amount after returns and discounts</a:t>
            </a:r>
            <a:endParaRPr lang="en-US" sz="928"/>
          </a:p>
        </p:txBody>
      </p:sp>
      <p:sp>
        <p:nvSpPr>
          <p:cNvPr id="509" name="Text 509"/>
          <p:cNvSpPr/>
          <p:nvPr/>
        </p:nvSpPr>
        <p:spPr>
          <a:xfrm>
            <a:off x="5770000" y="2260174"/>
            <a:ext cx="2900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8">
                <a:solidFill>
                  <a:srgbClr val="4A5568"/>
                </a:solidFill>
              </a:rPr>
              <a:t>sum(gross_sales) − returns − discounts</a:t>
            </a:r>
            <a:endParaRPr lang="en-US" sz="928"/>
          </a:p>
        </p:txBody>
      </p:sp>
      <p:sp>
        <p:nvSpPr>
          <p:cNvPr id="510" name="Text 510"/>
          <p:cNvSpPr/>
          <p:nvPr/>
        </p:nvSpPr>
        <p:spPr>
          <a:xfrm>
            <a:off x="10150000" y="2260174"/>
            <a:ext cx="1450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8">
                <a:solidFill>
                  <a:srgbClr val="4A5568"/>
                </a:solidFill>
              </a:rPr>
              <a:t>agg_merchant_daily</a:t>
            </a:r>
            <a:endParaRPr lang="en-US" sz="928"/>
          </a:p>
        </p:txBody>
      </p:sp>
      <p:sp>
        <p:nvSpPr>
          <p:cNvPr id="603" name="Text 603"/>
          <p:cNvSpPr/>
          <p:nvPr/>
        </p:nvSpPr>
        <p:spPr>
          <a:xfrm>
            <a:off x="8770000" y="2260174"/>
            <a:ext cx="1230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8">
                <a:solidFill>
                  <a:srgbClr val="4A5568"/>
                </a:solidFill>
              </a:rPr>
              <a:t>KPI card / line</a:t>
            </a:r>
            <a:endParaRPr lang="en-US" sz="928"/>
          </a:p>
        </p:txBody>
      </p:sp>
      <p:sp>
        <p:nvSpPr>
          <p:cNvPr id="511" name="Shape 511"/>
          <p:cNvSpPr/>
          <p:nvPr/>
        </p:nvSpPr>
        <p:spPr>
          <a:xfrm>
            <a:off x="457200" y="2592038"/>
            <a:ext cx="11247120" cy="430000"/>
          </a:xfrm>
          <a:prstGeom prst="rect">
            <a:avLst/>
          </a:prstGeom>
          <a:solidFill>
            <a:srgbClr val="FFFFFF"/>
          </a:solidFill>
          <a:ln w="2540">
            <a:solidFill>
              <a:srgbClr val="E6EC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2" name="Text 512"/>
          <p:cNvSpPr/>
          <p:nvPr/>
        </p:nvSpPr>
        <p:spPr>
          <a:xfrm>
            <a:off x="713232" y="2752174"/>
            <a:ext cx="1450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8" b="1">
                <a:solidFill>
                  <a:srgbClr val="2E5FA3"/>
                </a:solidFill>
              </a:rPr>
              <a:t>Transactions</a:t>
            </a:r>
            <a:endParaRPr lang="en-US" sz="928"/>
          </a:p>
        </p:txBody>
      </p:sp>
      <p:sp>
        <p:nvSpPr>
          <p:cNvPr id="513" name="Text 513"/>
          <p:cNvSpPr/>
          <p:nvPr/>
        </p:nvSpPr>
        <p:spPr>
          <a:xfrm>
            <a:off x="2270000" y="2752174"/>
            <a:ext cx="3400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8">
                <a:solidFill>
                  <a:srgbClr val="4A5568"/>
                </a:solidFill>
              </a:rPr>
              <a:t>Completed purchases, cancelled orders excluded</a:t>
            </a:r>
            <a:endParaRPr lang="en-US" sz="928"/>
          </a:p>
        </p:txBody>
      </p:sp>
      <p:sp>
        <p:nvSpPr>
          <p:cNvPr id="514" name="Text 514"/>
          <p:cNvSpPr/>
          <p:nvPr/>
        </p:nvSpPr>
        <p:spPr>
          <a:xfrm>
            <a:off x="5770000" y="2752174"/>
            <a:ext cx="2900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8">
                <a:solidFill>
                  <a:srgbClr val="4A5568"/>
                </a:solidFill>
              </a:rPr>
              <a:t>count(transaction_id) where status = completed</a:t>
            </a:r>
            <a:endParaRPr lang="en-US" sz="928"/>
          </a:p>
        </p:txBody>
      </p:sp>
      <p:sp>
        <p:nvSpPr>
          <p:cNvPr id="515" name="Text 515"/>
          <p:cNvSpPr/>
          <p:nvPr/>
        </p:nvSpPr>
        <p:spPr>
          <a:xfrm>
            <a:off x="10150000" y="2752174"/>
            <a:ext cx="1450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8">
                <a:solidFill>
                  <a:srgbClr val="4A5568"/>
                </a:solidFill>
              </a:rPr>
              <a:t>agg_merchant_daily</a:t>
            </a:r>
            <a:endParaRPr lang="en-US" sz="928"/>
          </a:p>
        </p:txBody>
      </p:sp>
      <p:sp>
        <p:nvSpPr>
          <p:cNvPr id="604" name="Text 604"/>
          <p:cNvSpPr/>
          <p:nvPr/>
        </p:nvSpPr>
        <p:spPr>
          <a:xfrm>
            <a:off x="8770000" y="2752174"/>
            <a:ext cx="1230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8">
                <a:solidFill>
                  <a:srgbClr val="4A5568"/>
                </a:solidFill>
              </a:rPr>
              <a:t>KPI card / line</a:t>
            </a:r>
            <a:endParaRPr lang="en-US" sz="928"/>
          </a:p>
        </p:txBody>
      </p:sp>
      <p:sp>
        <p:nvSpPr>
          <p:cNvPr id="516" name="Shape 516"/>
          <p:cNvSpPr/>
          <p:nvPr/>
        </p:nvSpPr>
        <p:spPr>
          <a:xfrm>
            <a:off x="457200" y="3084038"/>
            <a:ext cx="11247120" cy="430000"/>
          </a:xfrm>
          <a:prstGeom prst="rect">
            <a:avLst/>
          </a:prstGeom>
          <a:solidFill>
            <a:srgbClr val="FFFFFF"/>
          </a:solidFill>
          <a:ln w="2540">
            <a:solidFill>
              <a:srgbClr val="E6EC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7" name="Text 517"/>
          <p:cNvSpPr/>
          <p:nvPr/>
        </p:nvSpPr>
        <p:spPr>
          <a:xfrm>
            <a:off x="713232" y="3244174"/>
            <a:ext cx="1450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8" b="1">
                <a:solidFill>
                  <a:srgbClr val="2E5FA3"/>
                </a:solidFill>
              </a:rPr>
              <a:t>AOV</a:t>
            </a:r>
            <a:endParaRPr lang="en-US" sz="928"/>
          </a:p>
        </p:txBody>
      </p:sp>
      <p:sp>
        <p:nvSpPr>
          <p:cNvPr id="518" name="Text 518"/>
          <p:cNvSpPr/>
          <p:nvPr/>
        </p:nvSpPr>
        <p:spPr>
          <a:xfrm>
            <a:off x="2270000" y="3244174"/>
            <a:ext cx="3400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8">
                <a:solidFill>
                  <a:srgbClr val="4A5568"/>
                </a:solidFill>
              </a:rPr>
              <a:t>Average sales value per transaction</a:t>
            </a:r>
            <a:endParaRPr lang="en-US" sz="928"/>
          </a:p>
        </p:txBody>
      </p:sp>
      <p:sp>
        <p:nvSpPr>
          <p:cNvPr id="519" name="Text 519"/>
          <p:cNvSpPr/>
          <p:nvPr/>
        </p:nvSpPr>
        <p:spPr>
          <a:xfrm>
            <a:off x="5770000" y="3244174"/>
            <a:ext cx="2900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8">
                <a:solidFill>
                  <a:srgbClr val="4A5568"/>
                </a:solidFill>
              </a:rPr>
              <a:t>Net Sales ÷ Transactions</a:t>
            </a:r>
            <a:endParaRPr lang="en-US" sz="928"/>
          </a:p>
        </p:txBody>
      </p:sp>
      <p:sp>
        <p:nvSpPr>
          <p:cNvPr id="520" name="Text 520"/>
          <p:cNvSpPr/>
          <p:nvPr/>
        </p:nvSpPr>
        <p:spPr>
          <a:xfrm>
            <a:off x="10150000" y="3244174"/>
            <a:ext cx="1450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8">
                <a:solidFill>
                  <a:srgbClr val="4A5568"/>
                </a:solidFill>
              </a:rPr>
              <a:t>derived at query time</a:t>
            </a:r>
            <a:endParaRPr lang="en-US" sz="928"/>
          </a:p>
        </p:txBody>
      </p:sp>
      <p:sp>
        <p:nvSpPr>
          <p:cNvPr id="605" name="Text 605"/>
          <p:cNvSpPr/>
          <p:nvPr/>
        </p:nvSpPr>
        <p:spPr>
          <a:xfrm>
            <a:off x="8770000" y="3244174"/>
            <a:ext cx="1230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8">
                <a:solidFill>
                  <a:srgbClr val="4A5568"/>
                </a:solidFill>
              </a:rPr>
              <a:t>KPI card / bar</a:t>
            </a:r>
            <a:endParaRPr lang="en-US" sz="928"/>
          </a:p>
        </p:txBody>
      </p:sp>
      <p:sp>
        <p:nvSpPr>
          <p:cNvPr id="521" name="Shape 521"/>
          <p:cNvSpPr/>
          <p:nvPr/>
        </p:nvSpPr>
        <p:spPr>
          <a:xfrm>
            <a:off x="457200" y="3576038"/>
            <a:ext cx="11247120" cy="430000"/>
          </a:xfrm>
          <a:prstGeom prst="rect">
            <a:avLst/>
          </a:prstGeom>
          <a:solidFill>
            <a:srgbClr val="FFFFFF"/>
          </a:solidFill>
          <a:ln w="2540">
            <a:solidFill>
              <a:srgbClr val="E6EC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2" name="Text 522"/>
          <p:cNvSpPr/>
          <p:nvPr/>
        </p:nvSpPr>
        <p:spPr>
          <a:xfrm>
            <a:off x="713232" y="3736174"/>
            <a:ext cx="1450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8" b="1">
                <a:solidFill>
                  <a:srgbClr val="2E5FA3"/>
                </a:solidFill>
              </a:rPr>
              <a:t>New Member %</a:t>
            </a:r>
            <a:endParaRPr lang="en-US" sz="928"/>
          </a:p>
        </p:txBody>
      </p:sp>
      <p:sp>
        <p:nvSpPr>
          <p:cNvPr id="523" name="Text 523"/>
          <p:cNvSpPr/>
          <p:nvPr/>
        </p:nvSpPr>
        <p:spPr>
          <a:xfrm>
            <a:off x="2270000" y="3736174"/>
            <a:ext cx="3400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8">
                <a:solidFill>
                  <a:srgbClr val="4A5568"/>
                </a:solidFill>
              </a:rPr>
              <a:t>Members whose first purchase falls in the period</a:t>
            </a:r>
            <a:endParaRPr lang="en-US" sz="928"/>
          </a:p>
        </p:txBody>
      </p:sp>
      <p:sp>
        <p:nvSpPr>
          <p:cNvPr id="524" name="Text 524"/>
          <p:cNvSpPr/>
          <p:nvPr/>
        </p:nvSpPr>
        <p:spPr>
          <a:xfrm>
            <a:off x="5770000" y="3736174"/>
            <a:ext cx="2900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8">
                <a:solidFill>
                  <a:srgbClr val="4A5568"/>
                </a:solidFill>
              </a:rPr>
              <a:t>new_member_count ÷ purchasing_members</a:t>
            </a:r>
            <a:endParaRPr lang="en-US" sz="928"/>
          </a:p>
        </p:txBody>
      </p:sp>
      <p:sp>
        <p:nvSpPr>
          <p:cNvPr id="525" name="Text 525"/>
          <p:cNvSpPr/>
          <p:nvPr/>
        </p:nvSpPr>
        <p:spPr>
          <a:xfrm>
            <a:off x="10150000" y="3736174"/>
            <a:ext cx="1450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8">
                <a:solidFill>
                  <a:srgbClr val="4A5568"/>
                </a:solidFill>
              </a:rPr>
              <a:t>agg_segment_daily</a:t>
            </a:r>
            <a:endParaRPr lang="en-US" sz="928"/>
          </a:p>
        </p:txBody>
      </p:sp>
      <p:sp>
        <p:nvSpPr>
          <p:cNvPr id="606" name="Text 606"/>
          <p:cNvSpPr/>
          <p:nvPr/>
        </p:nvSpPr>
        <p:spPr>
          <a:xfrm>
            <a:off x="8770000" y="3736174"/>
            <a:ext cx="1230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8">
                <a:solidFill>
                  <a:srgbClr val="4A5568"/>
                </a:solidFill>
              </a:rPr>
              <a:t>Donut / bar</a:t>
            </a:r>
            <a:endParaRPr lang="en-US" sz="928"/>
          </a:p>
        </p:txBody>
      </p:sp>
      <p:sp>
        <p:nvSpPr>
          <p:cNvPr id="526" name="Shape 526"/>
          <p:cNvSpPr/>
          <p:nvPr/>
        </p:nvSpPr>
        <p:spPr>
          <a:xfrm>
            <a:off x="457200" y="4068038"/>
            <a:ext cx="11247120" cy="430000"/>
          </a:xfrm>
          <a:prstGeom prst="rect">
            <a:avLst/>
          </a:prstGeom>
          <a:solidFill>
            <a:srgbClr val="FFFFFF"/>
          </a:solidFill>
          <a:ln w="2540">
            <a:solidFill>
              <a:srgbClr val="E6EC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7" name="Text 527"/>
          <p:cNvSpPr/>
          <p:nvPr/>
        </p:nvSpPr>
        <p:spPr>
          <a:xfrm>
            <a:off x="713232" y="4228174"/>
            <a:ext cx="1450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8" b="1">
                <a:solidFill>
                  <a:srgbClr val="2E5FA3"/>
                </a:solidFill>
              </a:rPr>
              <a:t>Repeat Ratio</a:t>
            </a:r>
            <a:endParaRPr lang="en-US" sz="928"/>
          </a:p>
        </p:txBody>
      </p:sp>
      <p:sp>
        <p:nvSpPr>
          <p:cNvPr id="528" name="Text 528"/>
          <p:cNvSpPr/>
          <p:nvPr/>
        </p:nvSpPr>
        <p:spPr>
          <a:xfrm>
            <a:off x="2270000" y="4228174"/>
            <a:ext cx="3400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8">
                <a:solidFill>
                  <a:srgbClr val="4A5568"/>
                </a:solidFill>
              </a:rPr>
              <a:t>Members with two or more purchases in the period</a:t>
            </a:r>
            <a:endParaRPr lang="en-US" sz="928"/>
          </a:p>
        </p:txBody>
      </p:sp>
      <p:sp>
        <p:nvSpPr>
          <p:cNvPr id="529" name="Text 529"/>
          <p:cNvSpPr/>
          <p:nvPr/>
        </p:nvSpPr>
        <p:spPr>
          <a:xfrm>
            <a:off x="5770000" y="4228174"/>
            <a:ext cx="2900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8">
                <a:solidFill>
                  <a:srgbClr val="4A5568"/>
                </a:solidFill>
              </a:rPr>
              <a:t>repeat_member_count ÷ purchasing_members</a:t>
            </a:r>
            <a:endParaRPr lang="en-US" sz="928"/>
          </a:p>
        </p:txBody>
      </p:sp>
      <p:sp>
        <p:nvSpPr>
          <p:cNvPr id="530" name="Text 530"/>
          <p:cNvSpPr/>
          <p:nvPr/>
        </p:nvSpPr>
        <p:spPr>
          <a:xfrm>
            <a:off x="10150000" y="4228174"/>
            <a:ext cx="1450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8">
                <a:solidFill>
                  <a:srgbClr val="4A5568"/>
                </a:solidFill>
              </a:rPr>
              <a:t>agg_segment_daily</a:t>
            </a:r>
            <a:endParaRPr lang="en-US" sz="928"/>
          </a:p>
        </p:txBody>
      </p:sp>
      <p:sp>
        <p:nvSpPr>
          <p:cNvPr id="607" name="Text 607"/>
          <p:cNvSpPr/>
          <p:nvPr/>
        </p:nvSpPr>
        <p:spPr>
          <a:xfrm>
            <a:off x="8770000" y="4228174"/>
            <a:ext cx="1230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8">
                <a:solidFill>
                  <a:srgbClr val="4A5568"/>
                </a:solidFill>
              </a:rPr>
              <a:t>Donut / bar</a:t>
            </a:r>
            <a:endParaRPr lang="en-US" sz="928"/>
          </a:p>
        </p:txBody>
      </p:sp>
      <p:sp>
        <p:nvSpPr>
          <p:cNvPr id="531" name="Shape 531"/>
          <p:cNvSpPr/>
          <p:nvPr/>
        </p:nvSpPr>
        <p:spPr>
          <a:xfrm>
            <a:off x="457200" y="4560038"/>
            <a:ext cx="11247120" cy="430000"/>
          </a:xfrm>
          <a:prstGeom prst="rect">
            <a:avLst/>
          </a:prstGeom>
          <a:solidFill>
            <a:srgbClr val="FFFFFF"/>
          </a:solidFill>
          <a:ln w="2540">
            <a:solidFill>
              <a:srgbClr val="E6EC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2" name="Text 532"/>
          <p:cNvSpPr/>
          <p:nvPr/>
        </p:nvSpPr>
        <p:spPr>
          <a:xfrm>
            <a:off x="713232" y="4720174"/>
            <a:ext cx="1450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8" b="1">
                <a:solidFill>
                  <a:srgbClr val="2E5FA3"/>
                </a:solidFill>
              </a:rPr>
              <a:t>Growth (MoM / YoY)</a:t>
            </a:r>
            <a:endParaRPr lang="en-US" sz="928"/>
          </a:p>
        </p:txBody>
      </p:sp>
      <p:sp>
        <p:nvSpPr>
          <p:cNvPr id="533" name="Text 533"/>
          <p:cNvSpPr/>
          <p:nvPr/>
        </p:nvSpPr>
        <p:spPr>
          <a:xfrm>
            <a:off x="2270000" y="4720174"/>
            <a:ext cx="3400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8">
                <a:solidFill>
                  <a:srgbClr val="4A5568"/>
                </a:solidFill>
              </a:rPr>
              <a:t>Change against previous month or the same month last year</a:t>
            </a:r>
            <a:endParaRPr lang="en-US" sz="928"/>
          </a:p>
        </p:txBody>
      </p:sp>
      <p:sp>
        <p:nvSpPr>
          <p:cNvPr id="534" name="Text 534"/>
          <p:cNvSpPr/>
          <p:nvPr/>
        </p:nvSpPr>
        <p:spPr>
          <a:xfrm>
            <a:off x="5770000" y="4720174"/>
            <a:ext cx="2900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8">
                <a:solidFill>
                  <a:srgbClr val="4A5568"/>
                </a:solidFill>
              </a:rPr>
              <a:t>(current − comparison) ÷ comparison</a:t>
            </a:r>
            <a:endParaRPr lang="en-US" sz="928"/>
          </a:p>
        </p:txBody>
      </p:sp>
      <p:sp>
        <p:nvSpPr>
          <p:cNvPr id="535" name="Text 535"/>
          <p:cNvSpPr/>
          <p:nvPr/>
        </p:nvSpPr>
        <p:spPr>
          <a:xfrm>
            <a:off x="10150000" y="4720174"/>
            <a:ext cx="1450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8">
                <a:solidFill>
                  <a:srgbClr val="4A5568"/>
                </a:solidFill>
              </a:rPr>
              <a:t>pre-calculated column</a:t>
            </a:r>
            <a:endParaRPr lang="en-US" sz="928"/>
          </a:p>
        </p:txBody>
      </p:sp>
      <p:sp>
        <p:nvSpPr>
          <p:cNvPr id="608" name="Text 608"/>
          <p:cNvSpPr/>
          <p:nvPr/>
        </p:nvSpPr>
        <p:spPr>
          <a:xfrm>
            <a:off x="8770000" y="4720174"/>
            <a:ext cx="1230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8">
                <a:solidFill>
                  <a:srgbClr val="4A5568"/>
                </a:solidFill>
              </a:rPr>
              <a:t>Delta badge / line</a:t>
            </a:r>
            <a:endParaRPr lang="en-US" sz="928"/>
          </a:p>
        </p:txBody>
      </p:sp>
      <p:sp>
        <p:nvSpPr>
          <p:cNvPr id="536" name="Shape 536"/>
          <p:cNvSpPr/>
          <p:nvPr/>
        </p:nvSpPr>
        <p:spPr>
          <a:xfrm>
            <a:off x="457200" y="5052038"/>
            <a:ext cx="11247120" cy="430000"/>
          </a:xfrm>
          <a:prstGeom prst="rect">
            <a:avLst/>
          </a:prstGeom>
          <a:solidFill>
            <a:srgbClr val="FFFFFF"/>
          </a:solidFill>
          <a:ln w="2540">
            <a:solidFill>
              <a:srgbClr val="E6EC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7" name="Text 537"/>
          <p:cNvSpPr/>
          <p:nvPr/>
        </p:nvSpPr>
        <p:spPr>
          <a:xfrm>
            <a:off x="713232" y="5212174"/>
            <a:ext cx="1450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8" b="1">
                <a:solidFill>
                  <a:srgbClr val="2E5FA3"/>
                </a:solidFill>
              </a:rPr>
              <a:t>Contribution %</a:t>
            </a:r>
            <a:endParaRPr lang="en-US" sz="928"/>
          </a:p>
        </p:txBody>
      </p:sp>
      <p:sp>
        <p:nvSpPr>
          <p:cNvPr id="538" name="Text 538"/>
          <p:cNvSpPr/>
          <p:nvPr/>
        </p:nvSpPr>
        <p:spPr>
          <a:xfrm>
            <a:off x="2270000" y="5212174"/>
            <a:ext cx="3400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8">
                <a:solidFill>
                  <a:srgbClr val="4A5568"/>
                </a:solidFill>
              </a:rPr>
              <a:t>Share of a segment in the total change of a KPI</a:t>
            </a:r>
            <a:endParaRPr lang="en-US" sz="928"/>
          </a:p>
        </p:txBody>
      </p:sp>
      <p:sp>
        <p:nvSpPr>
          <p:cNvPr id="539" name="Text 539"/>
          <p:cNvSpPr/>
          <p:nvPr/>
        </p:nvSpPr>
        <p:spPr>
          <a:xfrm>
            <a:off x="5770000" y="5212174"/>
            <a:ext cx="2900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8">
                <a:solidFill>
                  <a:srgbClr val="4A5568"/>
                </a:solidFill>
              </a:rPr>
              <a:t>segment_delta ÷ total_delta</a:t>
            </a:r>
            <a:endParaRPr lang="en-US" sz="928"/>
          </a:p>
        </p:txBody>
      </p:sp>
      <p:sp>
        <p:nvSpPr>
          <p:cNvPr id="540" name="Text 540"/>
          <p:cNvSpPr/>
          <p:nvPr/>
        </p:nvSpPr>
        <p:spPr>
          <a:xfrm>
            <a:off x="10150000" y="5212174"/>
            <a:ext cx="1450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8">
                <a:solidFill>
                  <a:srgbClr val="4A5568"/>
                </a:solidFill>
              </a:rPr>
              <a:t>derived at query time</a:t>
            </a:r>
            <a:endParaRPr lang="en-US" sz="928"/>
          </a:p>
        </p:txBody>
      </p:sp>
      <p:sp>
        <p:nvSpPr>
          <p:cNvPr id="609" name="Text 609"/>
          <p:cNvSpPr/>
          <p:nvPr/>
        </p:nvSpPr>
        <p:spPr>
          <a:xfrm>
            <a:off x="8770000" y="5212174"/>
            <a:ext cx="1230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8">
                <a:solidFill>
                  <a:srgbClr val="4A5568"/>
                </a:solidFill>
              </a:rPr>
              <a:t>Stacked bar</a:t>
            </a:r>
            <a:endParaRPr lang="en-US" sz="928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8016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592">
                <a:solidFill>
                  <a:srgbClr val="8B95A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541" name="Shape 541"/>
          <p:cNvSpPr/>
          <p:nvPr/>
        </p:nvSpPr>
        <p:spPr>
          <a:xfrm>
            <a:off x="457200" y="5780000"/>
            <a:ext cx="11247120" cy="560000"/>
          </a:xfrm>
          <a:prstGeom prst="roundRect">
            <a:avLst>
              <a:gd name="adj" fmla="val 11111"/>
            </a:avLst>
          </a:prstGeom>
          <a:solidFill>
            <a:srgbClr val="F6F8FB"/>
          </a:solidFill>
          <a:ln w="7620">
            <a:solidFill>
              <a:srgbClr val="D8E1EA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2" name="Text 542"/>
          <p:cNvSpPr/>
          <p:nvPr/>
        </p:nvSpPr>
        <p:spPr>
          <a:xfrm>
            <a:off x="621792" y="5862296"/>
            <a:ext cx="10954512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108" b="1">
                <a:solidFill>
                  <a:srgbClr val="1F3D6B"/>
                </a:solidFill>
              </a:rPr>
              <a:t>Design rule for ratio metrics</a:t>
            </a:r>
            <a:endParaRPr lang="en-US" sz="1108"/>
          </a:p>
        </p:txBody>
      </p:sp>
      <p:sp>
        <p:nvSpPr>
          <p:cNvPr id="543" name="Text 543"/>
          <p:cNvSpPr/>
          <p:nvPr/>
        </p:nvSpPr>
        <p:spPr>
          <a:xfrm>
            <a:off x="621792" y="6080000"/>
            <a:ext cx="10954512" cy="220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888">
                <a:solidFill>
                  <a:srgbClr val="4A5568"/>
                </a:solidFill>
              </a:rPr>
              <a:t>AOV, New Member %, and Repeat Ratio must be calculated from numerator and denominator at query time. Averaging daily ratios produces incorrect period totals.</a:t>
            </a:r>
            <a:endParaRPr lang="en-US" sz="888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42" b="1" dirty="0">
                <a:solidFill>
                  <a:srgbClr val="1F3D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L1 · Merchant Insight Overview</a:t>
            </a:r>
            <a:endParaRPr lang="en-US" sz="2542" dirty="0"/>
          </a:p>
        </p:txBody>
      </p:sp>
      <p:sp>
        <p:nvSpPr>
          <p:cNvPr id="3" name="Text 1"/>
          <p:cNvSpPr/>
          <p:nvPr/>
        </p:nvSpPr>
        <p:spPr>
          <a:xfrm>
            <a:off x="274320" y="502920"/>
            <a:ext cx="11521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6">
                <a:solidFill>
                  <a:srgbClr val="4A5568"/>
                </a:solidFill>
              </a:rPr>
              <a:t>Designed for executives and business owners. L1 shows the status, then invites drill-down.</a:t>
            </a:r>
            <a:endParaRPr lang="en-US" sz="1076"/>
          </a:p>
        </p:txBody>
      </p:sp>
      <p:sp>
        <p:nvSpPr>
          <p:cNvPr id="5" name="Shape 2"/>
          <p:cNvSpPr/>
          <p:nvPr/>
        </p:nvSpPr>
        <p:spPr>
          <a:xfrm>
            <a:off x="320040" y="1056456"/>
            <a:ext cx="11567160" cy="5349240"/>
          </a:xfrm>
          <a:prstGeom prst="roundRect">
            <a:avLst>
              <a:gd name="adj" fmla="val 1026"/>
            </a:avLst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320040" y="1056456"/>
            <a:ext cx="11567160" cy="411480"/>
          </a:xfrm>
          <a:prstGeom prst="rect">
            <a:avLst/>
          </a:prstGeom>
          <a:solidFill>
            <a:srgbClr val="1F3D6B"/>
          </a:solidFill>
          <a:ln w="12700">
            <a:solidFill>
              <a:srgbClr val="1F3D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02920" y="117532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1" b="1">
                <a:solidFill>
                  <a:srgbClr val="FFFFFF"/>
                </a:solidFill>
              </a:rPr>
              <a:t>Merchant Insight Dashboard · L1 Overview</a:t>
            </a:r>
            <a:endParaRPr lang="en-US" sz="1121"/>
          </a:p>
        </p:txBody>
      </p:sp>
      <p:sp>
        <p:nvSpPr>
          <p:cNvPr id="8" name="Shape 5"/>
          <p:cNvSpPr/>
          <p:nvPr/>
        </p:nvSpPr>
        <p:spPr>
          <a:xfrm>
            <a:off x="3900000" y="1147896"/>
            <a:ext cx="1205000" cy="2286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936576" y="1198188"/>
            <a:ext cx="11318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7" b="1">
                <a:solidFill>
                  <a:srgbClr val="1F3D6B"/>
                </a:solidFill>
              </a:rPr>
              <a:t>Operation Unit</a:t>
            </a:r>
            <a:endParaRPr lang="en-US" sz="837"/>
          </a:p>
        </p:txBody>
      </p:sp>
      <p:sp>
        <p:nvSpPr>
          <p:cNvPr id="10" name="Shape 7"/>
          <p:cNvSpPr/>
          <p:nvPr/>
        </p:nvSpPr>
        <p:spPr>
          <a:xfrm>
            <a:off x="5176000" y="1147896"/>
            <a:ext cx="1205000" cy="2286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212576" y="1198188"/>
            <a:ext cx="11318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7" b="1">
                <a:solidFill>
                  <a:srgbClr val="1F3D6B"/>
                </a:solidFill>
              </a:rPr>
              <a:t>Store</a:t>
            </a:r>
            <a:endParaRPr lang="en-US" sz="837"/>
          </a:p>
        </p:txBody>
      </p:sp>
      <p:sp>
        <p:nvSpPr>
          <p:cNvPr id="12" name="Shape 9"/>
          <p:cNvSpPr/>
          <p:nvPr/>
        </p:nvSpPr>
        <p:spPr>
          <a:xfrm>
            <a:off x="6452000" y="1147896"/>
            <a:ext cx="1205000" cy="2286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488576" y="1198188"/>
            <a:ext cx="11318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7" b="1">
                <a:solidFill>
                  <a:srgbClr val="1F3D6B"/>
                </a:solidFill>
              </a:rPr>
              <a:t>Business Category</a:t>
            </a:r>
            <a:endParaRPr lang="en-US" sz="837"/>
          </a:p>
        </p:txBody>
      </p:sp>
      <p:sp>
        <p:nvSpPr>
          <p:cNvPr id="14" name="Shape 11"/>
          <p:cNvSpPr/>
          <p:nvPr/>
        </p:nvSpPr>
        <p:spPr>
          <a:xfrm>
            <a:off x="7728000" y="1147896"/>
            <a:ext cx="1205000" cy="2286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764576" y="1198188"/>
            <a:ext cx="11318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7" b="1">
                <a:solidFill>
                  <a:srgbClr val="1F3D6B"/>
                </a:solidFill>
              </a:rPr>
              <a:t>Tenant</a:t>
            </a:r>
            <a:endParaRPr lang="en-US" sz="837"/>
          </a:p>
        </p:txBody>
      </p:sp>
      <p:sp>
        <p:nvSpPr>
          <p:cNvPr id="16" name="Shape 13"/>
          <p:cNvSpPr/>
          <p:nvPr/>
        </p:nvSpPr>
        <p:spPr>
          <a:xfrm>
            <a:off x="9004000" y="1147896"/>
            <a:ext cx="1205000" cy="2286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9040576" y="1198188"/>
            <a:ext cx="11318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7" b="1">
                <a:solidFill>
                  <a:srgbClr val="1F3D6B"/>
                </a:solidFill>
              </a:rPr>
              <a:t>Date Range</a:t>
            </a:r>
            <a:endParaRPr lang="en-US" sz="837"/>
          </a:p>
        </p:txBody>
      </p:sp>
      <p:sp>
        <p:nvSpPr>
          <p:cNvPr id="900" name="Shape 900"/>
          <p:cNvSpPr/>
          <p:nvPr/>
        </p:nvSpPr>
        <p:spPr>
          <a:xfrm>
            <a:off x="10280000" y="1147896"/>
            <a:ext cx="1205000" cy="2286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1" name="Text 901"/>
          <p:cNvSpPr/>
          <p:nvPr/>
        </p:nvSpPr>
        <p:spPr>
          <a:xfrm>
            <a:off x="10316576" y="1198188"/>
            <a:ext cx="11318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7" b="1">
                <a:solidFill>
                  <a:srgbClr val="1F3D6B"/>
                </a:solidFill>
              </a:rPr>
              <a:t>Compare With</a:t>
            </a:r>
            <a:endParaRPr lang="en-US" sz="837"/>
          </a:p>
        </p:txBody>
      </p:sp>
      <p:sp>
        <p:nvSpPr>
          <p:cNvPr id="18" name="Shape 15"/>
          <p:cNvSpPr/>
          <p:nvPr/>
        </p:nvSpPr>
        <p:spPr>
          <a:xfrm>
            <a:off x="594360" y="1742256"/>
            <a:ext cx="1691640" cy="868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7620">
            <a:solidFill>
              <a:srgbClr val="DFE6EF"/>
            </a:solidFill>
            <a:prstDash val="solid"/>
          </a:ln>
          <a:effectLst>
            <a:outerShdw blurRad="12700" dist="635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67512" y="1824552"/>
            <a:ext cx="1545336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971" b="1">
                <a:solidFill>
                  <a:srgbClr val="4A5568"/>
                </a:solidFill>
              </a:rPr>
              <a:t>Purchasing Members</a:t>
            </a:r>
            <a:endParaRPr lang="en-US" sz="971"/>
          </a:p>
        </p:txBody>
      </p:sp>
      <p:sp>
        <p:nvSpPr>
          <p:cNvPr id="20" name="Text 17"/>
          <p:cNvSpPr/>
          <p:nvPr/>
        </p:nvSpPr>
        <p:spPr>
          <a:xfrm>
            <a:off x="667512" y="2053152"/>
            <a:ext cx="154533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2093" b="1">
                <a:solidFill>
                  <a:srgbClr val="1F3D6B"/>
                </a:solidFill>
              </a:rPr>
              <a:t>272K</a:t>
            </a:r>
            <a:endParaRPr lang="en-US" sz="2093"/>
          </a:p>
        </p:txBody>
      </p:sp>
      <p:sp>
        <p:nvSpPr>
          <p:cNvPr id="21" name="Text 18"/>
          <p:cNvSpPr/>
          <p:nvPr/>
        </p:nvSpPr>
        <p:spPr>
          <a:xfrm>
            <a:off x="667512" y="2400624"/>
            <a:ext cx="1545336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913">
                <a:solidFill>
                  <a:srgbClr val="2E7D32"/>
                </a:solidFill>
              </a:rPr>
              <a:t>MoM +8.2%</a:t>
            </a:r>
            <a:endParaRPr lang="en-US" sz="913"/>
          </a:p>
        </p:txBody>
      </p:sp>
      <p:sp>
        <p:nvSpPr>
          <p:cNvPr id="22" name="Shape 19"/>
          <p:cNvSpPr/>
          <p:nvPr/>
        </p:nvSpPr>
        <p:spPr>
          <a:xfrm>
            <a:off x="2505456" y="1742256"/>
            <a:ext cx="1691640" cy="868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7620">
            <a:solidFill>
              <a:srgbClr val="DFE6EF"/>
            </a:solidFill>
            <a:prstDash val="solid"/>
          </a:ln>
          <a:effectLst>
            <a:outerShdw blurRad="12700" dist="635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2578608" y="1824552"/>
            <a:ext cx="1545336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971" b="1">
                <a:solidFill>
                  <a:srgbClr val="4A5568"/>
                </a:solidFill>
              </a:rPr>
              <a:t>Net Sales</a:t>
            </a:r>
            <a:endParaRPr lang="en-US" sz="971"/>
          </a:p>
        </p:txBody>
      </p:sp>
      <p:sp>
        <p:nvSpPr>
          <p:cNvPr id="24" name="Text 21"/>
          <p:cNvSpPr/>
          <p:nvPr/>
        </p:nvSpPr>
        <p:spPr>
          <a:xfrm>
            <a:off x="2578608" y="2053152"/>
            <a:ext cx="154533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2093" b="1">
                <a:solidFill>
                  <a:srgbClr val="1F3D6B"/>
                </a:solidFill>
              </a:rPr>
              <a:t>226M</a:t>
            </a:r>
            <a:endParaRPr lang="en-US" sz="2093"/>
          </a:p>
        </p:txBody>
      </p:sp>
      <p:sp>
        <p:nvSpPr>
          <p:cNvPr id="25" name="Text 22"/>
          <p:cNvSpPr/>
          <p:nvPr/>
        </p:nvSpPr>
        <p:spPr>
          <a:xfrm>
            <a:off x="2578608" y="2400624"/>
            <a:ext cx="1545336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913">
                <a:solidFill>
                  <a:srgbClr val="2E7D32"/>
                </a:solidFill>
              </a:rPr>
              <a:t>MoM +5.6%</a:t>
            </a:r>
            <a:endParaRPr lang="en-US" sz="913"/>
          </a:p>
        </p:txBody>
      </p:sp>
      <p:sp>
        <p:nvSpPr>
          <p:cNvPr id="26" name="Shape 23"/>
          <p:cNvSpPr/>
          <p:nvPr/>
        </p:nvSpPr>
        <p:spPr>
          <a:xfrm>
            <a:off x="4416552" y="1742256"/>
            <a:ext cx="1691640" cy="868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7620">
            <a:solidFill>
              <a:srgbClr val="DFE6EF"/>
            </a:solidFill>
            <a:prstDash val="solid"/>
          </a:ln>
          <a:effectLst>
            <a:outerShdw blurRad="12700" dist="635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4489704" y="1824552"/>
            <a:ext cx="1545336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971" b="1">
                <a:solidFill>
                  <a:srgbClr val="4A5568"/>
                </a:solidFill>
              </a:rPr>
              <a:t>Transactions</a:t>
            </a:r>
            <a:endParaRPr lang="en-US" sz="971"/>
          </a:p>
        </p:txBody>
      </p:sp>
      <p:sp>
        <p:nvSpPr>
          <p:cNvPr id="28" name="Text 25"/>
          <p:cNvSpPr/>
          <p:nvPr/>
        </p:nvSpPr>
        <p:spPr>
          <a:xfrm>
            <a:off x="4489704" y="2053152"/>
            <a:ext cx="154533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2093" b="1">
                <a:solidFill>
                  <a:srgbClr val="1F3D6B"/>
                </a:solidFill>
              </a:rPr>
              <a:t>60K</a:t>
            </a:r>
            <a:endParaRPr lang="en-US" sz="2093"/>
          </a:p>
        </p:txBody>
      </p:sp>
      <p:sp>
        <p:nvSpPr>
          <p:cNvPr id="29" name="Text 26"/>
          <p:cNvSpPr/>
          <p:nvPr/>
        </p:nvSpPr>
        <p:spPr>
          <a:xfrm>
            <a:off x="4489704" y="2400624"/>
            <a:ext cx="1545336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913">
                <a:solidFill>
                  <a:srgbClr val="2E7D32"/>
                </a:solidFill>
              </a:rPr>
              <a:t>MoM +10.4%</a:t>
            </a:r>
            <a:endParaRPr lang="en-US" sz="913"/>
          </a:p>
        </p:txBody>
      </p:sp>
      <p:sp>
        <p:nvSpPr>
          <p:cNvPr id="30" name="Shape 27"/>
          <p:cNvSpPr/>
          <p:nvPr/>
        </p:nvSpPr>
        <p:spPr>
          <a:xfrm>
            <a:off x="6327648" y="1742256"/>
            <a:ext cx="1691640" cy="868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7620">
            <a:solidFill>
              <a:srgbClr val="DFE6EF"/>
            </a:solidFill>
            <a:prstDash val="solid"/>
          </a:ln>
          <a:effectLst>
            <a:outerShdw blurRad="12700" dist="635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6400800" y="1824552"/>
            <a:ext cx="1545336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971" b="1">
                <a:solidFill>
                  <a:srgbClr val="4A5568"/>
                </a:solidFill>
              </a:rPr>
              <a:t>AOV</a:t>
            </a:r>
            <a:endParaRPr lang="en-US" sz="971"/>
          </a:p>
        </p:txBody>
      </p:sp>
      <p:sp>
        <p:nvSpPr>
          <p:cNvPr id="32" name="Text 29"/>
          <p:cNvSpPr/>
          <p:nvPr/>
        </p:nvSpPr>
        <p:spPr>
          <a:xfrm>
            <a:off x="6400800" y="2053152"/>
            <a:ext cx="154533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2093" b="1">
                <a:solidFill>
                  <a:srgbClr val="1F3D6B"/>
                </a:solidFill>
              </a:rPr>
              <a:t>375K</a:t>
            </a:r>
            <a:endParaRPr lang="en-US" sz="2093"/>
          </a:p>
        </p:txBody>
      </p:sp>
      <p:sp>
        <p:nvSpPr>
          <p:cNvPr id="33" name="Text 30"/>
          <p:cNvSpPr/>
          <p:nvPr/>
        </p:nvSpPr>
        <p:spPr>
          <a:xfrm>
            <a:off x="6400800" y="2400624"/>
            <a:ext cx="1545336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913">
                <a:solidFill>
                  <a:srgbClr val="C0392B"/>
                </a:solidFill>
              </a:rPr>
              <a:t>MoM -1.2%</a:t>
            </a:r>
            <a:endParaRPr lang="en-US" sz="913"/>
          </a:p>
        </p:txBody>
      </p:sp>
      <p:sp>
        <p:nvSpPr>
          <p:cNvPr id="34" name="Shape 31"/>
          <p:cNvSpPr/>
          <p:nvPr/>
        </p:nvSpPr>
        <p:spPr>
          <a:xfrm>
            <a:off x="8238744" y="1742256"/>
            <a:ext cx="1691640" cy="868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7620">
            <a:solidFill>
              <a:srgbClr val="DFE6EF"/>
            </a:solidFill>
            <a:prstDash val="solid"/>
          </a:ln>
          <a:effectLst>
            <a:outerShdw blurRad="12700" dist="635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8311896" y="1824552"/>
            <a:ext cx="1545336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971" b="1">
                <a:solidFill>
                  <a:srgbClr val="4A5568"/>
                </a:solidFill>
              </a:rPr>
              <a:t>New Member %</a:t>
            </a:r>
            <a:endParaRPr lang="en-US" sz="971"/>
          </a:p>
        </p:txBody>
      </p:sp>
      <p:sp>
        <p:nvSpPr>
          <p:cNvPr id="36" name="Text 33"/>
          <p:cNvSpPr/>
          <p:nvPr/>
        </p:nvSpPr>
        <p:spPr>
          <a:xfrm>
            <a:off x="8311896" y="2053152"/>
            <a:ext cx="154533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2093" b="1">
                <a:solidFill>
                  <a:srgbClr val="1F3D6B"/>
                </a:solidFill>
              </a:rPr>
              <a:t>31%</a:t>
            </a:r>
            <a:endParaRPr lang="en-US" sz="2093"/>
          </a:p>
        </p:txBody>
      </p:sp>
      <p:sp>
        <p:nvSpPr>
          <p:cNvPr id="37" name="Text 34"/>
          <p:cNvSpPr/>
          <p:nvPr/>
        </p:nvSpPr>
        <p:spPr>
          <a:xfrm>
            <a:off x="8311896" y="2400624"/>
            <a:ext cx="1545336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913">
                <a:solidFill>
                  <a:srgbClr val="2E7D32"/>
                </a:solidFill>
              </a:rPr>
              <a:t>MoM +2.8pt</a:t>
            </a:r>
            <a:endParaRPr lang="en-US" sz="913"/>
          </a:p>
        </p:txBody>
      </p:sp>
      <p:sp>
        <p:nvSpPr>
          <p:cNvPr id="38" name="Shape 35"/>
          <p:cNvSpPr/>
          <p:nvPr/>
        </p:nvSpPr>
        <p:spPr>
          <a:xfrm>
            <a:off x="10149840" y="1742256"/>
            <a:ext cx="1691640" cy="868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7620">
            <a:solidFill>
              <a:srgbClr val="DFE6EF"/>
            </a:solidFill>
            <a:prstDash val="solid"/>
          </a:ln>
          <a:effectLst>
            <a:outerShdw blurRad="12700" dist="635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10222992" y="1824552"/>
            <a:ext cx="1545336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971" b="1">
                <a:solidFill>
                  <a:srgbClr val="4A5568"/>
                </a:solidFill>
              </a:rPr>
              <a:t>Repeat Ratio</a:t>
            </a:r>
            <a:endParaRPr lang="en-US" sz="971"/>
          </a:p>
        </p:txBody>
      </p:sp>
      <p:sp>
        <p:nvSpPr>
          <p:cNvPr id="40" name="Text 37"/>
          <p:cNvSpPr/>
          <p:nvPr/>
        </p:nvSpPr>
        <p:spPr>
          <a:xfrm>
            <a:off x="10222992" y="2053152"/>
            <a:ext cx="154533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2093" b="1">
                <a:solidFill>
                  <a:srgbClr val="1F3D6B"/>
                </a:solidFill>
              </a:rPr>
              <a:t>46%</a:t>
            </a:r>
            <a:endParaRPr lang="en-US" sz="2093"/>
          </a:p>
        </p:txBody>
      </p:sp>
      <p:sp>
        <p:nvSpPr>
          <p:cNvPr id="41" name="Text 38"/>
          <p:cNvSpPr/>
          <p:nvPr/>
        </p:nvSpPr>
        <p:spPr>
          <a:xfrm>
            <a:off x="10222992" y="2400624"/>
            <a:ext cx="1545336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913">
                <a:solidFill>
                  <a:srgbClr val="2E7D32"/>
                </a:solidFill>
              </a:rPr>
              <a:t>MoM +1.4pt</a:t>
            </a:r>
            <a:endParaRPr lang="en-US" sz="913"/>
          </a:p>
        </p:txBody>
      </p:sp>
      <p:sp>
        <p:nvSpPr>
          <p:cNvPr id="201" name="Shape 201"/>
          <p:cNvSpPr/>
          <p:nvPr/>
        </p:nvSpPr>
        <p:spPr>
          <a:xfrm>
            <a:off x="594360" y="2935224"/>
            <a:ext cx="3474720" cy="1874520"/>
          </a:xfrm>
          <a:prstGeom prst="roundRect">
            <a:avLst>
              <a:gd name="adj" fmla="val 4000"/>
            </a:avLst>
          </a:prstGeom>
          <a:solidFill>
            <a:srgbClr val="F6F8FB"/>
          </a:solidFill>
          <a:ln w="7620">
            <a:solidFill>
              <a:srgbClr val="D8E1EA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2" name="Shape 202"/>
          <p:cNvSpPr/>
          <p:nvPr/>
        </p:nvSpPr>
        <p:spPr>
          <a:xfrm>
            <a:off x="594360" y="2935224"/>
            <a:ext cx="45720" cy="187452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3" name="Shape 203"/>
          <p:cNvSpPr/>
          <p:nvPr/>
        </p:nvSpPr>
        <p:spPr>
          <a:xfrm>
            <a:off x="4343400" y="2935224"/>
            <a:ext cx="3474720" cy="1874520"/>
          </a:xfrm>
          <a:prstGeom prst="roundRect">
            <a:avLst>
              <a:gd name="adj" fmla="val 4000"/>
            </a:avLst>
          </a:prstGeom>
          <a:solidFill>
            <a:srgbClr val="F6F8FB"/>
          </a:solidFill>
          <a:ln w="7620">
            <a:solidFill>
              <a:srgbClr val="D8E1EA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4" name="Shape 204"/>
          <p:cNvSpPr/>
          <p:nvPr/>
        </p:nvSpPr>
        <p:spPr>
          <a:xfrm>
            <a:off x="4343400" y="2935224"/>
            <a:ext cx="45720" cy="187452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5" name="Shape 205"/>
          <p:cNvSpPr/>
          <p:nvPr/>
        </p:nvSpPr>
        <p:spPr>
          <a:xfrm>
            <a:off x="8092440" y="2935224"/>
            <a:ext cx="3474720" cy="1874520"/>
          </a:xfrm>
          <a:prstGeom prst="roundRect">
            <a:avLst>
              <a:gd name="adj" fmla="val 4000"/>
            </a:avLst>
          </a:prstGeom>
          <a:solidFill>
            <a:srgbClr val="F6F8FB"/>
          </a:solidFill>
          <a:ln w="7620">
            <a:solidFill>
              <a:srgbClr val="D8E1EA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6" name="Shape 206"/>
          <p:cNvSpPr/>
          <p:nvPr/>
        </p:nvSpPr>
        <p:spPr>
          <a:xfrm>
            <a:off x="8092440" y="2935224"/>
            <a:ext cx="45720" cy="187452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7" name="Text 207"/>
          <p:cNvSpPr/>
          <p:nvPr/>
        </p:nvSpPr>
        <p:spPr>
          <a:xfrm>
            <a:off x="713232" y="3017520"/>
            <a:ext cx="3236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>
                <a:solidFill>
                  <a:srgbClr val="1F3D6B"/>
                </a:solidFill>
              </a:rPr>
              <a:t>KPI Trend Entry</a:t>
            </a:r>
            <a:endParaRPr lang="en-US" sz="1050"/>
          </a:p>
        </p:txBody>
      </p:sp>
      <p:sp>
        <p:nvSpPr>
          <p:cNvPr id="208" name="Text 208"/>
          <p:cNvSpPr/>
          <p:nvPr/>
        </p:nvSpPr>
        <p:spPr>
          <a:xfrm>
            <a:off x="713232" y="3227832"/>
            <a:ext cx="32369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b="0">
                <a:solidFill>
                  <a:srgbClr val="8A94A6"/>
                </a:solidFill>
              </a:rPr>
              <a:t>Purchasing Members</a:t>
            </a:r>
            <a:endParaRPr lang="en-US" sz="750"/>
          </a:p>
        </p:txBody>
      </p:sp>
      <p:sp>
        <p:nvSpPr>
          <p:cNvPr id="209" name="Text 209"/>
          <p:cNvSpPr/>
          <p:nvPr/>
        </p:nvSpPr>
        <p:spPr>
          <a:xfrm>
            <a:off x="4462272" y="3017520"/>
            <a:ext cx="3236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>
                <a:solidFill>
                  <a:srgbClr val="1F3D6B"/>
                </a:solidFill>
              </a:rPr>
              <a:t>Key Movement by Segment</a:t>
            </a:r>
            <a:endParaRPr lang="en-US" sz="1050"/>
          </a:p>
        </p:txBody>
      </p:sp>
      <p:sp>
        <p:nvSpPr>
          <p:cNvPr id="210" name="Text 210"/>
          <p:cNvSpPr/>
          <p:nvPr/>
        </p:nvSpPr>
        <p:spPr>
          <a:xfrm>
            <a:off x="4462272" y="3227832"/>
            <a:ext cx="32369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b="0">
                <a:solidFill>
                  <a:srgbClr val="8A94A6"/>
                </a:solidFill>
              </a:rPr>
              <a:t>Top movers by segment · MoM change</a:t>
            </a:r>
            <a:endParaRPr lang="en-US" sz="750"/>
          </a:p>
        </p:txBody>
      </p:sp>
      <p:sp>
        <p:nvSpPr>
          <p:cNvPr id="211" name="Text 211"/>
          <p:cNvSpPr/>
          <p:nvPr/>
        </p:nvSpPr>
        <p:spPr>
          <a:xfrm>
            <a:off x="8211312" y="3017520"/>
            <a:ext cx="3236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>
                <a:solidFill>
                  <a:srgbClr val="1F3D6B"/>
                </a:solidFill>
              </a:rPr>
              <a:t>Actionable Alerts</a:t>
            </a:r>
            <a:endParaRPr lang="en-US" sz="1050"/>
          </a:p>
        </p:txBody>
      </p:sp>
      <p:sp>
        <p:nvSpPr>
          <p:cNvPr id="212" name="Text 212"/>
          <p:cNvSpPr/>
          <p:nvPr/>
        </p:nvSpPr>
        <p:spPr>
          <a:xfrm>
            <a:off x="8211312" y="3227832"/>
            <a:ext cx="32369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b="0">
                <a:solidFill>
                  <a:srgbClr val="8A94A6"/>
                </a:solidFill>
              </a:rPr>
              <a:t>Auto-generated · last 24 hours</a:t>
            </a:r>
            <a:endParaRPr lang="en-US" sz="750"/>
          </a:p>
        </p:txBody>
      </p:sp>
      <p:sp>
        <p:nvSpPr>
          <p:cNvPr id="213" name="Shape 213"/>
          <p:cNvSpPr/>
          <p:nvPr/>
        </p:nvSpPr>
        <p:spPr>
          <a:xfrm>
            <a:off x="2395728" y="3191256"/>
            <a:ext cx="475488" cy="192024"/>
          </a:xfrm>
          <a:prstGeom prst="roundRect">
            <a:avLst>
              <a:gd name="adj" fmla="val 25000"/>
            </a:avLst>
          </a:prstGeom>
          <a:solidFill>
            <a:srgbClr val="2E5FA3"/>
          </a:solidFill>
          <a:ln w="635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4" name="Text 214"/>
          <p:cNvSpPr/>
          <p:nvPr/>
        </p:nvSpPr>
        <p:spPr>
          <a:xfrm>
            <a:off x="2395728" y="3218688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>
                <a:solidFill>
                  <a:srgbClr val="FFFFFF"/>
                </a:solidFill>
              </a:rPr>
              <a:t>Daily</a:t>
            </a:r>
            <a:endParaRPr lang="en-US" sz="700"/>
          </a:p>
        </p:txBody>
      </p:sp>
      <p:sp>
        <p:nvSpPr>
          <p:cNvPr id="215" name="Shape 215"/>
          <p:cNvSpPr/>
          <p:nvPr/>
        </p:nvSpPr>
        <p:spPr>
          <a:xfrm>
            <a:off x="2898648" y="3191256"/>
            <a:ext cx="548640" cy="19202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CF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6" name="Text 216"/>
          <p:cNvSpPr/>
          <p:nvPr/>
        </p:nvSpPr>
        <p:spPr>
          <a:xfrm>
            <a:off x="2898648" y="3218688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>
                <a:solidFill>
                  <a:srgbClr val="4A5568"/>
                </a:solidFill>
              </a:rPr>
              <a:t>Weekly</a:t>
            </a:r>
            <a:endParaRPr lang="en-US" sz="700"/>
          </a:p>
        </p:txBody>
      </p:sp>
      <p:sp>
        <p:nvSpPr>
          <p:cNvPr id="217" name="Shape 217"/>
          <p:cNvSpPr/>
          <p:nvPr/>
        </p:nvSpPr>
        <p:spPr>
          <a:xfrm>
            <a:off x="3474720" y="3191256"/>
            <a:ext cx="594360" cy="19202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CF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8" name="Text 218"/>
          <p:cNvSpPr/>
          <p:nvPr/>
        </p:nvSpPr>
        <p:spPr>
          <a:xfrm>
            <a:off x="3474720" y="3218688"/>
            <a:ext cx="594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>
                <a:solidFill>
                  <a:srgbClr val="4A5568"/>
                </a:solidFill>
              </a:rPr>
              <a:t>Monthly</a:t>
            </a:r>
            <a:endParaRPr lang="en-US" sz="700"/>
          </a:p>
        </p:txBody>
      </p:sp>
      <p:sp>
        <p:nvSpPr>
          <p:cNvPr id="219" name="Shape 219"/>
          <p:cNvSpPr/>
          <p:nvPr/>
        </p:nvSpPr>
        <p:spPr>
          <a:xfrm>
            <a:off x="777240" y="3401568"/>
            <a:ext cx="3127248" cy="9326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0" name="Shape 220"/>
          <p:cNvSpPr/>
          <p:nvPr/>
        </p:nvSpPr>
        <p:spPr>
          <a:xfrm>
            <a:off x="822960" y="3634740"/>
            <a:ext cx="3035808" cy="0"/>
          </a:xfrm>
          <a:prstGeom prst="line">
            <a:avLst/>
          </a:prstGeom>
          <a:noFill/>
          <a:ln w="4445">
            <a:solidFill>
              <a:srgbClr val="EDF1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1" name="Shape 221"/>
          <p:cNvSpPr/>
          <p:nvPr/>
        </p:nvSpPr>
        <p:spPr>
          <a:xfrm>
            <a:off x="822960" y="3867912"/>
            <a:ext cx="3035808" cy="0"/>
          </a:xfrm>
          <a:prstGeom prst="line">
            <a:avLst/>
          </a:prstGeom>
          <a:noFill/>
          <a:ln w="4445">
            <a:solidFill>
              <a:srgbClr val="EDF1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2" name="Shape 222"/>
          <p:cNvSpPr/>
          <p:nvPr/>
        </p:nvSpPr>
        <p:spPr>
          <a:xfrm>
            <a:off x="822960" y="4101084"/>
            <a:ext cx="3035808" cy="0"/>
          </a:xfrm>
          <a:prstGeom prst="line">
            <a:avLst/>
          </a:prstGeom>
          <a:noFill/>
          <a:ln w="4445">
            <a:solidFill>
              <a:srgbClr val="EDF1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3" name="Shape 223"/>
          <p:cNvSpPr/>
          <p:nvPr/>
        </p:nvSpPr>
        <p:spPr>
          <a:xfrm flipV="1">
            <a:off x="941832" y="4053352"/>
            <a:ext cx="559613" cy="26335"/>
          </a:xfrm>
          <a:prstGeom prst="line">
            <a:avLst/>
          </a:prstGeom>
          <a:noFill/>
          <a:ln w="12700">
            <a:solidFill>
              <a:srgbClr val="C3CCD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24" name="Shape 224"/>
          <p:cNvSpPr/>
          <p:nvPr/>
        </p:nvSpPr>
        <p:spPr>
          <a:xfrm flipV="1">
            <a:off x="1501445" y="4027018"/>
            <a:ext cx="559613" cy="26335"/>
          </a:xfrm>
          <a:prstGeom prst="line">
            <a:avLst/>
          </a:prstGeom>
          <a:noFill/>
          <a:ln w="12700">
            <a:solidFill>
              <a:srgbClr val="C3CCD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25" name="Shape 225"/>
          <p:cNvSpPr/>
          <p:nvPr/>
        </p:nvSpPr>
        <p:spPr>
          <a:xfrm flipV="1">
            <a:off x="2061058" y="4007267"/>
            <a:ext cx="559613" cy="19751"/>
          </a:xfrm>
          <a:prstGeom prst="line">
            <a:avLst/>
          </a:prstGeom>
          <a:noFill/>
          <a:ln w="12700">
            <a:solidFill>
              <a:srgbClr val="C3CCD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26" name="Shape 226"/>
          <p:cNvSpPr/>
          <p:nvPr/>
        </p:nvSpPr>
        <p:spPr>
          <a:xfrm flipV="1">
            <a:off x="2620670" y="3987516"/>
            <a:ext cx="559613" cy="19751"/>
          </a:xfrm>
          <a:prstGeom prst="line">
            <a:avLst/>
          </a:prstGeom>
          <a:noFill/>
          <a:ln w="12700">
            <a:solidFill>
              <a:srgbClr val="C3CCD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27" name="Shape 227"/>
          <p:cNvSpPr/>
          <p:nvPr/>
        </p:nvSpPr>
        <p:spPr>
          <a:xfrm flipV="1">
            <a:off x="3180283" y="3948013"/>
            <a:ext cx="559613" cy="39502"/>
          </a:xfrm>
          <a:prstGeom prst="line">
            <a:avLst/>
          </a:prstGeom>
          <a:noFill/>
          <a:ln w="12700">
            <a:solidFill>
              <a:srgbClr val="C3CCD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28" name="Shape 228"/>
          <p:cNvSpPr/>
          <p:nvPr/>
        </p:nvSpPr>
        <p:spPr>
          <a:xfrm flipV="1">
            <a:off x="941832" y="3961181"/>
            <a:ext cx="559613" cy="79004"/>
          </a:xfrm>
          <a:prstGeom prst="line">
            <a:avLst/>
          </a:prstGeom>
          <a:noFill/>
          <a:ln w="22225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9" name="Shape 229"/>
          <p:cNvSpPr/>
          <p:nvPr/>
        </p:nvSpPr>
        <p:spPr>
          <a:xfrm>
            <a:off x="1501445" y="3961181"/>
            <a:ext cx="559613" cy="39502"/>
          </a:xfrm>
          <a:prstGeom prst="line">
            <a:avLst/>
          </a:prstGeom>
          <a:noFill/>
          <a:ln w="22225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0" name="Shape 230"/>
          <p:cNvSpPr/>
          <p:nvPr/>
        </p:nvSpPr>
        <p:spPr>
          <a:xfrm flipV="1">
            <a:off x="2061058" y="3882177"/>
            <a:ext cx="559613" cy="118506"/>
          </a:xfrm>
          <a:prstGeom prst="line">
            <a:avLst/>
          </a:prstGeom>
          <a:noFill/>
          <a:ln w="22225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1" name="Shape 231"/>
          <p:cNvSpPr/>
          <p:nvPr/>
        </p:nvSpPr>
        <p:spPr>
          <a:xfrm flipV="1">
            <a:off x="2620670" y="3822924"/>
            <a:ext cx="559613" cy="59253"/>
          </a:xfrm>
          <a:prstGeom prst="line">
            <a:avLst/>
          </a:prstGeom>
          <a:noFill/>
          <a:ln w="22225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2" name="Shape 232"/>
          <p:cNvSpPr/>
          <p:nvPr/>
        </p:nvSpPr>
        <p:spPr>
          <a:xfrm flipV="1">
            <a:off x="3180283" y="3711001"/>
            <a:ext cx="559613" cy="111923"/>
          </a:xfrm>
          <a:prstGeom prst="line">
            <a:avLst/>
          </a:prstGeom>
          <a:noFill/>
          <a:ln w="22225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3" name="Shape 233"/>
          <p:cNvSpPr/>
          <p:nvPr/>
        </p:nvSpPr>
        <p:spPr>
          <a:xfrm>
            <a:off x="914400" y="4012753"/>
            <a:ext cx="54864" cy="54864"/>
          </a:xfrm>
          <a:prstGeom prst="ellipse">
            <a:avLst/>
          </a:prstGeom>
          <a:solidFill>
            <a:srgbClr val="2E5FA3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4" name="Shape 234"/>
          <p:cNvSpPr/>
          <p:nvPr/>
        </p:nvSpPr>
        <p:spPr>
          <a:xfrm>
            <a:off x="1474013" y="3933749"/>
            <a:ext cx="54864" cy="54864"/>
          </a:xfrm>
          <a:prstGeom prst="ellipse">
            <a:avLst/>
          </a:prstGeom>
          <a:solidFill>
            <a:srgbClr val="2E5FA3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5" name="Shape 235"/>
          <p:cNvSpPr/>
          <p:nvPr/>
        </p:nvSpPr>
        <p:spPr>
          <a:xfrm>
            <a:off x="2033626" y="3973251"/>
            <a:ext cx="54864" cy="54864"/>
          </a:xfrm>
          <a:prstGeom prst="ellipse">
            <a:avLst/>
          </a:prstGeom>
          <a:solidFill>
            <a:srgbClr val="2E5FA3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6" name="Shape 236"/>
          <p:cNvSpPr/>
          <p:nvPr/>
        </p:nvSpPr>
        <p:spPr>
          <a:xfrm>
            <a:off x="2593238" y="3854745"/>
            <a:ext cx="54864" cy="54864"/>
          </a:xfrm>
          <a:prstGeom prst="ellipse">
            <a:avLst/>
          </a:prstGeom>
          <a:solidFill>
            <a:srgbClr val="2E5FA3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7" name="Shape 237"/>
          <p:cNvSpPr/>
          <p:nvPr/>
        </p:nvSpPr>
        <p:spPr>
          <a:xfrm>
            <a:off x="3152851" y="3795492"/>
            <a:ext cx="54864" cy="54864"/>
          </a:xfrm>
          <a:prstGeom prst="ellipse">
            <a:avLst/>
          </a:prstGeom>
          <a:solidFill>
            <a:srgbClr val="2E5FA3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8" name="Shape 238"/>
          <p:cNvSpPr/>
          <p:nvPr/>
        </p:nvSpPr>
        <p:spPr>
          <a:xfrm>
            <a:off x="3698748" y="3669853"/>
            <a:ext cx="82296" cy="82296"/>
          </a:xfrm>
          <a:prstGeom prst="ellipse">
            <a:avLst/>
          </a:prstGeom>
          <a:solidFill>
            <a:srgbClr val="D02C8C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9" name="Text 239"/>
          <p:cNvSpPr/>
          <p:nvPr/>
        </p:nvSpPr>
        <p:spPr>
          <a:xfrm>
            <a:off x="850392" y="3456432"/>
            <a:ext cx="1280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>
                <a:solidFill>
                  <a:srgbClr val="1F3D6B"/>
                </a:solidFill>
              </a:rPr>
              <a:t>272K  MoM +8.2%</a:t>
            </a:r>
            <a:endParaRPr lang="en-US" sz="700"/>
          </a:p>
        </p:txBody>
      </p:sp>
      <p:sp>
        <p:nvSpPr>
          <p:cNvPr id="240" name="Text 240"/>
          <p:cNvSpPr/>
          <p:nvPr/>
        </p:nvSpPr>
        <p:spPr>
          <a:xfrm>
            <a:off x="758952" y="4361688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0">
                <a:solidFill>
                  <a:srgbClr val="8A94A6"/>
                </a:solidFill>
              </a:rPr>
              <a:t>Apr</a:t>
            </a:r>
            <a:endParaRPr lang="en-US" sz="650"/>
          </a:p>
        </p:txBody>
      </p:sp>
      <p:sp>
        <p:nvSpPr>
          <p:cNvPr id="241" name="Text 241"/>
          <p:cNvSpPr/>
          <p:nvPr/>
        </p:nvSpPr>
        <p:spPr>
          <a:xfrm>
            <a:off x="1318565" y="4361688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0">
                <a:solidFill>
                  <a:srgbClr val="8A94A6"/>
                </a:solidFill>
              </a:rPr>
              <a:t>May</a:t>
            </a:r>
            <a:endParaRPr lang="en-US" sz="650"/>
          </a:p>
        </p:txBody>
      </p:sp>
      <p:sp>
        <p:nvSpPr>
          <p:cNvPr id="242" name="Text 242"/>
          <p:cNvSpPr/>
          <p:nvPr/>
        </p:nvSpPr>
        <p:spPr>
          <a:xfrm>
            <a:off x="1878178" y="4361688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0">
                <a:solidFill>
                  <a:srgbClr val="8A94A6"/>
                </a:solidFill>
              </a:rPr>
              <a:t>Jun</a:t>
            </a:r>
            <a:endParaRPr lang="en-US" sz="650"/>
          </a:p>
        </p:txBody>
      </p:sp>
      <p:sp>
        <p:nvSpPr>
          <p:cNvPr id="243" name="Text 243"/>
          <p:cNvSpPr/>
          <p:nvPr/>
        </p:nvSpPr>
        <p:spPr>
          <a:xfrm>
            <a:off x="2437790" y="4361688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0">
                <a:solidFill>
                  <a:srgbClr val="8A94A6"/>
                </a:solidFill>
              </a:rPr>
              <a:t>Jul</a:t>
            </a:r>
            <a:endParaRPr lang="en-US" sz="650"/>
          </a:p>
        </p:txBody>
      </p:sp>
      <p:sp>
        <p:nvSpPr>
          <p:cNvPr id="244" name="Text 244"/>
          <p:cNvSpPr/>
          <p:nvPr/>
        </p:nvSpPr>
        <p:spPr>
          <a:xfrm>
            <a:off x="2997403" y="4361688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0">
                <a:solidFill>
                  <a:srgbClr val="8A94A6"/>
                </a:solidFill>
              </a:rPr>
              <a:t>Aug</a:t>
            </a:r>
            <a:endParaRPr lang="en-US" sz="650"/>
          </a:p>
        </p:txBody>
      </p:sp>
      <p:sp>
        <p:nvSpPr>
          <p:cNvPr id="245" name="Text 245"/>
          <p:cNvSpPr/>
          <p:nvPr/>
        </p:nvSpPr>
        <p:spPr>
          <a:xfrm>
            <a:off x="3557016" y="4361688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0">
                <a:solidFill>
                  <a:srgbClr val="8A94A6"/>
                </a:solidFill>
              </a:rPr>
              <a:t>Sep</a:t>
            </a:r>
            <a:endParaRPr lang="en-US" sz="650"/>
          </a:p>
        </p:txBody>
      </p:sp>
      <p:sp>
        <p:nvSpPr>
          <p:cNvPr id="246" name="Shape 246"/>
          <p:cNvSpPr/>
          <p:nvPr/>
        </p:nvSpPr>
        <p:spPr>
          <a:xfrm>
            <a:off x="777240" y="4553712"/>
            <a:ext cx="566928" cy="164592"/>
          </a:xfrm>
          <a:prstGeom prst="roundRect">
            <a:avLst>
              <a:gd name="adj" fmla="val 25000"/>
            </a:avLst>
          </a:prstGeom>
          <a:solidFill>
            <a:srgbClr val="E8F0FA"/>
          </a:solidFill>
          <a:ln w="12700">
            <a:solidFill>
              <a:srgbClr val="E8F0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7" name="Text 247"/>
          <p:cNvSpPr/>
          <p:nvPr/>
        </p:nvSpPr>
        <p:spPr>
          <a:xfrm>
            <a:off x="777240" y="4581144"/>
            <a:ext cx="56692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1">
                <a:solidFill>
                  <a:srgbClr val="2E5FA3"/>
                </a:solidFill>
              </a:rPr>
              <a:t>Actual</a:t>
            </a:r>
            <a:endParaRPr lang="en-US" sz="650"/>
          </a:p>
        </p:txBody>
      </p:sp>
      <p:sp>
        <p:nvSpPr>
          <p:cNvPr id="248" name="Shape 248"/>
          <p:cNvSpPr/>
          <p:nvPr/>
        </p:nvSpPr>
        <p:spPr>
          <a:xfrm>
            <a:off x="1399032" y="4553712"/>
            <a:ext cx="658368" cy="164592"/>
          </a:xfrm>
          <a:prstGeom prst="roundRect">
            <a:avLst>
              <a:gd name="adj" fmla="val 25000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9" name="Text 249"/>
          <p:cNvSpPr/>
          <p:nvPr/>
        </p:nvSpPr>
        <p:spPr>
          <a:xfrm>
            <a:off x="1399032" y="4581144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1">
                <a:solidFill>
                  <a:srgbClr val="8A94A6"/>
                </a:solidFill>
              </a:rPr>
              <a:t>Last year</a:t>
            </a:r>
            <a:endParaRPr lang="en-US" sz="650"/>
          </a:p>
        </p:txBody>
      </p:sp>
      <p:sp>
        <p:nvSpPr>
          <p:cNvPr id="250" name="Text 250"/>
          <p:cNvSpPr/>
          <p:nvPr/>
        </p:nvSpPr>
        <p:spPr>
          <a:xfrm>
            <a:off x="2148840" y="4553712"/>
            <a:ext cx="1755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50" b="0">
                <a:solidFill>
                  <a:srgbClr val="8A94A6"/>
                </a:solidFill>
              </a:rPr>
              <a:t>Click a point → L2 trend</a:t>
            </a:r>
            <a:endParaRPr lang="en-US" sz="650"/>
          </a:p>
        </p:txBody>
      </p:sp>
      <p:sp>
        <p:nvSpPr>
          <p:cNvPr id="251" name="Text 251"/>
          <p:cNvSpPr/>
          <p:nvPr/>
        </p:nvSpPr>
        <p:spPr>
          <a:xfrm>
            <a:off x="4462272" y="3310128"/>
            <a:ext cx="1188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00" b="1">
                <a:solidFill>
                  <a:srgbClr val="8A94A6"/>
                </a:solidFill>
              </a:rPr>
              <a:t>SEGMENT</a:t>
            </a:r>
            <a:endParaRPr lang="en-US" sz="600"/>
          </a:p>
        </p:txBody>
      </p:sp>
      <p:sp>
        <p:nvSpPr>
          <p:cNvPr id="252" name="Text 252"/>
          <p:cNvSpPr/>
          <p:nvPr/>
        </p:nvSpPr>
        <p:spPr>
          <a:xfrm>
            <a:off x="7040880" y="3310128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00" b="1">
                <a:solidFill>
                  <a:srgbClr val="8A94A6"/>
                </a:solidFill>
              </a:rPr>
              <a:t>MoM %</a:t>
            </a:r>
            <a:endParaRPr lang="en-US" sz="600"/>
          </a:p>
        </p:txBody>
      </p:sp>
      <p:sp>
        <p:nvSpPr>
          <p:cNvPr id="253" name="Text 253"/>
          <p:cNvSpPr/>
          <p:nvPr/>
        </p:nvSpPr>
        <p:spPr>
          <a:xfrm>
            <a:off x="4462272" y="3474720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b="0">
                <a:solidFill>
                  <a:srgbClr val="1F3D6B"/>
                </a:solidFill>
              </a:rPr>
              <a:t>Age 20-29</a:t>
            </a:r>
            <a:endParaRPr lang="en-US" sz="750"/>
          </a:p>
        </p:txBody>
      </p:sp>
      <p:sp>
        <p:nvSpPr>
          <p:cNvPr id="254" name="Shape 254"/>
          <p:cNvSpPr/>
          <p:nvPr/>
        </p:nvSpPr>
        <p:spPr>
          <a:xfrm>
            <a:off x="5504688" y="3483864"/>
            <a:ext cx="1572768" cy="118872"/>
          </a:xfrm>
          <a:prstGeom prst="rect">
            <a:avLst/>
          </a:prstGeom>
          <a:solidFill>
            <a:srgbClr val="EDF1F6"/>
          </a:solidFill>
          <a:ln w="6350">
            <a:solidFill>
              <a:srgbClr val="EDF1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5" name="Shape 255"/>
          <p:cNvSpPr/>
          <p:nvPr/>
        </p:nvSpPr>
        <p:spPr>
          <a:xfrm>
            <a:off x="5504688" y="3483864"/>
            <a:ext cx="1572768" cy="118872"/>
          </a:xfrm>
          <a:prstGeom prst="rect">
            <a:avLst/>
          </a:prstGeom>
          <a:solidFill>
            <a:srgbClr val="1E8E5A"/>
          </a:solidFill>
          <a:ln w="6350">
            <a:solidFill>
              <a:srgbClr val="1E8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6" name="Text 256"/>
          <p:cNvSpPr/>
          <p:nvPr/>
        </p:nvSpPr>
        <p:spPr>
          <a:xfrm>
            <a:off x="7040880" y="3474720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b="1">
                <a:solidFill>
                  <a:srgbClr val="1E8E5A"/>
                </a:solidFill>
              </a:rPr>
              <a:t>+12.4%</a:t>
            </a:r>
            <a:endParaRPr lang="en-US" sz="750"/>
          </a:p>
        </p:txBody>
      </p:sp>
      <p:sp>
        <p:nvSpPr>
          <p:cNvPr id="257" name="Text 257"/>
          <p:cNvSpPr/>
          <p:nvPr/>
        </p:nvSpPr>
        <p:spPr>
          <a:xfrm>
            <a:off x="4462272" y="3721608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b="0">
                <a:solidFill>
                  <a:srgbClr val="1F3D6B"/>
                </a:solidFill>
              </a:rPr>
              <a:t>HCMC province</a:t>
            </a:r>
            <a:endParaRPr lang="en-US" sz="750"/>
          </a:p>
        </p:txBody>
      </p:sp>
      <p:sp>
        <p:nvSpPr>
          <p:cNvPr id="258" name="Shape 258"/>
          <p:cNvSpPr/>
          <p:nvPr/>
        </p:nvSpPr>
        <p:spPr>
          <a:xfrm>
            <a:off x="5504688" y="3730752"/>
            <a:ext cx="1572768" cy="118872"/>
          </a:xfrm>
          <a:prstGeom prst="rect">
            <a:avLst/>
          </a:prstGeom>
          <a:solidFill>
            <a:srgbClr val="EDF1F6"/>
          </a:solidFill>
          <a:ln w="6350">
            <a:solidFill>
              <a:srgbClr val="EDF1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9" name="Shape 259"/>
          <p:cNvSpPr/>
          <p:nvPr/>
        </p:nvSpPr>
        <p:spPr>
          <a:xfrm>
            <a:off x="5504688" y="3730752"/>
            <a:ext cx="1242994" cy="118872"/>
          </a:xfrm>
          <a:prstGeom prst="rect">
            <a:avLst/>
          </a:prstGeom>
          <a:solidFill>
            <a:srgbClr val="1E8E5A"/>
          </a:solidFill>
          <a:ln w="6350">
            <a:solidFill>
              <a:srgbClr val="1E8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0" name="Text 260"/>
          <p:cNvSpPr/>
          <p:nvPr/>
        </p:nvSpPr>
        <p:spPr>
          <a:xfrm>
            <a:off x="7040880" y="3721608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b="1">
                <a:solidFill>
                  <a:srgbClr val="1E8E5A"/>
                </a:solidFill>
              </a:rPr>
              <a:t>+9.8%</a:t>
            </a:r>
            <a:endParaRPr lang="en-US" sz="750"/>
          </a:p>
        </p:txBody>
      </p:sp>
      <p:sp>
        <p:nvSpPr>
          <p:cNvPr id="261" name="Text 261"/>
          <p:cNvSpPr/>
          <p:nvPr/>
        </p:nvSpPr>
        <p:spPr>
          <a:xfrm>
            <a:off x="4462272" y="3968496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b="0">
                <a:solidFill>
                  <a:srgbClr val="1F3D6B"/>
                </a:solidFill>
              </a:rPr>
              <a:t>New members</a:t>
            </a:r>
            <a:endParaRPr lang="en-US" sz="750"/>
          </a:p>
        </p:txBody>
      </p:sp>
      <p:sp>
        <p:nvSpPr>
          <p:cNvPr id="262" name="Shape 262"/>
          <p:cNvSpPr/>
          <p:nvPr/>
        </p:nvSpPr>
        <p:spPr>
          <a:xfrm>
            <a:off x="5504688" y="3977640"/>
            <a:ext cx="1572768" cy="118872"/>
          </a:xfrm>
          <a:prstGeom prst="rect">
            <a:avLst/>
          </a:prstGeom>
          <a:solidFill>
            <a:srgbClr val="EDF1F6"/>
          </a:solidFill>
          <a:ln w="6350">
            <a:solidFill>
              <a:srgbClr val="EDF1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3" name="Shape 263"/>
          <p:cNvSpPr/>
          <p:nvPr/>
        </p:nvSpPr>
        <p:spPr>
          <a:xfrm>
            <a:off x="5504688" y="3977640"/>
            <a:ext cx="773700" cy="118872"/>
          </a:xfrm>
          <a:prstGeom prst="rect">
            <a:avLst/>
          </a:prstGeom>
          <a:solidFill>
            <a:srgbClr val="1E8E5A"/>
          </a:solidFill>
          <a:ln w="6350">
            <a:solidFill>
              <a:srgbClr val="1E8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4" name="Text 264"/>
          <p:cNvSpPr/>
          <p:nvPr/>
        </p:nvSpPr>
        <p:spPr>
          <a:xfrm>
            <a:off x="7040880" y="396849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b="1">
                <a:solidFill>
                  <a:srgbClr val="1E8E5A"/>
                </a:solidFill>
              </a:rPr>
              <a:t>+6.1%</a:t>
            </a:r>
            <a:endParaRPr lang="en-US" sz="750"/>
          </a:p>
        </p:txBody>
      </p:sp>
      <p:sp>
        <p:nvSpPr>
          <p:cNvPr id="265" name="Text 265"/>
          <p:cNvSpPr/>
          <p:nvPr/>
        </p:nvSpPr>
        <p:spPr>
          <a:xfrm>
            <a:off x="4462272" y="4215384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b="0">
                <a:solidFill>
                  <a:srgbClr val="4A5568"/>
                </a:solidFill>
              </a:rPr>
              <a:t>Hanoi AOV</a:t>
            </a:r>
            <a:endParaRPr lang="en-US" sz="750"/>
          </a:p>
        </p:txBody>
      </p:sp>
      <p:sp>
        <p:nvSpPr>
          <p:cNvPr id="266" name="Shape 266"/>
          <p:cNvSpPr/>
          <p:nvPr/>
        </p:nvSpPr>
        <p:spPr>
          <a:xfrm>
            <a:off x="5504688" y="4224528"/>
            <a:ext cx="1572768" cy="118872"/>
          </a:xfrm>
          <a:prstGeom prst="rect">
            <a:avLst/>
          </a:prstGeom>
          <a:solidFill>
            <a:srgbClr val="EDF1F6"/>
          </a:solidFill>
          <a:ln w="6350">
            <a:solidFill>
              <a:srgbClr val="EDF1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7" name="Shape 267"/>
          <p:cNvSpPr/>
          <p:nvPr/>
        </p:nvSpPr>
        <p:spPr>
          <a:xfrm>
            <a:off x="6544744" y="4224528"/>
            <a:ext cx="532712" cy="118872"/>
          </a:xfrm>
          <a:prstGeom prst="rect">
            <a:avLst/>
          </a:prstGeom>
          <a:solidFill>
            <a:srgbClr val="C0392B"/>
          </a:solidFill>
          <a:ln w="63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8" name="Text 268"/>
          <p:cNvSpPr/>
          <p:nvPr/>
        </p:nvSpPr>
        <p:spPr>
          <a:xfrm>
            <a:off x="7040880" y="4215384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b="1">
                <a:solidFill>
                  <a:srgbClr val="C0392B"/>
                </a:solidFill>
              </a:rPr>
              <a:t>-4.2%</a:t>
            </a:r>
            <a:endParaRPr lang="en-US" sz="750"/>
          </a:p>
        </p:txBody>
      </p:sp>
      <p:sp>
        <p:nvSpPr>
          <p:cNvPr id="269" name="Text 269"/>
          <p:cNvSpPr/>
          <p:nvPr/>
        </p:nvSpPr>
        <p:spPr>
          <a:xfrm>
            <a:off x="4462272" y="4462272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b="0">
                <a:solidFill>
                  <a:srgbClr val="4A5568"/>
                </a:solidFill>
              </a:rPr>
              <a:t>Age 50+</a:t>
            </a:r>
            <a:endParaRPr lang="en-US" sz="750"/>
          </a:p>
        </p:txBody>
      </p:sp>
      <p:sp>
        <p:nvSpPr>
          <p:cNvPr id="270" name="Shape 270"/>
          <p:cNvSpPr/>
          <p:nvPr/>
        </p:nvSpPr>
        <p:spPr>
          <a:xfrm>
            <a:off x="5504688" y="4471416"/>
            <a:ext cx="1572768" cy="118872"/>
          </a:xfrm>
          <a:prstGeom prst="rect">
            <a:avLst/>
          </a:prstGeom>
          <a:solidFill>
            <a:srgbClr val="EDF1F6"/>
          </a:solidFill>
          <a:ln w="6350">
            <a:solidFill>
              <a:srgbClr val="EDF1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1" name="Shape 271"/>
          <p:cNvSpPr/>
          <p:nvPr/>
        </p:nvSpPr>
        <p:spPr>
          <a:xfrm>
            <a:off x="6633530" y="4471416"/>
            <a:ext cx="443926" cy="118872"/>
          </a:xfrm>
          <a:prstGeom prst="rect">
            <a:avLst/>
          </a:prstGeom>
          <a:solidFill>
            <a:srgbClr val="C0392B"/>
          </a:solidFill>
          <a:ln w="63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2" name="Text 272"/>
          <p:cNvSpPr/>
          <p:nvPr/>
        </p:nvSpPr>
        <p:spPr>
          <a:xfrm>
            <a:off x="7040880" y="4462272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b="1">
                <a:solidFill>
                  <a:srgbClr val="C0392B"/>
                </a:solidFill>
              </a:rPr>
              <a:t>-3.5%</a:t>
            </a:r>
            <a:endParaRPr lang="en-US" sz="750"/>
          </a:p>
        </p:txBody>
      </p:sp>
      <p:sp>
        <p:nvSpPr>
          <p:cNvPr id="273" name="Text 273"/>
          <p:cNvSpPr/>
          <p:nvPr/>
        </p:nvSpPr>
        <p:spPr>
          <a:xfrm>
            <a:off x="4462272" y="4736592"/>
            <a:ext cx="32369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50" b="0">
                <a:solidFill>
                  <a:srgbClr val="8A94A6"/>
                </a:solidFill>
              </a:rPr>
              <a:t>Click a bar → opens L2 with that segment applied</a:t>
            </a:r>
            <a:endParaRPr lang="en-US" sz="650"/>
          </a:p>
        </p:txBody>
      </p:sp>
      <p:sp>
        <p:nvSpPr>
          <p:cNvPr id="274" name="Shape 274"/>
          <p:cNvSpPr/>
          <p:nvPr/>
        </p:nvSpPr>
        <p:spPr>
          <a:xfrm>
            <a:off x="8211312" y="3310128"/>
            <a:ext cx="3236976" cy="384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5" name="Shape 275"/>
          <p:cNvSpPr/>
          <p:nvPr/>
        </p:nvSpPr>
        <p:spPr>
          <a:xfrm>
            <a:off x="8211312" y="3310128"/>
            <a:ext cx="36576" cy="384048"/>
          </a:xfrm>
          <a:prstGeom prst="rect">
            <a:avLst/>
          </a:prstGeom>
          <a:solidFill>
            <a:srgbClr val="C0392B"/>
          </a:solidFill>
          <a:ln w="63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6" name="Shape 276"/>
          <p:cNvSpPr/>
          <p:nvPr/>
        </p:nvSpPr>
        <p:spPr>
          <a:xfrm>
            <a:off x="8311896" y="3364992"/>
            <a:ext cx="420624" cy="146304"/>
          </a:xfrm>
          <a:prstGeom prst="roundRect">
            <a:avLst>
              <a:gd name="adj" fmla="val 25000"/>
            </a:avLst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7" name="Text 277"/>
          <p:cNvSpPr/>
          <p:nvPr/>
        </p:nvSpPr>
        <p:spPr>
          <a:xfrm>
            <a:off x="8311896" y="3383280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00" b="1">
                <a:solidFill>
                  <a:srgbClr val="C0392B"/>
                </a:solidFill>
              </a:rPr>
              <a:t>HIGH</a:t>
            </a:r>
            <a:endParaRPr lang="en-US" sz="600"/>
          </a:p>
        </p:txBody>
      </p:sp>
      <p:sp>
        <p:nvSpPr>
          <p:cNvPr id="278" name="Text 278"/>
          <p:cNvSpPr/>
          <p:nvPr/>
        </p:nvSpPr>
        <p:spPr>
          <a:xfrm>
            <a:off x="8787384" y="3355848"/>
            <a:ext cx="2606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>
                <a:solidFill>
                  <a:srgbClr val="1F3D6B"/>
                </a:solidFill>
              </a:rPr>
              <a:t>AOV -12.4% vs last week</a:t>
            </a:r>
            <a:endParaRPr lang="en-US" sz="750"/>
          </a:p>
        </p:txBody>
      </p:sp>
      <p:sp>
        <p:nvSpPr>
          <p:cNvPr id="279" name="Text 279"/>
          <p:cNvSpPr/>
          <p:nvPr/>
        </p:nvSpPr>
        <p:spPr>
          <a:xfrm>
            <a:off x="8787384" y="3520440"/>
            <a:ext cx="2606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50" b="0">
                <a:solidFill>
                  <a:srgbClr val="8A94A6"/>
                </a:solidFill>
              </a:rPr>
              <a:t>Beauty category, HCMC · review pricing</a:t>
            </a:r>
            <a:endParaRPr lang="en-US" sz="650"/>
          </a:p>
        </p:txBody>
      </p:sp>
      <p:sp>
        <p:nvSpPr>
          <p:cNvPr id="280" name="Shape 280"/>
          <p:cNvSpPr/>
          <p:nvPr/>
        </p:nvSpPr>
        <p:spPr>
          <a:xfrm>
            <a:off x="8211312" y="3749040"/>
            <a:ext cx="3236976" cy="384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1" name="Shape 281"/>
          <p:cNvSpPr/>
          <p:nvPr/>
        </p:nvSpPr>
        <p:spPr>
          <a:xfrm>
            <a:off x="8211312" y="3749040"/>
            <a:ext cx="36576" cy="384048"/>
          </a:xfrm>
          <a:prstGeom prst="rect">
            <a:avLst/>
          </a:prstGeom>
          <a:solidFill>
            <a:srgbClr val="C77700"/>
          </a:solidFill>
          <a:ln w="6350">
            <a:solidFill>
              <a:srgbClr val="C77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2" name="Shape 282"/>
          <p:cNvSpPr/>
          <p:nvPr/>
        </p:nvSpPr>
        <p:spPr>
          <a:xfrm>
            <a:off x="8311896" y="3803904"/>
            <a:ext cx="420624" cy="146304"/>
          </a:xfrm>
          <a:prstGeom prst="roundRect">
            <a:avLst>
              <a:gd name="adj" fmla="val 25000"/>
            </a:avLst>
          </a:prstGeom>
          <a:solidFill>
            <a:srgbClr val="FDF3E3"/>
          </a:solidFill>
          <a:ln w="12700">
            <a:solidFill>
              <a:srgbClr val="FDF3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3" name="Text 283"/>
          <p:cNvSpPr/>
          <p:nvPr/>
        </p:nvSpPr>
        <p:spPr>
          <a:xfrm>
            <a:off x="8311896" y="3822192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00" b="1">
                <a:solidFill>
                  <a:srgbClr val="C77700"/>
                </a:solidFill>
              </a:rPr>
              <a:t>MED</a:t>
            </a:r>
            <a:endParaRPr lang="en-US" sz="600"/>
          </a:p>
        </p:txBody>
      </p:sp>
      <p:sp>
        <p:nvSpPr>
          <p:cNvPr id="284" name="Text 284"/>
          <p:cNvSpPr/>
          <p:nvPr/>
        </p:nvSpPr>
        <p:spPr>
          <a:xfrm>
            <a:off x="8787384" y="3794760"/>
            <a:ext cx="2606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>
                <a:solidFill>
                  <a:srgbClr val="1F3D6B"/>
                </a:solidFill>
              </a:rPr>
              <a:t>Da Nang traffic spike +38%</a:t>
            </a:r>
            <a:endParaRPr lang="en-US" sz="750"/>
          </a:p>
        </p:txBody>
      </p:sp>
      <p:sp>
        <p:nvSpPr>
          <p:cNvPr id="285" name="Text 285"/>
          <p:cNvSpPr/>
          <p:nvPr/>
        </p:nvSpPr>
        <p:spPr>
          <a:xfrm>
            <a:off x="8787384" y="3959352"/>
            <a:ext cx="2606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50" b="0">
                <a:solidFill>
                  <a:srgbClr val="8A94A6"/>
                </a:solidFill>
              </a:rPr>
              <a:t>Verify campaign or duplicated records</a:t>
            </a:r>
            <a:endParaRPr lang="en-US" sz="650"/>
          </a:p>
        </p:txBody>
      </p:sp>
      <p:sp>
        <p:nvSpPr>
          <p:cNvPr id="286" name="Shape 286"/>
          <p:cNvSpPr/>
          <p:nvPr/>
        </p:nvSpPr>
        <p:spPr>
          <a:xfrm>
            <a:off x="8211312" y="4187952"/>
            <a:ext cx="3236976" cy="384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7" name="Shape 287"/>
          <p:cNvSpPr/>
          <p:nvPr/>
        </p:nvSpPr>
        <p:spPr>
          <a:xfrm>
            <a:off x="8211312" y="4187952"/>
            <a:ext cx="36576" cy="384048"/>
          </a:xfrm>
          <a:prstGeom prst="rect">
            <a:avLst/>
          </a:prstGeom>
          <a:solidFill>
            <a:srgbClr val="2E5FA3"/>
          </a:solidFill>
          <a:ln w="635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8" name="Shape 288"/>
          <p:cNvSpPr/>
          <p:nvPr/>
        </p:nvSpPr>
        <p:spPr>
          <a:xfrm>
            <a:off x="8311896" y="4242816"/>
            <a:ext cx="420624" cy="146304"/>
          </a:xfrm>
          <a:prstGeom prst="roundRect">
            <a:avLst>
              <a:gd name="adj" fmla="val 25000"/>
            </a:avLst>
          </a:prstGeom>
          <a:solidFill>
            <a:srgbClr val="E8F0FA"/>
          </a:solidFill>
          <a:ln w="12700">
            <a:solidFill>
              <a:srgbClr val="E8F0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9" name="Text 289"/>
          <p:cNvSpPr/>
          <p:nvPr/>
        </p:nvSpPr>
        <p:spPr>
          <a:xfrm>
            <a:off x="8311896" y="4261104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00" b="1">
                <a:solidFill>
                  <a:srgbClr val="2E5FA3"/>
                </a:solidFill>
              </a:rPr>
              <a:t>INFO</a:t>
            </a:r>
            <a:endParaRPr lang="en-US" sz="600"/>
          </a:p>
        </p:txBody>
      </p:sp>
      <p:sp>
        <p:nvSpPr>
          <p:cNvPr id="290" name="Text 290"/>
          <p:cNvSpPr/>
          <p:nvPr/>
        </p:nvSpPr>
        <p:spPr>
          <a:xfrm>
            <a:off x="8787384" y="4233672"/>
            <a:ext cx="2606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>
                <a:solidFill>
                  <a:srgbClr val="1F3D6B"/>
                </a:solidFill>
              </a:rPr>
              <a:t>New member share +2.8pt</a:t>
            </a:r>
            <a:endParaRPr lang="en-US" sz="750"/>
          </a:p>
        </p:txBody>
      </p:sp>
      <p:sp>
        <p:nvSpPr>
          <p:cNvPr id="291" name="Text 291"/>
          <p:cNvSpPr/>
          <p:nvPr/>
        </p:nvSpPr>
        <p:spPr>
          <a:xfrm>
            <a:off x="8787384" y="4398264"/>
            <a:ext cx="2606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50" b="0">
                <a:solidFill>
                  <a:srgbClr val="8A94A6"/>
                </a:solidFill>
              </a:rPr>
              <a:t>Driven by the 20-29 age group</a:t>
            </a:r>
            <a:endParaRPr lang="en-US" sz="650"/>
          </a:p>
        </p:txBody>
      </p:sp>
      <p:sp>
        <p:nvSpPr>
          <p:cNvPr id="292" name="Text 292"/>
          <p:cNvSpPr/>
          <p:nvPr/>
        </p:nvSpPr>
        <p:spPr>
          <a:xfrm>
            <a:off x="8211312" y="4663440"/>
            <a:ext cx="32369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50" b="0">
                <a:solidFill>
                  <a:srgbClr val="8A94A6"/>
                </a:solidFill>
              </a:rPr>
              <a:t>Click an alert → opens L2 with the filter applied</a:t>
            </a:r>
            <a:endParaRPr lang="en-US" sz="650"/>
          </a:p>
        </p:txBody>
      </p:sp>
      <p:sp>
        <p:nvSpPr>
          <p:cNvPr id="8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8016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794">
                <a:solidFill>
                  <a:srgbClr val="8B95A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  <p:sp>
        <p:nvSpPr>
          <p:cNvPr id="101" name="Shape 101"/>
          <p:cNvSpPr/>
          <p:nvPr/>
        </p:nvSpPr>
        <p:spPr>
          <a:xfrm>
            <a:off x="2002536" y="1806552"/>
            <a:ext cx="182880" cy="182880"/>
          </a:xfrm>
          <a:prstGeom prst="ellipse">
            <a:avLst/>
          </a:prstGeom>
          <a:noFill/>
          <a:ln w="7620">
            <a:solidFill>
              <a:srgbClr val="B4C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 102"/>
          <p:cNvSpPr/>
          <p:nvPr/>
        </p:nvSpPr>
        <p:spPr>
          <a:xfrm>
            <a:off x="2002536" y="1806552"/>
            <a:ext cx="1828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6B7C93"/>
                </a:solidFill>
              </a:rPr>
              <a:t>i</a:t>
            </a:r>
            <a:endParaRPr lang="en-US" sz="900"/>
          </a:p>
        </p:txBody>
      </p:sp>
      <p:sp>
        <p:nvSpPr>
          <p:cNvPr id="103" name="Shape 103"/>
          <p:cNvSpPr/>
          <p:nvPr/>
        </p:nvSpPr>
        <p:spPr>
          <a:xfrm>
            <a:off x="3913632" y="1806552"/>
            <a:ext cx="182880" cy="182880"/>
          </a:xfrm>
          <a:prstGeom prst="ellipse">
            <a:avLst/>
          </a:prstGeom>
          <a:noFill/>
          <a:ln w="7620">
            <a:solidFill>
              <a:srgbClr val="B4C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Text 104"/>
          <p:cNvSpPr/>
          <p:nvPr/>
        </p:nvSpPr>
        <p:spPr>
          <a:xfrm>
            <a:off x="3913632" y="1806552"/>
            <a:ext cx="1828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6B7C93"/>
                </a:solidFill>
              </a:rPr>
              <a:t>i</a:t>
            </a:r>
            <a:endParaRPr lang="en-US" sz="900"/>
          </a:p>
        </p:txBody>
      </p:sp>
      <p:sp>
        <p:nvSpPr>
          <p:cNvPr id="105" name="Shape 105"/>
          <p:cNvSpPr/>
          <p:nvPr/>
        </p:nvSpPr>
        <p:spPr>
          <a:xfrm>
            <a:off x="5824728" y="1806552"/>
            <a:ext cx="182880" cy="182880"/>
          </a:xfrm>
          <a:prstGeom prst="ellipse">
            <a:avLst/>
          </a:prstGeom>
          <a:noFill/>
          <a:ln w="7620">
            <a:solidFill>
              <a:srgbClr val="B4C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Text 106"/>
          <p:cNvSpPr/>
          <p:nvPr/>
        </p:nvSpPr>
        <p:spPr>
          <a:xfrm>
            <a:off x="5824728" y="1806552"/>
            <a:ext cx="1828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6B7C93"/>
                </a:solidFill>
              </a:rPr>
              <a:t>i</a:t>
            </a:r>
            <a:endParaRPr lang="en-US" sz="900"/>
          </a:p>
        </p:txBody>
      </p:sp>
      <p:sp>
        <p:nvSpPr>
          <p:cNvPr id="107" name="Shape 107"/>
          <p:cNvSpPr/>
          <p:nvPr/>
        </p:nvSpPr>
        <p:spPr>
          <a:xfrm>
            <a:off x="7735824" y="1806552"/>
            <a:ext cx="182880" cy="182880"/>
          </a:xfrm>
          <a:prstGeom prst="ellipse">
            <a:avLst/>
          </a:prstGeom>
          <a:noFill/>
          <a:ln w="7620">
            <a:solidFill>
              <a:srgbClr val="B4C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Text 108"/>
          <p:cNvSpPr/>
          <p:nvPr/>
        </p:nvSpPr>
        <p:spPr>
          <a:xfrm>
            <a:off x="7735824" y="1806552"/>
            <a:ext cx="1828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6B7C93"/>
                </a:solidFill>
              </a:rPr>
              <a:t>i</a:t>
            </a:r>
            <a:endParaRPr lang="en-US" sz="900"/>
          </a:p>
        </p:txBody>
      </p:sp>
      <p:sp>
        <p:nvSpPr>
          <p:cNvPr id="109" name="Shape 109"/>
          <p:cNvSpPr/>
          <p:nvPr/>
        </p:nvSpPr>
        <p:spPr>
          <a:xfrm>
            <a:off x="9646920" y="1806552"/>
            <a:ext cx="182880" cy="182880"/>
          </a:xfrm>
          <a:prstGeom prst="ellipse">
            <a:avLst/>
          </a:prstGeom>
          <a:noFill/>
          <a:ln w="7620">
            <a:solidFill>
              <a:srgbClr val="B4C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Text 110"/>
          <p:cNvSpPr/>
          <p:nvPr/>
        </p:nvSpPr>
        <p:spPr>
          <a:xfrm>
            <a:off x="9646920" y="1806552"/>
            <a:ext cx="1828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6B7C93"/>
                </a:solidFill>
              </a:rPr>
              <a:t>i</a:t>
            </a:r>
            <a:endParaRPr lang="en-US" sz="900"/>
          </a:p>
        </p:txBody>
      </p:sp>
      <p:sp>
        <p:nvSpPr>
          <p:cNvPr id="111" name="Shape 111"/>
          <p:cNvSpPr/>
          <p:nvPr/>
        </p:nvSpPr>
        <p:spPr>
          <a:xfrm>
            <a:off x="11558016" y="1806552"/>
            <a:ext cx="182880" cy="182880"/>
          </a:xfrm>
          <a:prstGeom prst="ellipse">
            <a:avLst/>
          </a:prstGeom>
          <a:noFill/>
          <a:ln w="7620">
            <a:solidFill>
              <a:srgbClr val="B4C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Text 112"/>
          <p:cNvSpPr/>
          <p:nvPr/>
        </p:nvSpPr>
        <p:spPr>
          <a:xfrm>
            <a:off x="11558016" y="1806552"/>
            <a:ext cx="1828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6B7C93"/>
                </a:solidFill>
              </a:rPr>
              <a:t>i</a:t>
            </a:r>
            <a:endParaRPr lang="en-US" sz="900"/>
          </a:p>
        </p:txBody>
      </p:sp>
      <p:sp>
        <p:nvSpPr>
          <p:cNvPr id="113" name="Shape 113"/>
          <p:cNvSpPr/>
          <p:nvPr/>
        </p:nvSpPr>
        <p:spPr>
          <a:xfrm>
            <a:off x="594360" y="4980000"/>
            <a:ext cx="11247120" cy="1200000"/>
          </a:xfrm>
          <a:prstGeom prst="roundRect">
            <a:avLst>
              <a:gd name="adj" fmla="val 4000"/>
            </a:avLst>
          </a:prstGeom>
          <a:solidFill>
            <a:srgbClr val="F6F8FB"/>
          </a:solidFill>
          <a:ln w="7620">
            <a:solidFill>
              <a:srgbClr val="D8E1EA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4" name="Shape 114"/>
          <p:cNvSpPr/>
          <p:nvPr/>
        </p:nvSpPr>
        <p:spPr>
          <a:xfrm>
            <a:off x="594360" y="4980000"/>
            <a:ext cx="45720" cy="1200000"/>
          </a:xfrm>
          <a:prstGeom prst="rect">
            <a:avLst/>
          </a:prstGeom>
          <a:solidFill>
            <a:srgbClr val="2E5F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5" name="Text 115"/>
          <p:cNvSpPr/>
          <p:nvPr/>
        </p:nvSpPr>
        <p:spPr>
          <a:xfrm>
            <a:off x="713232" y="5062296"/>
            <a:ext cx="60000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86" b="1">
                <a:solidFill>
                  <a:srgbClr val="1F3D6B"/>
                </a:solidFill>
              </a:rPr>
              <a:t>Hover Tooltip · Metric Definition</a:t>
            </a:r>
            <a:endParaRPr lang="en-US" sz="1286"/>
          </a:p>
        </p:txBody>
      </p:sp>
      <p:sp>
        <p:nvSpPr>
          <p:cNvPr id="116" name="Text 116"/>
          <p:cNvSpPr/>
          <p:nvPr/>
        </p:nvSpPr>
        <p:spPr>
          <a:xfrm>
            <a:off x="713232" y="5300000"/>
            <a:ext cx="10900000" cy="780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31">
                <a:solidFill>
                  <a:srgbClr val="4A5568"/>
                </a:solidFill>
              </a:rPr>
              <a:t>Purchasing Members — Unique members with at least one purchase in the selected period.</a:t>
            </a:r>
            <a:endParaRPr lang="en-US" sz="1031"/>
          </a:p>
          <a:p>
            <a:pPr marL="0" indent="0">
              <a:buNone/>
            </a:pPr>
            <a:r>
              <a:rPr lang="en-US" sz="1031">
                <a:solidFill>
                  <a:srgbClr val="4A5568"/>
                </a:solidFill>
              </a:rPr>
              <a:t>Formula: uniq(member_id) where transactions &gt; 0   ·   Source: agg_segment_daily   ·   Updated daily 06:00 ICT</a:t>
            </a:r>
            <a:endParaRPr lang="en-US" sz="1031"/>
          </a:p>
          <a:p>
            <a:pPr marL="0" indent="0">
              <a:buNone/>
            </a:pPr>
            <a:r>
              <a:rPr lang="en-US" sz="1031">
                <a:solidFill>
                  <a:srgbClr val="4A5568"/>
                </a:solidFill>
              </a:rPr>
              <a:t>Every KPI card, chart title, and table column exposes the same definition on hover.</a:t>
            </a:r>
            <a:endParaRPr lang="en-US" sz="103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0AD440-C160-762E-0E83-4EC55DD08609}"/>
              </a:ext>
            </a:extLst>
          </p:cNvPr>
          <p:cNvSpPr txBox="1"/>
          <p:nvPr/>
        </p:nvSpPr>
        <p:spPr>
          <a:xfrm>
            <a:off x="502920" y="1670180"/>
            <a:ext cx="1856232" cy="1031873"/>
          </a:xfrm>
          <a:prstGeom prst="rect">
            <a:avLst/>
          </a:prstGeom>
          <a:noFill/>
          <a:ln w="25400">
            <a:solidFill>
              <a:srgbClr val="FF0000"/>
            </a:solidFill>
            <a:prstDash val="solid"/>
          </a:ln>
        </p:spPr>
        <p:txBody>
          <a:bodyPr wrap="square" lIns="36000" tIns="36000" rIns="36000" bIns="36000" rtlCol="0">
            <a:noAutofit/>
          </a:bodyPr>
          <a:lstStyle/>
          <a:p>
            <a:pPr algn="l"/>
            <a:endParaRPr lang="en-US" sz="16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AE5997A-0CD0-12E8-0123-C0377E0F153D}"/>
              </a:ext>
            </a:extLst>
          </p:cNvPr>
          <p:cNvSpPr txBox="1"/>
          <p:nvPr/>
        </p:nvSpPr>
        <p:spPr>
          <a:xfrm>
            <a:off x="458634" y="2817751"/>
            <a:ext cx="11337126" cy="2162249"/>
          </a:xfrm>
          <a:prstGeom prst="rect">
            <a:avLst/>
          </a:prstGeom>
          <a:noFill/>
          <a:ln w="25400">
            <a:solidFill>
              <a:srgbClr val="FF0000"/>
            </a:solidFill>
            <a:prstDash val="solid"/>
          </a:ln>
        </p:spPr>
        <p:txBody>
          <a:bodyPr wrap="square" lIns="36000" tIns="36000" rIns="36000" bIns="36000" rtlCol="0">
            <a:noAutofit/>
          </a:bodyPr>
          <a:lstStyle/>
          <a:p>
            <a:pPr algn="l"/>
            <a:endParaRPr lang="en-US" sz="16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42" b="1">
                <a:solidFill>
                  <a:srgbClr val="1F3D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L1 · Merchant Insight Overview — Net Sales selected</a:t>
            </a:r>
            <a:endParaRPr lang="en-US" sz="2542"/>
          </a:p>
        </p:txBody>
      </p:sp>
      <p:sp>
        <p:nvSpPr>
          <p:cNvPr id="3" name="Text 1"/>
          <p:cNvSpPr/>
          <p:nvPr/>
        </p:nvSpPr>
        <p:spPr>
          <a:xfrm>
            <a:off x="274320" y="502920"/>
            <a:ext cx="11521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6">
                <a:solidFill>
                  <a:srgbClr val="4A5568"/>
                </a:solidFill>
              </a:rPr>
              <a:t>Clicking the Net Sales KPI card refreshes the whole panel row to the Net Sales context before moving to L2.</a:t>
            </a:r>
            <a:endParaRPr lang="en-US" sz="1076"/>
          </a:p>
        </p:txBody>
      </p:sp>
      <p:sp>
        <p:nvSpPr>
          <p:cNvPr id="5" name="Shape 2"/>
          <p:cNvSpPr/>
          <p:nvPr/>
        </p:nvSpPr>
        <p:spPr>
          <a:xfrm>
            <a:off x="320040" y="1056456"/>
            <a:ext cx="11567160" cy="5349240"/>
          </a:xfrm>
          <a:prstGeom prst="roundRect">
            <a:avLst>
              <a:gd name="adj" fmla="val 1026"/>
            </a:avLst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320040" y="1056456"/>
            <a:ext cx="11567160" cy="411480"/>
          </a:xfrm>
          <a:prstGeom prst="rect">
            <a:avLst/>
          </a:prstGeom>
          <a:solidFill>
            <a:srgbClr val="1F3D6B"/>
          </a:solidFill>
          <a:ln w="12700">
            <a:solidFill>
              <a:srgbClr val="1F3D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02920" y="117532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1" b="1">
                <a:solidFill>
                  <a:srgbClr val="FFFFFF"/>
                </a:solidFill>
              </a:rPr>
              <a:t>Merchant Insight Dashboard · L1 Overview</a:t>
            </a:r>
            <a:endParaRPr lang="en-US" sz="1121"/>
          </a:p>
        </p:txBody>
      </p:sp>
      <p:sp>
        <p:nvSpPr>
          <p:cNvPr id="8" name="Shape 5"/>
          <p:cNvSpPr/>
          <p:nvPr/>
        </p:nvSpPr>
        <p:spPr>
          <a:xfrm>
            <a:off x="3900000" y="1147896"/>
            <a:ext cx="1205000" cy="2286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936576" y="1198188"/>
            <a:ext cx="11318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7" b="1">
                <a:solidFill>
                  <a:srgbClr val="1F3D6B"/>
                </a:solidFill>
              </a:rPr>
              <a:t>Operation Unit</a:t>
            </a:r>
            <a:endParaRPr lang="en-US" sz="837"/>
          </a:p>
        </p:txBody>
      </p:sp>
      <p:sp>
        <p:nvSpPr>
          <p:cNvPr id="10" name="Shape 7"/>
          <p:cNvSpPr/>
          <p:nvPr/>
        </p:nvSpPr>
        <p:spPr>
          <a:xfrm>
            <a:off x="5176000" y="1147896"/>
            <a:ext cx="1205000" cy="2286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212576" y="1198188"/>
            <a:ext cx="11318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7" b="1">
                <a:solidFill>
                  <a:srgbClr val="1F3D6B"/>
                </a:solidFill>
              </a:rPr>
              <a:t>Store</a:t>
            </a:r>
            <a:endParaRPr lang="en-US" sz="837"/>
          </a:p>
        </p:txBody>
      </p:sp>
      <p:sp>
        <p:nvSpPr>
          <p:cNvPr id="12" name="Shape 9"/>
          <p:cNvSpPr/>
          <p:nvPr/>
        </p:nvSpPr>
        <p:spPr>
          <a:xfrm>
            <a:off x="6452000" y="1147896"/>
            <a:ext cx="1205000" cy="2286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488576" y="1198188"/>
            <a:ext cx="11318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7" b="1">
                <a:solidFill>
                  <a:srgbClr val="1F3D6B"/>
                </a:solidFill>
              </a:rPr>
              <a:t>Business Category</a:t>
            </a:r>
            <a:endParaRPr lang="en-US" sz="837"/>
          </a:p>
        </p:txBody>
      </p:sp>
      <p:sp>
        <p:nvSpPr>
          <p:cNvPr id="14" name="Shape 11"/>
          <p:cNvSpPr/>
          <p:nvPr/>
        </p:nvSpPr>
        <p:spPr>
          <a:xfrm>
            <a:off x="7728000" y="1147896"/>
            <a:ext cx="1205000" cy="2286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764576" y="1198188"/>
            <a:ext cx="11318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7" b="1">
                <a:solidFill>
                  <a:srgbClr val="1F3D6B"/>
                </a:solidFill>
              </a:rPr>
              <a:t>Tenant</a:t>
            </a:r>
            <a:endParaRPr lang="en-US" sz="837"/>
          </a:p>
        </p:txBody>
      </p:sp>
      <p:sp>
        <p:nvSpPr>
          <p:cNvPr id="16" name="Shape 13"/>
          <p:cNvSpPr/>
          <p:nvPr/>
        </p:nvSpPr>
        <p:spPr>
          <a:xfrm>
            <a:off x="9004000" y="1147896"/>
            <a:ext cx="1205000" cy="2286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9040576" y="1198188"/>
            <a:ext cx="11318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7" b="1">
                <a:solidFill>
                  <a:srgbClr val="1F3D6B"/>
                </a:solidFill>
              </a:rPr>
              <a:t>Date Range</a:t>
            </a:r>
            <a:endParaRPr lang="en-US" sz="837"/>
          </a:p>
        </p:txBody>
      </p:sp>
      <p:sp>
        <p:nvSpPr>
          <p:cNvPr id="900" name="Shape 900"/>
          <p:cNvSpPr/>
          <p:nvPr/>
        </p:nvSpPr>
        <p:spPr>
          <a:xfrm>
            <a:off x="10280000" y="1147896"/>
            <a:ext cx="1205000" cy="2286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1" name="Text 901"/>
          <p:cNvSpPr/>
          <p:nvPr/>
        </p:nvSpPr>
        <p:spPr>
          <a:xfrm>
            <a:off x="10316576" y="1198188"/>
            <a:ext cx="11318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7" b="1">
                <a:solidFill>
                  <a:srgbClr val="1F3D6B"/>
                </a:solidFill>
              </a:rPr>
              <a:t>Compare With</a:t>
            </a:r>
            <a:endParaRPr lang="en-US" sz="837"/>
          </a:p>
        </p:txBody>
      </p:sp>
      <p:sp>
        <p:nvSpPr>
          <p:cNvPr id="18" name="Shape 15"/>
          <p:cNvSpPr/>
          <p:nvPr/>
        </p:nvSpPr>
        <p:spPr>
          <a:xfrm>
            <a:off x="594360" y="1742256"/>
            <a:ext cx="1691640" cy="868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7620">
            <a:solidFill>
              <a:srgbClr val="DFE6EF"/>
            </a:solidFill>
            <a:prstDash val="solid"/>
          </a:ln>
          <a:effectLst>
            <a:outerShdw blurRad="12700" dist="635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67512" y="1824552"/>
            <a:ext cx="1545336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971" b="1">
                <a:solidFill>
                  <a:srgbClr val="4A5568"/>
                </a:solidFill>
              </a:rPr>
              <a:t>Purchasing Members</a:t>
            </a:r>
            <a:endParaRPr lang="en-US" sz="971"/>
          </a:p>
        </p:txBody>
      </p:sp>
      <p:sp>
        <p:nvSpPr>
          <p:cNvPr id="20" name="Text 17"/>
          <p:cNvSpPr/>
          <p:nvPr/>
        </p:nvSpPr>
        <p:spPr>
          <a:xfrm>
            <a:off x="667512" y="2053152"/>
            <a:ext cx="154533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2093" b="1">
                <a:solidFill>
                  <a:srgbClr val="1F3D6B"/>
                </a:solidFill>
              </a:rPr>
              <a:t>272K</a:t>
            </a:r>
            <a:endParaRPr lang="en-US" sz="2093"/>
          </a:p>
        </p:txBody>
      </p:sp>
      <p:sp>
        <p:nvSpPr>
          <p:cNvPr id="21" name="Text 18"/>
          <p:cNvSpPr/>
          <p:nvPr/>
        </p:nvSpPr>
        <p:spPr>
          <a:xfrm>
            <a:off x="667512" y="2400624"/>
            <a:ext cx="1545336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913">
                <a:solidFill>
                  <a:srgbClr val="2E7D32"/>
                </a:solidFill>
              </a:rPr>
              <a:t>MoM +8.2%</a:t>
            </a:r>
            <a:endParaRPr lang="en-US" sz="913"/>
          </a:p>
        </p:txBody>
      </p:sp>
      <p:sp>
        <p:nvSpPr>
          <p:cNvPr id="22" name="Shape 19"/>
          <p:cNvSpPr/>
          <p:nvPr/>
        </p:nvSpPr>
        <p:spPr>
          <a:xfrm>
            <a:off x="2505456" y="1742256"/>
            <a:ext cx="1691640" cy="868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7620">
            <a:solidFill>
              <a:srgbClr val="DFE6EF"/>
            </a:solidFill>
            <a:prstDash val="solid"/>
          </a:ln>
          <a:effectLst>
            <a:outerShdw blurRad="12700" dist="635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2578608" y="1824552"/>
            <a:ext cx="1545336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971" b="1">
                <a:solidFill>
                  <a:srgbClr val="4A5568"/>
                </a:solidFill>
              </a:rPr>
              <a:t>Net Sales</a:t>
            </a:r>
            <a:endParaRPr lang="en-US" sz="971"/>
          </a:p>
        </p:txBody>
      </p:sp>
      <p:sp>
        <p:nvSpPr>
          <p:cNvPr id="24" name="Text 21"/>
          <p:cNvSpPr/>
          <p:nvPr/>
        </p:nvSpPr>
        <p:spPr>
          <a:xfrm>
            <a:off x="2578608" y="2053152"/>
            <a:ext cx="154533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2093" b="1">
                <a:solidFill>
                  <a:srgbClr val="1F3D6B"/>
                </a:solidFill>
              </a:rPr>
              <a:t>226M</a:t>
            </a:r>
            <a:endParaRPr lang="en-US" sz="2093"/>
          </a:p>
        </p:txBody>
      </p:sp>
      <p:sp>
        <p:nvSpPr>
          <p:cNvPr id="25" name="Text 22"/>
          <p:cNvSpPr/>
          <p:nvPr/>
        </p:nvSpPr>
        <p:spPr>
          <a:xfrm>
            <a:off x="2578608" y="2400624"/>
            <a:ext cx="1545336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913">
                <a:solidFill>
                  <a:srgbClr val="2E7D32"/>
                </a:solidFill>
              </a:rPr>
              <a:t>MoM +5.6%</a:t>
            </a:r>
            <a:endParaRPr lang="en-US" sz="913"/>
          </a:p>
        </p:txBody>
      </p:sp>
      <p:sp>
        <p:nvSpPr>
          <p:cNvPr id="26" name="Shape 23"/>
          <p:cNvSpPr/>
          <p:nvPr/>
        </p:nvSpPr>
        <p:spPr>
          <a:xfrm>
            <a:off x="4416552" y="1742256"/>
            <a:ext cx="1691640" cy="868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7620">
            <a:solidFill>
              <a:srgbClr val="DFE6EF"/>
            </a:solidFill>
            <a:prstDash val="solid"/>
          </a:ln>
          <a:effectLst>
            <a:outerShdw blurRad="12700" dist="635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4489704" y="1824552"/>
            <a:ext cx="1545336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971" b="1">
                <a:solidFill>
                  <a:srgbClr val="4A5568"/>
                </a:solidFill>
              </a:rPr>
              <a:t>Transactions</a:t>
            </a:r>
            <a:endParaRPr lang="en-US" sz="971"/>
          </a:p>
        </p:txBody>
      </p:sp>
      <p:sp>
        <p:nvSpPr>
          <p:cNvPr id="28" name="Text 25"/>
          <p:cNvSpPr/>
          <p:nvPr/>
        </p:nvSpPr>
        <p:spPr>
          <a:xfrm>
            <a:off x="4489704" y="2053152"/>
            <a:ext cx="154533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2093" b="1">
                <a:solidFill>
                  <a:srgbClr val="1F3D6B"/>
                </a:solidFill>
              </a:rPr>
              <a:t>60K</a:t>
            </a:r>
            <a:endParaRPr lang="en-US" sz="2093"/>
          </a:p>
        </p:txBody>
      </p:sp>
      <p:sp>
        <p:nvSpPr>
          <p:cNvPr id="29" name="Text 26"/>
          <p:cNvSpPr/>
          <p:nvPr/>
        </p:nvSpPr>
        <p:spPr>
          <a:xfrm>
            <a:off x="4489704" y="2400624"/>
            <a:ext cx="1545336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913">
                <a:solidFill>
                  <a:srgbClr val="2E7D32"/>
                </a:solidFill>
              </a:rPr>
              <a:t>MoM +10.4%</a:t>
            </a:r>
            <a:endParaRPr lang="en-US" sz="913"/>
          </a:p>
        </p:txBody>
      </p:sp>
      <p:sp>
        <p:nvSpPr>
          <p:cNvPr id="30" name="Shape 27"/>
          <p:cNvSpPr/>
          <p:nvPr/>
        </p:nvSpPr>
        <p:spPr>
          <a:xfrm>
            <a:off x="6327648" y="1742256"/>
            <a:ext cx="1691640" cy="868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7620">
            <a:solidFill>
              <a:srgbClr val="DFE6EF"/>
            </a:solidFill>
            <a:prstDash val="solid"/>
          </a:ln>
          <a:effectLst>
            <a:outerShdw blurRad="12700" dist="635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6400800" y="1824552"/>
            <a:ext cx="1545336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971" b="1">
                <a:solidFill>
                  <a:srgbClr val="4A5568"/>
                </a:solidFill>
              </a:rPr>
              <a:t>AOV</a:t>
            </a:r>
            <a:endParaRPr lang="en-US" sz="971"/>
          </a:p>
        </p:txBody>
      </p:sp>
      <p:sp>
        <p:nvSpPr>
          <p:cNvPr id="32" name="Text 29"/>
          <p:cNvSpPr/>
          <p:nvPr/>
        </p:nvSpPr>
        <p:spPr>
          <a:xfrm>
            <a:off x="6400800" y="2053152"/>
            <a:ext cx="154533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2093" b="1">
                <a:solidFill>
                  <a:srgbClr val="1F3D6B"/>
                </a:solidFill>
              </a:rPr>
              <a:t>375K</a:t>
            </a:r>
            <a:endParaRPr lang="en-US" sz="2093"/>
          </a:p>
        </p:txBody>
      </p:sp>
      <p:sp>
        <p:nvSpPr>
          <p:cNvPr id="33" name="Text 30"/>
          <p:cNvSpPr/>
          <p:nvPr/>
        </p:nvSpPr>
        <p:spPr>
          <a:xfrm>
            <a:off x="6400800" y="2400624"/>
            <a:ext cx="1545336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913">
                <a:solidFill>
                  <a:srgbClr val="C0392B"/>
                </a:solidFill>
              </a:rPr>
              <a:t>MoM -1.2%</a:t>
            </a:r>
            <a:endParaRPr lang="en-US" sz="913"/>
          </a:p>
        </p:txBody>
      </p:sp>
      <p:sp>
        <p:nvSpPr>
          <p:cNvPr id="34" name="Shape 31"/>
          <p:cNvSpPr/>
          <p:nvPr/>
        </p:nvSpPr>
        <p:spPr>
          <a:xfrm>
            <a:off x="8238744" y="1742256"/>
            <a:ext cx="1691640" cy="868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7620">
            <a:solidFill>
              <a:srgbClr val="DFE6EF"/>
            </a:solidFill>
            <a:prstDash val="solid"/>
          </a:ln>
          <a:effectLst>
            <a:outerShdw blurRad="12700" dist="635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8311896" y="1824552"/>
            <a:ext cx="1545336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971" b="1">
                <a:solidFill>
                  <a:srgbClr val="4A5568"/>
                </a:solidFill>
              </a:rPr>
              <a:t>New Member %</a:t>
            </a:r>
            <a:endParaRPr lang="en-US" sz="971"/>
          </a:p>
        </p:txBody>
      </p:sp>
      <p:sp>
        <p:nvSpPr>
          <p:cNvPr id="36" name="Text 33"/>
          <p:cNvSpPr/>
          <p:nvPr/>
        </p:nvSpPr>
        <p:spPr>
          <a:xfrm>
            <a:off x="8311896" y="2053152"/>
            <a:ext cx="154533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2093" b="1">
                <a:solidFill>
                  <a:srgbClr val="1F3D6B"/>
                </a:solidFill>
              </a:rPr>
              <a:t>31%</a:t>
            </a:r>
            <a:endParaRPr lang="en-US" sz="2093"/>
          </a:p>
        </p:txBody>
      </p:sp>
      <p:sp>
        <p:nvSpPr>
          <p:cNvPr id="37" name="Text 34"/>
          <p:cNvSpPr/>
          <p:nvPr/>
        </p:nvSpPr>
        <p:spPr>
          <a:xfrm>
            <a:off x="8311896" y="2400624"/>
            <a:ext cx="1545336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913">
                <a:solidFill>
                  <a:srgbClr val="2E7D32"/>
                </a:solidFill>
              </a:rPr>
              <a:t>MoM +2.8pt</a:t>
            </a:r>
            <a:endParaRPr lang="en-US" sz="913"/>
          </a:p>
        </p:txBody>
      </p:sp>
      <p:sp>
        <p:nvSpPr>
          <p:cNvPr id="38" name="Shape 35"/>
          <p:cNvSpPr/>
          <p:nvPr/>
        </p:nvSpPr>
        <p:spPr>
          <a:xfrm>
            <a:off x="10149840" y="1742256"/>
            <a:ext cx="1691640" cy="868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7620">
            <a:solidFill>
              <a:srgbClr val="DFE6EF"/>
            </a:solidFill>
            <a:prstDash val="solid"/>
          </a:ln>
          <a:effectLst>
            <a:outerShdw blurRad="12700" dist="635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10222992" y="1824552"/>
            <a:ext cx="1545336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971" b="1">
                <a:solidFill>
                  <a:srgbClr val="4A5568"/>
                </a:solidFill>
              </a:rPr>
              <a:t>Repeat Ratio</a:t>
            </a:r>
            <a:endParaRPr lang="en-US" sz="971"/>
          </a:p>
        </p:txBody>
      </p:sp>
      <p:sp>
        <p:nvSpPr>
          <p:cNvPr id="40" name="Text 37"/>
          <p:cNvSpPr/>
          <p:nvPr/>
        </p:nvSpPr>
        <p:spPr>
          <a:xfrm>
            <a:off x="10222992" y="2053152"/>
            <a:ext cx="154533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2093" b="1">
                <a:solidFill>
                  <a:srgbClr val="1F3D6B"/>
                </a:solidFill>
              </a:rPr>
              <a:t>46%</a:t>
            </a:r>
            <a:endParaRPr lang="en-US" sz="2093"/>
          </a:p>
        </p:txBody>
      </p:sp>
      <p:sp>
        <p:nvSpPr>
          <p:cNvPr id="41" name="Text 38"/>
          <p:cNvSpPr/>
          <p:nvPr/>
        </p:nvSpPr>
        <p:spPr>
          <a:xfrm>
            <a:off x="10222992" y="2400624"/>
            <a:ext cx="1545336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913">
                <a:solidFill>
                  <a:srgbClr val="2E7D32"/>
                </a:solidFill>
              </a:rPr>
              <a:t>MoM +1.4pt</a:t>
            </a:r>
            <a:endParaRPr lang="en-US" sz="913"/>
          </a:p>
        </p:txBody>
      </p:sp>
      <p:sp>
        <p:nvSpPr>
          <p:cNvPr id="401" name="Shape 401"/>
          <p:cNvSpPr/>
          <p:nvPr/>
        </p:nvSpPr>
        <p:spPr>
          <a:xfrm>
            <a:off x="594360" y="2935224"/>
            <a:ext cx="3474720" cy="1874520"/>
          </a:xfrm>
          <a:prstGeom prst="roundRect">
            <a:avLst>
              <a:gd name="adj" fmla="val 4000"/>
            </a:avLst>
          </a:prstGeom>
          <a:solidFill>
            <a:srgbClr val="F6F8FB"/>
          </a:solidFill>
          <a:ln w="7620">
            <a:solidFill>
              <a:srgbClr val="D8E1EA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2" name="Shape 402"/>
          <p:cNvSpPr/>
          <p:nvPr/>
        </p:nvSpPr>
        <p:spPr>
          <a:xfrm>
            <a:off x="594360" y="2935224"/>
            <a:ext cx="45720" cy="1874520"/>
          </a:xfrm>
          <a:prstGeom prst="rect">
            <a:avLst/>
          </a:prstGeom>
          <a:solidFill>
            <a:srgbClr val="D02C8C"/>
          </a:solidFill>
          <a:ln w="12700">
            <a:solidFill>
              <a:srgbClr val="D02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3" name="Shape 403"/>
          <p:cNvSpPr/>
          <p:nvPr/>
        </p:nvSpPr>
        <p:spPr>
          <a:xfrm>
            <a:off x="4343400" y="2935224"/>
            <a:ext cx="3474720" cy="1874520"/>
          </a:xfrm>
          <a:prstGeom prst="roundRect">
            <a:avLst>
              <a:gd name="adj" fmla="val 4000"/>
            </a:avLst>
          </a:prstGeom>
          <a:solidFill>
            <a:srgbClr val="F6F8FB"/>
          </a:solidFill>
          <a:ln w="7620">
            <a:solidFill>
              <a:srgbClr val="D8E1EA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4" name="Shape 404"/>
          <p:cNvSpPr/>
          <p:nvPr/>
        </p:nvSpPr>
        <p:spPr>
          <a:xfrm>
            <a:off x="4343400" y="2935224"/>
            <a:ext cx="45720" cy="1874520"/>
          </a:xfrm>
          <a:prstGeom prst="rect">
            <a:avLst/>
          </a:prstGeom>
          <a:solidFill>
            <a:srgbClr val="D02C8C"/>
          </a:solidFill>
          <a:ln w="12700">
            <a:solidFill>
              <a:srgbClr val="D02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5" name="Shape 405"/>
          <p:cNvSpPr/>
          <p:nvPr/>
        </p:nvSpPr>
        <p:spPr>
          <a:xfrm>
            <a:off x="8092440" y="2935224"/>
            <a:ext cx="3474720" cy="1874520"/>
          </a:xfrm>
          <a:prstGeom prst="roundRect">
            <a:avLst>
              <a:gd name="adj" fmla="val 4000"/>
            </a:avLst>
          </a:prstGeom>
          <a:solidFill>
            <a:srgbClr val="F6F8FB"/>
          </a:solidFill>
          <a:ln w="7620">
            <a:solidFill>
              <a:srgbClr val="D8E1EA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6" name="Shape 406"/>
          <p:cNvSpPr/>
          <p:nvPr/>
        </p:nvSpPr>
        <p:spPr>
          <a:xfrm>
            <a:off x="8092440" y="2935224"/>
            <a:ext cx="45720" cy="1874520"/>
          </a:xfrm>
          <a:prstGeom prst="rect">
            <a:avLst/>
          </a:prstGeom>
          <a:solidFill>
            <a:srgbClr val="D02C8C"/>
          </a:solidFill>
          <a:ln w="12700">
            <a:solidFill>
              <a:srgbClr val="D02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7" name="Text 407"/>
          <p:cNvSpPr/>
          <p:nvPr/>
        </p:nvSpPr>
        <p:spPr>
          <a:xfrm>
            <a:off x="713232" y="3017520"/>
            <a:ext cx="3236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>
                <a:solidFill>
                  <a:srgbClr val="1F3D6B"/>
                </a:solidFill>
              </a:rPr>
              <a:t>KPI Trend Entry</a:t>
            </a:r>
            <a:endParaRPr lang="en-US" sz="1050"/>
          </a:p>
        </p:txBody>
      </p:sp>
      <p:sp>
        <p:nvSpPr>
          <p:cNvPr id="408" name="Text 408"/>
          <p:cNvSpPr/>
          <p:nvPr/>
        </p:nvSpPr>
        <p:spPr>
          <a:xfrm>
            <a:off x="713232" y="3227832"/>
            <a:ext cx="32369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b="0">
                <a:solidFill>
                  <a:srgbClr val="D02C8C"/>
                </a:solidFill>
              </a:rPr>
              <a:t>Net Sales · selected</a:t>
            </a:r>
            <a:endParaRPr lang="en-US" sz="750"/>
          </a:p>
        </p:txBody>
      </p:sp>
      <p:sp>
        <p:nvSpPr>
          <p:cNvPr id="409" name="Text 409"/>
          <p:cNvSpPr/>
          <p:nvPr/>
        </p:nvSpPr>
        <p:spPr>
          <a:xfrm>
            <a:off x="4462272" y="3017520"/>
            <a:ext cx="3236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>
                <a:solidFill>
                  <a:srgbClr val="1F3D6B"/>
                </a:solidFill>
              </a:rPr>
              <a:t>Key Movement by Segment</a:t>
            </a:r>
            <a:endParaRPr lang="en-US" sz="1050"/>
          </a:p>
        </p:txBody>
      </p:sp>
      <p:sp>
        <p:nvSpPr>
          <p:cNvPr id="410" name="Text 410"/>
          <p:cNvSpPr/>
          <p:nvPr/>
        </p:nvSpPr>
        <p:spPr>
          <a:xfrm>
            <a:off x="4462272" y="3227832"/>
            <a:ext cx="32369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b="0">
                <a:solidFill>
                  <a:srgbClr val="8A94A6"/>
                </a:solidFill>
              </a:rPr>
              <a:t>Net Sales movers · MoM change</a:t>
            </a:r>
            <a:endParaRPr lang="en-US" sz="750"/>
          </a:p>
        </p:txBody>
      </p:sp>
      <p:sp>
        <p:nvSpPr>
          <p:cNvPr id="411" name="Text 411"/>
          <p:cNvSpPr/>
          <p:nvPr/>
        </p:nvSpPr>
        <p:spPr>
          <a:xfrm>
            <a:off x="8211312" y="3017520"/>
            <a:ext cx="3236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>
                <a:solidFill>
                  <a:srgbClr val="1F3D6B"/>
                </a:solidFill>
              </a:rPr>
              <a:t>Actionable Alerts</a:t>
            </a:r>
            <a:endParaRPr lang="en-US" sz="1050"/>
          </a:p>
        </p:txBody>
      </p:sp>
      <p:sp>
        <p:nvSpPr>
          <p:cNvPr id="412" name="Text 412"/>
          <p:cNvSpPr/>
          <p:nvPr/>
        </p:nvSpPr>
        <p:spPr>
          <a:xfrm>
            <a:off x="8211312" y="3227832"/>
            <a:ext cx="32369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b="0">
                <a:solidFill>
                  <a:srgbClr val="8A94A6"/>
                </a:solidFill>
              </a:rPr>
              <a:t>Net Sales alerts · last 24 hours</a:t>
            </a:r>
            <a:endParaRPr lang="en-US" sz="750"/>
          </a:p>
        </p:txBody>
      </p:sp>
      <p:sp>
        <p:nvSpPr>
          <p:cNvPr id="413" name="Shape 413"/>
          <p:cNvSpPr/>
          <p:nvPr/>
        </p:nvSpPr>
        <p:spPr>
          <a:xfrm>
            <a:off x="2395728" y="3191256"/>
            <a:ext cx="475488" cy="19202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CF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4" name="Text 414"/>
          <p:cNvSpPr/>
          <p:nvPr/>
        </p:nvSpPr>
        <p:spPr>
          <a:xfrm>
            <a:off x="2395728" y="3218688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>
                <a:solidFill>
                  <a:srgbClr val="4A5568"/>
                </a:solidFill>
              </a:rPr>
              <a:t>Daily</a:t>
            </a:r>
            <a:endParaRPr lang="en-US" sz="700"/>
          </a:p>
        </p:txBody>
      </p:sp>
      <p:sp>
        <p:nvSpPr>
          <p:cNvPr id="415" name="Shape 415"/>
          <p:cNvSpPr/>
          <p:nvPr/>
        </p:nvSpPr>
        <p:spPr>
          <a:xfrm>
            <a:off x="2898648" y="3191256"/>
            <a:ext cx="548640" cy="19202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CF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6" name="Text 416"/>
          <p:cNvSpPr/>
          <p:nvPr/>
        </p:nvSpPr>
        <p:spPr>
          <a:xfrm>
            <a:off x="2898648" y="3218688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>
                <a:solidFill>
                  <a:srgbClr val="4A5568"/>
                </a:solidFill>
              </a:rPr>
              <a:t>Weekly</a:t>
            </a:r>
            <a:endParaRPr lang="en-US" sz="700"/>
          </a:p>
        </p:txBody>
      </p:sp>
      <p:sp>
        <p:nvSpPr>
          <p:cNvPr id="417" name="Shape 417"/>
          <p:cNvSpPr/>
          <p:nvPr/>
        </p:nvSpPr>
        <p:spPr>
          <a:xfrm>
            <a:off x="3474720" y="3191256"/>
            <a:ext cx="594360" cy="192024"/>
          </a:xfrm>
          <a:prstGeom prst="roundRect">
            <a:avLst>
              <a:gd name="adj" fmla="val 25000"/>
            </a:avLst>
          </a:prstGeom>
          <a:solidFill>
            <a:srgbClr val="2E5FA3"/>
          </a:solidFill>
          <a:ln w="635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8" name="Text 418"/>
          <p:cNvSpPr/>
          <p:nvPr/>
        </p:nvSpPr>
        <p:spPr>
          <a:xfrm>
            <a:off x="3474720" y="3218688"/>
            <a:ext cx="594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>
                <a:solidFill>
                  <a:srgbClr val="FFFFFF"/>
                </a:solidFill>
              </a:rPr>
              <a:t>Monthly</a:t>
            </a:r>
            <a:endParaRPr lang="en-US" sz="700"/>
          </a:p>
        </p:txBody>
      </p:sp>
      <p:sp>
        <p:nvSpPr>
          <p:cNvPr id="419" name="Shape 419"/>
          <p:cNvSpPr/>
          <p:nvPr/>
        </p:nvSpPr>
        <p:spPr>
          <a:xfrm>
            <a:off x="777240" y="3401568"/>
            <a:ext cx="3127248" cy="9326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0" name="Shape 420"/>
          <p:cNvSpPr/>
          <p:nvPr/>
        </p:nvSpPr>
        <p:spPr>
          <a:xfrm>
            <a:off x="822960" y="3634740"/>
            <a:ext cx="3035808" cy="0"/>
          </a:xfrm>
          <a:prstGeom prst="line">
            <a:avLst/>
          </a:prstGeom>
          <a:noFill/>
          <a:ln w="4445">
            <a:solidFill>
              <a:srgbClr val="EDF1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1" name="Shape 421"/>
          <p:cNvSpPr/>
          <p:nvPr/>
        </p:nvSpPr>
        <p:spPr>
          <a:xfrm>
            <a:off x="822960" y="3867912"/>
            <a:ext cx="3035808" cy="0"/>
          </a:xfrm>
          <a:prstGeom prst="line">
            <a:avLst/>
          </a:prstGeom>
          <a:noFill/>
          <a:ln w="4445">
            <a:solidFill>
              <a:srgbClr val="EDF1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2" name="Shape 422"/>
          <p:cNvSpPr/>
          <p:nvPr/>
        </p:nvSpPr>
        <p:spPr>
          <a:xfrm>
            <a:off x="822960" y="4101084"/>
            <a:ext cx="3035808" cy="0"/>
          </a:xfrm>
          <a:prstGeom prst="line">
            <a:avLst/>
          </a:prstGeom>
          <a:noFill/>
          <a:ln w="4445">
            <a:solidFill>
              <a:srgbClr val="EDF1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3" name="Shape 423"/>
          <p:cNvSpPr/>
          <p:nvPr/>
        </p:nvSpPr>
        <p:spPr>
          <a:xfrm flipV="1">
            <a:off x="941832" y="4066520"/>
            <a:ext cx="559613" cy="26335"/>
          </a:xfrm>
          <a:prstGeom prst="line">
            <a:avLst/>
          </a:prstGeom>
          <a:noFill/>
          <a:ln w="12700">
            <a:solidFill>
              <a:srgbClr val="C3CCD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24" name="Shape 424"/>
          <p:cNvSpPr/>
          <p:nvPr/>
        </p:nvSpPr>
        <p:spPr>
          <a:xfrm flipV="1">
            <a:off x="1501445" y="4027018"/>
            <a:ext cx="559613" cy="39502"/>
          </a:xfrm>
          <a:prstGeom prst="line">
            <a:avLst/>
          </a:prstGeom>
          <a:noFill/>
          <a:ln w="12700">
            <a:solidFill>
              <a:srgbClr val="C3CCD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25" name="Shape 425"/>
          <p:cNvSpPr/>
          <p:nvPr/>
        </p:nvSpPr>
        <p:spPr>
          <a:xfrm flipV="1">
            <a:off x="2061058" y="4000683"/>
            <a:ext cx="559613" cy="26335"/>
          </a:xfrm>
          <a:prstGeom prst="line">
            <a:avLst/>
          </a:prstGeom>
          <a:noFill/>
          <a:ln w="12700">
            <a:solidFill>
              <a:srgbClr val="C3CCD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26" name="Shape 426"/>
          <p:cNvSpPr/>
          <p:nvPr/>
        </p:nvSpPr>
        <p:spPr>
          <a:xfrm flipV="1">
            <a:off x="2620670" y="3974348"/>
            <a:ext cx="559613" cy="26335"/>
          </a:xfrm>
          <a:prstGeom prst="line">
            <a:avLst/>
          </a:prstGeom>
          <a:noFill/>
          <a:ln w="12700">
            <a:solidFill>
              <a:srgbClr val="C3CCD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27" name="Shape 427"/>
          <p:cNvSpPr/>
          <p:nvPr/>
        </p:nvSpPr>
        <p:spPr>
          <a:xfrm flipV="1">
            <a:off x="3180283" y="3921679"/>
            <a:ext cx="559613" cy="52669"/>
          </a:xfrm>
          <a:prstGeom prst="line">
            <a:avLst/>
          </a:prstGeom>
          <a:noFill/>
          <a:ln w="12700">
            <a:solidFill>
              <a:srgbClr val="C3CCD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28" name="Shape 428"/>
          <p:cNvSpPr/>
          <p:nvPr/>
        </p:nvSpPr>
        <p:spPr>
          <a:xfrm>
            <a:off x="941832" y="4027018"/>
            <a:ext cx="559613" cy="26335"/>
          </a:xfrm>
          <a:prstGeom prst="line">
            <a:avLst/>
          </a:prstGeom>
          <a:noFill/>
          <a:ln w="22225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9" name="Shape 429"/>
          <p:cNvSpPr/>
          <p:nvPr/>
        </p:nvSpPr>
        <p:spPr>
          <a:xfrm flipV="1">
            <a:off x="1501445" y="3934846"/>
            <a:ext cx="559613" cy="118506"/>
          </a:xfrm>
          <a:prstGeom prst="line">
            <a:avLst/>
          </a:prstGeom>
          <a:noFill/>
          <a:ln w="22225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0" name="Shape 430"/>
          <p:cNvSpPr/>
          <p:nvPr/>
        </p:nvSpPr>
        <p:spPr>
          <a:xfrm flipV="1">
            <a:off x="2061058" y="3882177"/>
            <a:ext cx="559613" cy="52669"/>
          </a:xfrm>
          <a:prstGeom prst="line">
            <a:avLst/>
          </a:prstGeom>
          <a:noFill/>
          <a:ln w="22225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1" name="Shape 431"/>
          <p:cNvSpPr/>
          <p:nvPr/>
        </p:nvSpPr>
        <p:spPr>
          <a:xfrm>
            <a:off x="2620670" y="3882177"/>
            <a:ext cx="559613" cy="26335"/>
          </a:xfrm>
          <a:prstGeom prst="line">
            <a:avLst/>
          </a:prstGeom>
          <a:noFill/>
          <a:ln w="22225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2" name="Shape 432"/>
          <p:cNvSpPr/>
          <p:nvPr/>
        </p:nvSpPr>
        <p:spPr>
          <a:xfrm flipV="1">
            <a:off x="3180283" y="3750503"/>
            <a:ext cx="559613" cy="158008"/>
          </a:xfrm>
          <a:prstGeom prst="line">
            <a:avLst/>
          </a:prstGeom>
          <a:noFill/>
          <a:ln w="22225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3" name="Shape 433"/>
          <p:cNvSpPr/>
          <p:nvPr/>
        </p:nvSpPr>
        <p:spPr>
          <a:xfrm>
            <a:off x="914400" y="3999586"/>
            <a:ext cx="54864" cy="54864"/>
          </a:xfrm>
          <a:prstGeom prst="ellipse">
            <a:avLst/>
          </a:prstGeom>
          <a:solidFill>
            <a:srgbClr val="2E5FA3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4" name="Shape 434"/>
          <p:cNvSpPr/>
          <p:nvPr/>
        </p:nvSpPr>
        <p:spPr>
          <a:xfrm>
            <a:off x="1474013" y="4025920"/>
            <a:ext cx="54864" cy="54864"/>
          </a:xfrm>
          <a:prstGeom prst="ellipse">
            <a:avLst/>
          </a:prstGeom>
          <a:solidFill>
            <a:srgbClr val="2E5FA3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5" name="Shape 435"/>
          <p:cNvSpPr/>
          <p:nvPr/>
        </p:nvSpPr>
        <p:spPr>
          <a:xfrm>
            <a:off x="2033626" y="3907414"/>
            <a:ext cx="54864" cy="54864"/>
          </a:xfrm>
          <a:prstGeom prst="ellipse">
            <a:avLst/>
          </a:prstGeom>
          <a:solidFill>
            <a:srgbClr val="2E5FA3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6" name="Shape 436"/>
          <p:cNvSpPr/>
          <p:nvPr/>
        </p:nvSpPr>
        <p:spPr>
          <a:xfrm>
            <a:off x="2593238" y="3854745"/>
            <a:ext cx="54864" cy="54864"/>
          </a:xfrm>
          <a:prstGeom prst="ellipse">
            <a:avLst/>
          </a:prstGeom>
          <a:solidFill>
            <a:srgbClr val="2E5FA3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7" name="Shape 437"/>
          <p:cNvSpPr/>
          <p:nvPr/>
        </p:nvSpPr>
        <p:spPr>
          <a:xfrm>
            <a:off x="3152851" y="3881079"/>
            <a:ext cx="54864" cy="54864"/>
          </a:xfrm>
          <a:prstGeom prst="ellipse">
            <a:avLst/>
          </a:prstGeom>
          <a:solidFill>
            <a:srgbClr val="2E5FA3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8" name="Shape 438"/>
          <p:cNvSpPr/>
          <p:nvPr/>
        </p:nvSpPr>
        <p:spPr>
          <a:xfrm>
            <a:off x="3698748" y="3709355"/>
            <a:ext cx="82296" cy="82296"/>
          </a:xfrm>
          <a:prstGeom prst="ellipse">
            <a:avLst/>
          </a:prstGeom>
          <a:solidFill>
            <a:srgbClr val="D02C8C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9" name="Text 439"/>
          <p:cNvSpPr/>
          <p:nvPr/>
        </p:nvSpPr>
        <p:spPr>
          <a:xfrm>
            <a:off x="850392" y="3456432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50" b="1">
                <a:solidFill>
                  <a:srgbClr val="1F3D6B"/>
                </a:solidFill>
              </a:rPr>
              <a:t>226M  MoM +5.6%  YoY +11.9%</a:t>
            </a:r>
            <a:endParaRPr lang="en-US" sz="650"/>
          </a:p>
        </p:txBody>
      </p:sp>
      <p:sp>
        <p:nvSpPr>
          <p:cNvPr id="440" name="Text 440"/>
          <p:cNvSpPr/>
          <p:nvPr/>
        </p:nvSpPr>
        <p:spPr>
          <a:xfrm>
            <a:off x="758952" y="4361688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0">
                <a:solidFill>
                  <a:srgbClr val="8A94A6"/>
                </a:solidFill>
              </a:rPr>
              <a:t>Apr</a:t>
            </a:r>
            <a:endParaRPr lang="en-US" sz="650"/>
          </a:p>
        </p:txBody>
      </p:sp>
      <p:sp>
        <p:nvSpPr>
          <p:cNvPr id="441" name="Text 441"/>
          <p:cNvSpPr/>
          <p:nvPr/>
        </p:nvSpPr>
        <p:spPr>
          <a:xfrm>
            <a:off x="1318565" y="4361688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0">
                <a:solidFill>
                  <a:srgbClr val="8A94A6"/>
                </a:solidFill>
              </a:rPr>
              <a:t>May</a:t>
            </a:r>
            <a:endParaRPr lang="en-US" sz="650"/>
          </a:p>
        </p:txBody>
      </p:sp>
      <p:sp>
        <p:nvSpPr>
          <p:cNvPr id="442" name="Text 442"/>
          <p:cNvSpPr/>
          <p:nvPr/>
        </p:nvSpPr>
        <p:spPr>
          <a:xfrm>
            <a:off x="1878178" y="4361688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0">
                <a:solidFill>
                  <a:srgbClr val="8A94A6"/>
                </a:solidFill>
              </a:rPr>
              <a:t>Jun</a:t>
            </a:r>
            <a:endParaRPr lang="en-US" sz="650"/>
          </a:p>
        </p:txBody>
      </p:sp>
      <p:sp>
        <p:nvSpPr>
          <p:cNvPr id="443" name="Text 443"/>
          <p:cNvSpPr/>
          <p:nvPr/>
        </p:nvSpPr>
        <p:spPr>
          <a:xfrm>
            <a:off x="2437790" y="4361688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0">
                <a:solidFill>
                  <a:srgbClr val="8A94A6"/>
                </a:solidFill>
              </a:rPr>
              <a:t>Jul</a:t>
            </a:r>
            <a:endParaRPr lang="en-US" sz="650"/>
          </a:p>
        </p:txBody>
      </p:sp>
      <p:sp>
        <p:nvSpPr>
          <p:cNvPr id="444" name="Text 444"/>
          <p:cNvSpPr/>
          <p:nvPr/>
        </p:nvSpPr>
        <p:spPr>
          <a:xfrm>
            <a:off x="2997403" y="4361688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0">
                <a:solidFill>
                  <a:srgbClr val="8A94A6"/>
                </a:solidFill>
              </a:rPr>
              <a:t>Aug</a:t>
            </a:r>
            <a:endParaRPr lang="en-US" sz="650"/>
          </a:p>
        </p:txBody>
      </p:sp>
      <p:sp>
        <p:nvSpPr>
          <p:cNvPr id="445" name="Text 445"/>
          <p:cNvSpPr/>
          <p:nvPr/>
        </p:nvSpPr>
        <p:spPr>
          <a:xfrm>
            <a:off x="3557016" y="4361688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0">
                <a:solidFill>
                  <a:srgbClr val="8A94A6"/>
                </a:solidFill>
              </a:rPr>
              <a:t>Sep</a:t>
            </a:r>
            <a:endParaRPr lang="en-US" sz="650"/>
          </a:p>
        </p:txBody>
      </p:sp>
      <p:sp>
        <p:nvSpPr>
          <p:cNvPr id="446" name="Shape 446"/>
          <p:cNvSpPr/>
          <p:nvPr/>
        </p:nvSpPr>
        <p:spPr>
          <a:xfrm>
            <a:off x="777240" y="4553712"/>
            <a:ext cx="566928" cy="164592"/>
          </a:xfrm>
          <a:prstGeom prst="roundRect">
            <a:avLst>
              <a:gd name="adj" fmla="val 25000"/>
            </a:avLst>
          </a:prstGeom>
          <a:solidFill>
            <a:srgbClr val="E8F0FA"/>
          </a:solidFill>
          <a:ln w="12700">
            <a:solidFill>
              <a:srgbClr val="E8F0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7" name="Text 447"/>
          <p:cNvSpPr/>
          <p:nvPr/>
        </p:nvSpPr>
        <p:spPr>
          <a:xfrm>
            <a:off x="777240" y="4581144"/>
            <a:ext cx="56692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1">
                <a:solidFill>
                  <a:srgbClr val="2E5FA3"/>
                </a:solidFill>
              </a:rPr>
              <a:t>Actual</a:t>
            </a:r>
            <a:endParaRPr lang="en-US" sz="650"/>
          </a:p>
        </p:txBody>
      </p:sp>
      <p:sp>
        <p:nvSpPr>
          <p:cNvPr id="448" name="Shape 448"/>
          <p:cNvSpPr/>
          <p:nvPr/>
        </p:nvSpPr>
        <p:spPr>
          <a:xfrm>
            <a:off x="1399032" y="4553712"/>
            <a:ext cx="658368" cy="164592"/>
          </a:xfrm>
          <a:prstGeom prst="roundRect">
            <a:avLst>
              <a:gd name="adj" fmla="val 25000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9" name="Text 449"/>
          <p:cNvSpPr/>
          <p:nvPr/>
        </p:nvSpPr>
        <p:spPr>
          <a:xfrm>
            <a:off x="1399032" y="4581144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1">
                <a:solidFill>
                  <a:srgbClr val="8A94A6"/>
                </a:solidFill>
              </a:rPr>
              <a:t>Last year</a:t>
            </a:r>
            <a:endParaRPr lang="en-US" sz="650"/>
          </a:p>
        </p:txBody>
      </p:sp>
      <p:sp>
        <p:nvSpPr>
          <p:cNvPr id="450" name="Text 450"/>
          <p:cNvSpPr/>
          <p:nvPr/>
        </p:nvSpPr>
        <p:spPr>
          <a:xfrm>
            <a:off x="2148840" y="4553712"/>
            <a:ext cx="1755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50" b="0">
                <a:solidFill>
                  <a:srgbClr val="8A94A6"/>
                </a:solidFill>
              </a:rPr>
              <a:t>Click a point → L2 Net Sales</a:t>
            </a:r>
            <a:endParaRPr lang="en-US" sz="650"/>
          </a:p>
        </p:txBody>
      </p:sp>
      <p:sp>
        <p:nvSpPr>
          <p:cNvPr id="451" name="Text 451"/>
          <p:cNvSpPr/>
          <p:nvPr/>
        </p:nvSpPr>
        <p:spPr>
          <a:xfrm>
            <a:off x="4462272" y="3310128"/>
            <a:ext cx="1188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00" b="1">
                <a:solidFill>
                  <a:srgbClr val="8A94A6"/>
                </a:solidFill>
              </a:rPr>
              <a:t>SEGMENT</a:t>
            </a:r>
            <a:endParaRPr lang="en-US" sz="600"/>
          </a:p>
        </p:txBody>
      </p:sp>
      <p:sp>
        <p:nvSpPr>
          <p:cNvPr id="452" name="Text 452"/>
          <p:cNvSpPr/>
          <p:nvPr/>
        </p:nvSpPr>
        <p:spPr>
          <a:xfrm>
            <a:off x="7040880" y="3310128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00" b="1">
                <a:solidFill>
                  <a:srgbClr val="8A94A6"/>
                </a:solidFill>
              </a:rPr>
              <a:t>MoM %</a:t>
            </a:r>
            <a:endParaRPr lang="en-US" sz="600"/>
          </a:p>
        </p:txBody>
      </p:sp>
      <p:sp>
        <p:nvSpPr>
          <p:cNvPr id="453" name="Text 453"/>
          <p:cNvSpPr/>
          <p:nvPr/>
        </p:nvSpPr>
        <p:spPr>
          <a:xfrm>
            <a:off x="4462272" y="3474720"/>
            <a:ext cx="1234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0">
                <a:solidFill>
                  <a:srgbClr val="1F3D6B"/>
                </a:solidFill>
              </a:rPr>
              <a:t>Merchant A · AEON</a:t>
            </a:r>
            <a:endParaRPr lang="en-US" sz="700"/>
          </a:p>
        </p:txBody>
      </p:sp>
      <p:sp>
        <p:nvSpPr>
          <p:cNvPr id="454" name="Shape 454"/>
          <p:cNvSpPr/>
          <p:nvPr/>
        </p:nvSpPr>
        <p:spPr>
          <a:xfrm>
            <a:off x="5504688" y="3483864"/>
            <a:ext cx="1572768" cy="118872"/>
          </a:xfrm>
          <a:prstGeom prst="rect">
            <a:avLst/>
          </a:prstGeom>
          <a:solidFill>
            <a:srgbClr val="EDF1F6"/>
          </a:solidFill>
          <a:ln w="6350">
            <a:solidFill>
              <a:srgbClr val="EDF1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5" name="Shape 455"/>
          <p:cNvSpPr/>
          <p:nvPr/>
        </p:nvSpPr>
        <p:spPr>
          <a:xfrm>
            <a:off x="5504688" y="3483864"/>
            <a:ext cx="1478402" cy="118872"/>
          </a:xfrm>
          <a:prstGeom prst="rect">
            <a:avLst/>
          </a:prstGeom>
          <a:solidFill>
            <a:srgbClr val="1E8E5A"/>
          </a:solidFill>
          <a:ln w="6350">
            <a:solidFill>
              <a:srgbClr val="1E8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6" name="Text 456"/>
          <p:cNvSpPr/>
          <p:nvPr/>
        </p:nvSpPr>
        <p:spPr>
          <a:xfrm>
            <a:off x="7040880" y="3474720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b="1">
                <a:solidFill>
                  <a:srgbClr val="1E8E5A"/>
                </a:solidFill>
              </a:rPr>
              <a:t>+9.4%</a:t>
            </a:r>
            <a:endParaRPr lang="en-US" sz="750"/>
          </a:p>
        </p:txBody>
      </p:sp>
      <p:sp>
        <p:nvSpPr>
          <p:cNvPr id="457" name="Text 457"/>
          <p:cNvSpPr/>
          <p:nvPr/>
        </p:nvSpPr>
        <p:spPr>
          <a:xfrm>
            <a:off x="4462272" y="3721608"/>
            <a:ext cx="1234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0">
                <a:solidFill>
                  <a:srgbClr val="1F3D6B"/>
                </a:solidFill>
              </a:rPr>
              <a:t>HCMC province</a:t>
            </a:r>
            <a:endParaRPr lang="en-US" sz="700"/>
          </a:p>
        </p:txBody>
      </p:sp>
      <p:sp>
        <p:nvSpPr>
          <p:cNvPr id="458" name="Shape 458"/>
          <p:cNvSpPr/>
          <p:nvPr/>
        </p:nvSpPr>
        <p:spPr>
          <a:xfrm>
            <a:off x="5504688" y="3730752"/>
            <a:ext cx="1572768" cy="118872"/>
          </a:xfrm>
          <a:prstGeom prst="rect">
            <a:avLst/>
          </a:prstGeom>
          <a:solidFill>
            <a:srgbClr val="EDF1F6"/>
          </a:solidFill>
          <a:ln w="6350">
            <a:solidFill>
              <a:srgbClr val="EDF1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9" name="Shape 459"/>
          <p:cNvSpPr/>
          <p:nvPr/>
        </p:nvSpPr>
        <p:spPr>
          <a:xfrm>
            <a:off x="5504688" y="3730752"/>
            <a:ext cx="1195304" cy="118872"/>
          </a:xfrm>
          <a:prstGeom prst="rect">
            <a:avLst/>
          </a:prstGeom>
          <a:solidFill>
            <a:srgbClr val="1E8E5A"/>
          </a:solidFill>
          <a:ln w="6350">
            <a:solidFill>
              <a:srgbClr val="1E8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0" name="Text 460"/>
          <p:cNvSpPr/>
          <p:nvPr/>
        </p:nvSpPr>
        <p:spPr>
          <a:xfrm>
            <a:off x="7040880" y="3721608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b="1">
                <a:solidFill>
                  <a:srgbClr val="1E8E5A"/>
                </a:solidFill>
              </a:rPr>
              <a:t>+7.6%</a:t>
            </a:r>
            <a:endParaRPr lang="en-US" sz="750"/>
          </a:p>
        </p:txBody>
      </p:sp>
      <p:sp>
        <p:nvSpPr>
          <p:cNvPr id="461" name="Text 461"/>
          <p:cNvSpPr/>
          <p:nvPr/>
        </p:nvSpPr>
        <p:spPr>
          <a:xfrm>
            <a:off x="4462272" y="3968496"/>
            <a:ext cx="1234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0">
                <a:solidFill>
                  <a:srgbClr val="1F3D6B"/>
                </a:solidFill>
              </a:rPr>
              <a:t>Food category</a:t>
            </a:r>
            <a:endParaRPr lang="en-US" sz="700"/>
          </a:p>
        </p:txBody>
      </p:sp>
      <p:sp>
        <p:nvSpPr>
          <p:cNvPr id="462" name="Shape 462"/>
          <p:cNvSpPr/>
          <p:nvPr/>
        </p:nvSpPr>
        <p:spPr>
          <a:xfrm>
            <a:off x="5504688" y="3977640"/>
            <a:ext cx="1572768" cy="118872"/>
          </a:xfrm>
          <a:prstGeom prst="rect">
            <a:avLst/>
          </a:prstGeom>
          <a:solidFill>
            <a:srgbClr val="EDF1F6"/>
          </a:solidFill>
          <a:ln w="6350">
            <a:solidFill>
              <a:srgbClr val="EDF1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3" name="Shape 463"/>
          <p:cNvSpPr/>
          <p:nvPr/>
        </p:nvSpPr>
        <p:spPr>
          <a:xfrm>
            <a:off x="5504688" y="3977640"/>
            <a:ext cx="817839" cy="118872"/>
          </a:xfrm>
          <a:prstGeom prst="rect">
            <a:avLst/>
          </a:prstGeom>
          <a:solidFill>
            <a:srgbClr val="1E8E5A"/>
          </a:solidFill>
          <a:ln w="6350">
            <a:solidFill>
              <a:srgbClr val="1E8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4" name="Text 464"/>
          <p:cNvSpPr/>
          <p:nvPr/>
        </p:nvSpPr>
        <p:spPr>
          <a:xfrm>
            <a:off x="7040880" y="396849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b="1">
                <a:solidFill>
                  <a:srgbClr val="1E8E5A"/>
                </a:solidFill>
              </a:rPr>
              <a:t>+5.2%</a:t>
            </a:r>
            <a:endParaRPr lang="en-US" sz="750"/>
          </a:p>
        </p:txBody>
      </p:sp>
      <p:sp>
        <p:nvSpPr>
          <p:cNvPr id="465" name="Text 465"/>
          <p:cNvSpPr/>
          <p:nvPr/>
        </p:nvSpPr>
        <p:spPr>
          <a:xfrm>
            <a:off x="4462272" y="4215384"/>
            <a:ext cx="1234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0">
                <a:solidFill>
                  <a:srgbClr val="4A5568"/>
                </a:solidFill>
              </a:rPr>
              <a:t>Hanoi</a:t>
            </a:r>
            <a:endParaRPr lang="en-US" sz="700"/>
          </a:p>
        </p:txBody>
      </p:sp>
      <p:sp>
        <p:nvSpPr>
          <p:cNvPr id="466" name="Shape 466"/>
          <p:cNvSpPr/>
          <p:nvPr/>
        </p:nvSpPr>
        <p:spPr>
          <a:xfrm>
            <a:off x="5504688" y="4224528"/>
            <a:ext cx="1572768" cy="118872"/>
          </a:xfrm>
          <a:prstGeom prst="rect">
            <a:avLst/>
          </a:prstGeom>
          <a:solidFill>
            <a:srgbClr val="EDF1F6"/>
          </a:solidFill>
          <a:ln w="6350">
            <a:solidFill>
              <a:srgbClr val="EDF1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7" name="Shape 467"/>
          <p:cNvSpPr/>
          <p:nvPr/>
        </p:nvSpPr>
        <p:spPr>
          <a:xfrm>
            <a:off x="6432621" y="4224528"/>
            <a:ext cx="644835" cy="118872"/>
          </a:xfrm>
          <a:prstGeom prst="rect">
            <a:avLst/>
          </a:prstGeom>
          <a:solidFill>
            <a:srgbClr val="C0392B"/>
          </a:solidFill>
          <a:ln w="63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8" name="Text 468"/>
          <p:cNvSpPr/>
          <p:nvPr/>
        </p:nvSpPr>
        <p:spPr>
          <a:xfrm>
            <a:off x="7040880" y="4215384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b="1">
                <a:solidFill>
                  <a:srgbClr val="C0392B"/>
                </a:solidFill>
              </a:rPr>
              <a:t>-4.1%</a:t>
            </a:r>
            <a:endParaRPr lang="en-US" sz="750"/>
          </a:p>
        </p:txBody>
      </p:sp>
      <p:sp>
        <p:nvSpPr>
          <p:cNvPr id="469" name="Text 469"/>
          <p:cNvSpPr/>
          <p:nvPr/>
        </p:nvSpPr>
        <p:spPr>
          <a:xfrm>
            <a:off x="4462272" y="4462272"/>
            <a:ext cx="1234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0">
                <a:solidFill>
                  <a:srgbClr val="4A5568"/>
                </a:solidFill>
              </a:rPr>
              <a:t>Beauty category</a:t>
            </a:r>
            <a:endParaRPr lang="en-US" sz="700"/>
          </a:p>
        </p:txBody>
      </p:sp>
      <p:sp>
        <p:nvSpPr>
          <p:cNvPr id="470" name="Shape 470"/>
          <p:cNvSpPr/>
          <p:nvPr/>
        </p:nvSpPr>
        <p:spPr>
          <a:xfrm>
            <a:off x="5504688" y="4471416"/>
            <a:ext cx="1572768" cy="118872"/>
          </a:xfrm>
          <a:prstGeom prst="rect">
            <a:avLst/>
          </a:prstGeom>
          <a:solidFill>
            <a:srgbClr val="EDF1F6"/>
          </a:solidFill>
          <a:ln w="6350">
            <a:solidFill>
              <a:srgbClr val="EDF1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1" name="Shape 471"/>
          <p:cNvSpPr/>
          <p:nvPr/>
        </p:nvSpPr>
        <p:spPr>
          <a:xfrm>
            <a:off x="6007974" y="4471416"/>
            <a:ext cx="1069482" cy="118872"/>
          </a:xfrm>
          <a:prstGeom prst="rect">
            <a:avLst/>
          </a:prstGeom>
          <a:solidFill>
            <a:srgbClr val="C0392B"/>
          </a:solidFill>
          <a:ln w="63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2" name="Text 472"/>
          <p:cNvSpPr/>
          <p:nvPr/>
        </p:nvSpPr>
        <p:spPr>
          <a:xfrm>
            <a:off x="7040880" y="4462272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b="1">
                <a:solidFill>
                  <a:srgbClr val="C0392B"/>
                </a:solidFill>
              </a:rPr>
              <a:t>-6.8%</a:t>
            </a:r>
            <a:endParaRPr lang="en-US" sz="750"/>
          </a:p>
        </p:txBody>
      </p:sp>
      <p:sp>
        <p:nvSpPr>
          <p:cNvPr id="473" name="Text 473"/>
          <p:cNvSpPr/>
          <p:nvPr/>
        </p:nvSpPr>
        <p:spPr>
          <a:xfrm>
            <a:off x="4462272" y="4736592"/>
            <a:ext cx="32369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50" b="0">
                <a:solidFill>
                  <a:srgbClr val="8A94A6"/>
                </a:solidFill>
              </a:rPr>
              <a:t>Click a bar → opens L2 with that segment applied</a:t>
            </a:r>
            <a:endParaRPr lang="en-US" sz="650"/>
          </a:p>
        </p:txBody>
      </p:sp>
      <p:sp>
        <p:nvSpPr>
          <p:cNvPr id="474" name="Shape 474"/>
          <p:cNvSpPr/>
          <p:nvPr/>
        </p:nvSpPr>
        <p:spPr>
          <a:xfrm>
            <a:off x="8211312" y="3310128"/>
            <a:ext cx="3236976" cy="384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5" name="Shape 475"/>
          <p:cNvSpPr/>
          <p:nvPr/>
        </p:nvSpPr>
        <p:spPr>
          <a:xfrm>
            <a:off x="8211312" y="3310128"/>
            <a:ext cx="36576" cy="384048"/>
          </a:xfrm>
          <a:prstGeom prst="rect">
            <a:avLst/>
          </a:prstGeom>
          <a:solidFill>
            <a:srgbClr val="C0392B"/>
          </a:solidFill>
          <a:ln w="63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6" name="Shape 476"/>
          <p:cNvSpPr/>
          <p:nvPr/>
        </p:nvSpPr>
        <p:spPr>
          <a:xfrm>
            <a:off x="8311896" y="3364992"/>
            <a:ext cx="420624" cy="146304"/>
          </a:xfrm>
          <a:prstGeom prst="roundRect">
            <a:avLst>
              <a:gd name="adj" fmla="val 25000"/>
            </a:avLst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7" name="Text 477"/>
          <p:cNvSpPr/>
          <p:nvPr/>
        </p:nvSpPr>
        <p:spPr>
          <a:xfrm>
            <a:off x="8311896" y="3383280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00" b="1">
                <a:solidFill>
                  <a:srgbClr val="C0392B"/>
                </a:solidFill>
              </a:rPr>
              <a:t>HIGH</a:t>
            </a:r>
            <a:endParaRPr lang="en-US" sz="600"/>
          </a:p>
        </p:txBody>
      </p:sp>
      <p:sp>
        <p:nvSpPr>
          <p:cNvPr id="478" name="Text 478"/>
          <p:cNvSpPr/>
          <p:nvPr/>
        </p:nvSpPr>
        <p:spPr>
          <a:xfrm>
            <a:off x="8787384" y="3355848"/>
            <a:ext cx="2606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>
                <a:solidFill>
                  <a:srgbClr val="1F3D6B"/>
                </a:solidFill>
              </a:rPr>
              <a:t>Beauty net sales -6.8%</a:t>
            </a:r>
            <a:endParaRPr lang="en-US" sz="750"/>
          </a:p>
        </p:txBody>
      </p:sp>
      <p:sp>
        <p:nvSpPr>
          <p:cNvPr id="479" name="Text 479"/>
          <p:cNvSpPr/>
          <p:nvPr/>
        </p:nvSpPr>
        <p:spPr>
          <a:xfrm>
            <a:off x="8787384" y="3520440"/>
            <a:ext cx="2606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50" b="0">
                <a:solidFill>
                  <a:srgbClr val="8A94A6"/>
                </a:solidFill>
              </a:rPr>
              <a:t>HCMC stores · discount rate up 3.2pt</a:t>
            </a:r>
            <a:endParaRPr lang="en-US" sz="650"/>
          </a:p>
        </p:txBody>
      </p:sp>
      <p:sp>
        <p:nvSpPr>
          <p:cNvPr id="480" name="Shape 480"/>
          <p:cNvSpPr/>
          <p:nvPr/>
        </p:nvSpPr>
        <p:spPr>
          <a:xfrm>
            <a:off x="8211312" y="3749040"/>
            <a:ext cx="3236976" cy="384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1" name="Shape 481"/>
          <p:cNvSpPr/>
          <p:nvPr/>
        </p:nvSpPr>
        <p:spPr>
          <a:xfrm>
            <a:off x="8211312" y="3749040"/>
            <a:ext cx="36576" cy="384048"/>
          </a:xfrm>
          <a:prstGeom prst="rect">
            <a:avLst/>
          </a:prstGeom>
          <a:solidFill>
            <a:srgbClr val="C77700"/>
          </a:solidFill>
          <a:ln w="6350">
            <a:solidFill>
              <a:srgbClr val="C77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2" name="Shape 482"/>
          <p:cNvSpPr/>
          <p:nvPr/>
        </p:nvSpPr>
        <p:spPr>
          <a:xfrm>
            <a:off x="8311896" y="3803904"/>
            <a:ext cx="420624" cy="146304"/>
          </a:xfrm>
          <a:prstGeom prst="roundRect">
            <a:avLst>
              <a:gd name="adj" fmla="val 25000"/>
            </a:avLst>
          </a:prstGeom>
          <a:solidFill>
            <a:srgbClr val="FDF3E3"/>
          </a:solidFill>
          <a:ln w="12700">
            <a:solidFill>
              <a:srgbClr val="FDF3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3" name="Text 483"/>
          <p:cNvSpPr/>
          <p:nvPr/>
        </p:nvSpPr>
        <p:spPr>
          <a:xfrm>
            <a:off x="8311896" y="3822192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00" b="1">
                <a:solidFill>
                  <a:srgbClr val="C77700"/>
                </a:solidFill>
              </a:rPr>
              <a:t>MED</a:t>
            </a:r>
            <a:endParaRPr lang="en-US" sz="600"/>
          </a:p>
        </p:txBody>
      </p:sp>
      <p:sp>
        <p:nvSpPr>
          <p:cNvPr id="484" name="Text 484"/>
          <p:cNvSpPr/>
          <p:nvPr/>
        </p:nvSpPr>
        <p:spPr>
          <a:xfrm>
            <a:off x="8787384" y="3794760"/>
            <a:ext cx="2606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>
                <a:solidFill>
                  <a:srgbClr val="1F3D6B"/>
                </a:solidFill>
              </a:rPr>
              <a:t>Hanoi sales -4.1% for 3 weeks</a:t>
            </a:r>
            <a:endParaRPr lang="en-US" sz="750"/>
          </a:p>
        </p:txBody>
      </p:sp>
      <p:sp>
        <p:nvSpPr>
          <p:cNvPr id="485" name="Text 485"/>
          <p:cNvSpPr/>
          <p:nvPr/>
        </p:nvSpPr>
        <p:spPr>
          <a:xfrm>
            <a:off x="8787384" y="3959352"/>
            <a:ext cx="2606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50" b="0">
                <a:solidFill>
                  <a:srgbClr val="8A94A6"/>
                </a:solidFill>
              </a:rPr>
              <a:t>Check store closures and stock-outs</a:t>
            </a:r>
            <a:endParaRPr lang="en-US" sz="650"/>
          </a:p>
        </p:txBody>
      </p:sp>
      <p:sp>
        <p:nvSpPr>
          <p:cNvPr id="486" name="Shape 486"/>
          <p:cNvSpPr/>
          <p:nvPr/>
        </p:nvSpPr>
        <p:spPr>
          <a:xfrm>
            <a:off x="8211312" y="4187952"/>
            <a:ext cx="3236976" cy="384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7" name="Shape 487"/>
          <p:cNvSpPr/>
          <p:nvPr/>
        </p:nvSpPr>
        <p:spPr>
          <a:xfrm>
            <a:off x="8211312" y="4187952"/>
            <a:ext cx="36576" cy="384048"/>
          </a:xfrm>
          <a:prstGeom prst="rect">
            <a:avLst/>
          </a:prstGeom>
          <a:solidFill>
            <a:srgbClr val="2E5FA3"/>
          </a:solidFill>
          <a:ln w="635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8" name="Shape 488"/>
          <p:cNvSpPr/>
          <p:nvPr/>
        </p:nvSpPr>
        <p:spPr>
          <a:xfrm>
            <a:off x="8311896" y="4242816"/>
            <a:ext cx="420624" cy="146304"/>
          </a:xfrm>
          <a:prstGeom prst="roundRect">
            <a:avLst>
              <a:gd name="adj" fmla="val 25000"/>
            </a:avLst>
          </a:prstGeom>
          <a:solidFill>
            <a:srgbClr val="E8F0FA"/>
          </a:solidFill>
          <a:ln w="12700">
            <a:solidFill>
              <a:srgbClr val="E8F0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9" name="Text 489"/>
          <p:cNvSpPr/>
          <p:nvPr/>
        </p:nvSpPr>
        <p:spPr>
          <a:xfrm>
            <a:off x="8311896" y="4261104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00" b="1">
                <a:solidFill>
                  <a:srgbClr val="2E5FA3"/>
                </a:solidFill>
              </a:rPr>
              <a:t>INFO</a:t>
            </a:r>
            <a:endParaRPr lang="en-US" sz="600"/>
          </a:p>
        </p:txBody>
      </p:sp>
      <p:sp>
        <p:nvSpPr>
          <p:cNvPr id="490" name="Text 490"/>
          <p:cNvSpPr/>
          <p:nvPr/>
        </p:nvSpPr>
        <p:spPr>
          <a:xfrm>
            <a:off x="8787384" y="4233672"/>
            <a:ext cx="2606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>
                <a:solidFill>
                  <a:srgbClr val="1F3D6B"/>
                </a:solidFill>
              </a:rPr>
              <a:t>AEON contributes +4.6pt</a:t>
            </a:r>
            <a:endParaRPr lang="en-US" sz="750"/>
          </a:p>
        </p:txBody>
      </p:sp>
      <p:sp>
        <p:nvSpPr>
          <p:cNvPr id="491" name="Text 491"/>
          <p:cNvSpPr/>
          <p:nvPr/>
        </p:nvSpPr>
        <p:spPr>
          <a:xfrm>
            <a:off x="8787384" y="4398264"/>
            <a:ext cx="2606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50" b="0">
                <a:solidFill>
                  <a:srgbClr val="8A94A6"/>
                </a:solidFill>
              </a:rPr>
              <a:t>Largest driver of the monthly increase</a:t>
            </a:r>
            <a:endParaRPr lang="en-US" sz="650"/>
          </a:p>
        </p:txBody>
      </p:sp>
      <p:sp>
        <p:nvSpPr>
          <p:cNvPr id="492" name="Text 492"/>
          <p:cNvSpPr/>
          <p:nvPr/>
        </p:nvSpPr>
        <p:spPr>
          <a:xfrm>
            <a:off x="8211312" y="4663440"/>
            <a:ext cx="32369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50" b="0">
                <a:solidFill>
                  <a:srgbClr val="8A94A6"/>
                </a:solidFill>
              </a:rPr>
              <a:t>Click an alert → opens L2 with the filter applied</a:t>
            </a:r>
            <a:endParaRPr lang="en-US" sz="650"/>
          </a:p>
        </p:txBody>
      </p:sp>
      <p:sp>
        <p:nvSpPr>
          <p:cNvPr id="493" name="Shape 493"/>
          <p:cNvSpPr/>
          <p:nvPr/>
        </p:nvSpPr>
        <p:spPr>
          <a:xfrm>
            <a:off x="2487168" y="1728216"/>
            <a:ext cx="1728216" cy="905256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D02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4" name="Shape 494"/>
          <p:cNvSpPr/>
          <p:nvPr/>
        </p:nvSpPr>
        <p:spPr>
          <a:xfrm>
            <a:off x="3163824" y="1792224"/>
            <a:ext cx="658368" cy="164592"/>
          </a:xfrm>
          <a:prstGeom prst="roundRect">
            <a:avLst>
              <a:gd name="adj" fmla="val 25000"/>
            </a:avLst>
          </a:prstGeom>
          <a:solidFill>
            <a:srgbClr val="D02C8C"/>
          </a:solidFill>
          <a:ln w="12700">
            <a:solidFill>
              <a:srgbClr val="D02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5" name="Text 495"/>
          <p:cNvSpPr/>
          <p:nvPr/>
        </p:nvSpPr>
        <p:spPr>
          <a:xfrm>
            <a:off x="3163824" y="1810512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00" b="1">
                <a:solidFill>
                  <a:srgbClr val="FFFFFF"/>
                </a:solidFill>
              </a:rPr>
              <a:t>selected</a:t>
            </a:r>
            <a:endParaRPr lang="en-US" sz="600"/>
          </a:p>
        </p:txBody>
      </p:sp>
      <p:sp>
        <p:nvSpPr>
          <p:cNvPr id="8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8016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794">
                <a:solidFill>
                  <a:srgbClr val="8B95A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  <p:sp>
        <p:nvSpPr>
          <p:cNvPr id="101" name="Shape 101"/>
          <p:cNvSpPr/>
          <p:nvPr/>
        </p:nvSpPr>
        <p:spPr>
          <a:xfrm>
            <a:off x="2002536" y="1806552"/>
            <a:ext cx="182880" cy="182880"/>
          </a:xfrm>
          <a:prstGeom prst="ellipse">
            <a:avLst/>
          </a:prstGeom>
          <a:noFill/>
          <a:ln w="7620">
            <a:solidFill>
              <a:srgbClr val="B4C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 102"/>
          <p:cNvSpPr/>
          <p:nvPr/>
        </p:nvSpPr>
        <p:spPr>
          <a:xfrm>
            <a:off x="2002536" y="1806552"/>
            <a:ext cx="1828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6B7C93"/>
                </a:solidFill>
              </a:rPr>
              <a:t>i</a:t>
            </a:r>
            <a:endParaRPr lang="en-US" sz="900"/>
          </a:p>
        </p:txBody>
      </p:sp>
      <p:sp>
        <p:nvSpPr>
          <p:cNvPr id="103" name="Shape 103"/>
          <p:cNvSpPr/>
          <p:nvPr/>
        </p:nvSpPr>
        <p:spPr>
          <a:xfrm>
            <a:off x="3913632" y="1806552"/>
            <a:ext cx="182880" cy="182880"/>
          </a:xfrm>
          <a:prstGeom prst="ellipse">
            <a:avLst/>
          </a:prstGeom>
          <a:noFill/>
          <a:ln w="7620">
            <a:solidFill>
              <a:srgbClr val="B4C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Text 104"/>
          <p:cNvSpPr/>
          <p:nvPr/>
        </p:nvSpPr>
        <p:spPr>
          <a:xfrm>
            <a:off x="3913632" y="1806552"/>
            <a:ext cx="1828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6B7C93"/>
                </a:solidFill>
              </a:rPr>
              <a:t>i</a:t>
            </a:r>
            <a:endParaRPr lang="en-US" sz="900"/>
          </a:p>
        </p:txBody>
      </p:sp>
      <p:sp>
        <p:nvSpPr>
          <p:cNvPr id="105" name="Shape 105"/>
          <p:cNvSpPr/>
          <p:nvPr/>
        </p:nvSpPr>
        <p:spPr>
          <a:xfrm>
            <a:off x="5824728" y="1806552"/>
            <a:ext cx="182880" cy="182880"/>
          </a:xfrm>
          <a:prstGeom prst="ellipse">
            <a:avLst/>
          </a:prstGeom>
          <a:noFill/>
          <a:ln w="7620">
            <a:solidFill>
              <a:srgbClr val="B4C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Text 106"/>
          <p:cNvSpPr/>
          <p:nvPr/>
        </p:nvSpPr>
        <p:spPr>
          <a:xfrm>
            <a:off x="5824728" y="1806552"/>
            <a:ext cx="1828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6B7C93"/>
                </a:solidFill>
              </a:rPr>
              <a:t>i</a:t>
            </a:r>
            <a:endParaRPr lang="en-US" sz="900"/>
          </a:p>
        </p:txBody>
      </p:sp>
      <p:sp>
        <p:nvSpPr>
          <p:cNvPr id="107" name="Shape 107"/>
          <p:cNvSpPr/>
          <p:nvPr/>
        </p:nvSpPr>
        <p:spPr>
          <a:xfrm>
            <a:off x="7735824" y="1806552"/>
            <a:ext cx="182880" cy="182880"/>
          </a:xfrm>
          <a:prstGeom prst="ellipse">
            <a:avLst/>
          </a:prstGeom>
          <a:noFill/>
          <a:ln w="7620">
            <a:solidFill>
              <a:srgbClr val="B4C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Text 108"/>
          <p:cNvSpPr/>
          <p:nvPr/>
        </p:nvSpPr>
        <p:spPr>
          <a:xfrm>
            <a:off x="7735824" y="1806552"/>
            <a:ext cx="1828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6B7C93"/>
                </a:solidFill>
              </a:rPr>
              <a:t>i</a:t>
            </a:r>
            <a:endParaRPr lang="en-US" sz="900"/>
          </a:p>
        </p:txBody>
      </p:sp>
      <p:sp>
        <p:nvSpPr>
          <p:cNvPr id="109" name="Shape 109"/>
          <p:cNvSpPr/>
          <p:nvPr/>
        </p:nvSpPr>
        <p:spPr>
          <a:xfrm>
            <a:off x="9646920" y="1806552"/>
            <a:ext cx="182880" cy="182880"/>
          </a:xfrm>
          <a:prstGeom prst="ellipse">
            <a:avLst/>
          </a:prstGeom>
          <a:noFill/>
          <a:ln w="7620">
            <a:solidFill>
              <a:srgbClr val="B4C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Text 110"/>
          <p:cNvSpPr/>
          <p:nvPr/>
        </p:nvSpPr>
        <p:spPr>
          <a:xfrm>
            <a:off x="9646920" y="1806552"/>
            <a:ext cx="1828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6B7C93"/>
                </a:solidFill>
              </a:rPr>
              <a:t>i</a:t>
            </a:r>
            <a:endParaRPr lang="en-US" sz="900"/>
          </a:p>
        </p:txBody>
      </p:sp>
      <p:sp>
        <p:nvSpPr>
          <p:cNvPr id="111" name="Shape 111"/>
          <p:cNvSpPr/>
          <p:nvPr/>
        </p:nvSpPr>
        <p:spPr>
          <a:xfrm>
            <a:off x="11558016" y="1806552"/>
            <a:ext cx="182880" cy="182880"/>
          </a:xfrm>
          <a:prstGeom prst="ellipse">
            <a:avLst/>
          </a:prstGeom>
          <a:noFill/>
          <a:ln w="7620">
            <a:solidFill>
              <a:srgbClr val="B4C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Text 112"/>
          <p:cNvSpPr/>
          <p:nvPr/>
        </p:nvSpPr>
        <p:spPr>
          <a:xfrm>
            <a:off x="11558016" y="1806552"/>
            <a:ext cx="1828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6B7C93"/>
                </a:solidFill>
              </a:rPr>
              <a:t>i</a:t>
            </a:r>
            <a:endParaRPr lang="en-US" sz="900"/>
          </a:p>
        </p:txBody>
      </p:sp>
      <p:sp>
        <p:nvSpPr>
          <p:cNvPr id="113" name="Shape 113"/>
          <p:cNvSpPr/>
          <p:nvPr/>
        </p:nvSpPr>
        <p:spPr>
          <a:xfrm>
            <a:off x="594360" y="4980000"/>
            <a:ext cx="11247120" cy="1200000"/>
          </a:xfrm>
          <a:prstGeom prst="roundRect">
            <a:avLst>
              <a:gd name="adj" fmla="val 4000"/>
            </a:avLst>
          </a:prstGeom>
          <a:solidFill>
            <a:srgbClr val="F6F8FB"/>
          </a:solidFill>
          <a:ln w="7620">
            <a:solidFill>
              <a:srgbClr val="D8E1EA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4" name="Shape 114"/>
          <p:cNvSpPr/>
          <p:nvPr/>
        </p:nvSpPr>
        <p:spPr>
          <a:xfrm>
            <a:off x="594360" y="4980000"/>
            <a:ext cx="45720" cy="1200000"/>
          </a:xfrm>
          <a:prstGeom prst="rect">
            <a:avLst/>
          </a:prstGeom>
          <a:solidFill>
            <a:srgbClr val="2E5F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5" name="Text 115"/>
          <p:cNvSpPr/>
          <p:nvPr/>
        </p:nvSpPr>
        <p:spPr>
          <a:xfrm>
            <a:off x="713232" y="5062296"/>
            <a:ext cx="60000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86" b="1">
                <a:solidFill>
                  <a:srgbClr val="1F3D6B"/>
                </a:solidFill>
              </a:rPr>
              <a:t>Hover Tooltip · Metric Definition</a:t>
            </a:r>
            <a:endParaRPr lang="en-US" sz="1286"/>
          </a:p>
        </p:txBody>
      </p:sp>
      <p:sp>
        <p:nvSpPr>
          <p:cNvPr id="116" name="Text 116"/>
          <p:cNvSpPr/>
          <p:nvPr/>
        </p:nvSpPr>
        <p:spPr>
          <a:xfrm>
            <a:off x="713232" y="5300000"/>
            <a:ext cx="10900000" cy="780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31">
                <a:solidFill>
                  <a:srgbClr val="4A5568"/>
                </a:solidFill>
              </a:rPr>
              <a:t>Net Sales — Sales amount after returns and discounts in the selected period.</a:t>
            </a:r>
            <a:endParaRPr lang="en-US" sz="1031"/>
          </a:p>
          <a:p>
            <a:pPr marL="0" indent="0">
              <a:buNone/>
            </a:pPr>
            <a:r>
              <a:rPr lang="en-US" sz="1031">
                <a:solidFill>
                  <a:srgbClr val="4A5568"/>
                </a:solidFill>
              </a:rPr>
              <a:t>Formula: sum(gross_sales) − returns − discounts   ·   Source: agg_merchant_daily   ·   Updated daily 06:00 ICT</a:t>
            </a:r>
            <a:endParaRPr lang="en-US" sz="1031"/>
          </a:p>
          <a:p>
            <a:pPr marL="0" indent="0">
              <a:buNone/>
            </a:pPr>
            <a:r>
              <a:rPr lang="en-US" sz="1031">
                <a:solidFill>
                  <a:srgbClr val="4A5568"/>
                </a:solidFill>
              </a:rPr>
              <a:t>Every KPI card, chart title, and table column exposes the same definition on hover.</a:t>
            </a:r>
            <a:endParaRPr lang="en-US" sz="103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42" b="1">
                <a:solidFill>
                  <a:srgbClr val="1F3D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L1 · Merchant Insight Overview — Transactions selected</a:t>
            </a:r>
            <a:endParaRPr lang="en-US" sz="2542"/>
          </a:p>
        </p:txBody>
      </p:sp>
      <p:sp>
        <p:nvSpPr>
          <p:cNvPr id="3" name="Text 1"/>
          <p:cNvSpPr/>
          <p:nvPr/>
        </p:nvSpPr>
        <p:spPr>
          <a:xfrm>
            <a:off x="274320" y="502920"/>
            <a:ext cx="11521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6">
                <a:solidFill>
                  <a:srgbClr val="4A5568"/>
                </a:solidFill>
              </a:rPr>
              <a:t>Clicking the Transactions KPI card refreshes the whole panel row to the Transactions context before moving to L2.</a:t>
            </a:r>
            <a:endParaRPr lang="en-US" sz="1076"/>
          </a:p>
        </p:txBody>
      </p:sp>
      <p:sp>
        <p:nvSpPr>
          <p:cNvPr id="5" name="Shape 2"/>
          <p:cNvSpPr/>
          <p:nvPr/>
        </p:nvSpPr>
        <p:spPr>
          <a:xfrm>
            <a:off x="320040" y="1056456"/>
            <a:ext cx="11567160" cy="5349240"/>
          </a:xfrm>
          <a:prstGeom prst="roundRect">
            <a:avLst>
              <a:gd name="adj" fmla="val 1026"/>
            </a:avLst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320040" y="1056456"/>
            <a:ext cx="11567160" cy="411480"/>
          </a:xfrm>
          <a:prstGeom prst="rect">
            <a:avLst/>
          </a:prstGeom>
          <a:solidFill>
            <a:srgbClr val="1F3D6B"/>
          </a:solidFill>
          <a:ln w="12700">
            <a:solidFill>
              <a:srgbClr val="1F3D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02920" y="117532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1" b="1">
                <a:solidFill>
                  <a:srgbClr val="FFFFFF"/>
                </a:solidFill>
              </a:rPr>
              <a:t>Merchant Insight Dashboard · L1 Overview</a:t>
            </a:r>
            <a:endParaRPr lang="en-US" sz="1121"/>
          </a:p>
        </p:txBody>
      </p:sp>
      <p:sp>
        <p:nvSpPr>
          <p:cNvPr id="8" name="Shape 5"/>
          <p:cNvSpPr/>
          <p:nvPr/>
        </p:nvSpPr>
        <p:spPr>
          <a:xfrm>
            <a:off x="3900000" y="1147896"/>
            <a:ext cx="1205000" cy="2286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936576" y="1198188"/>
            <a:ext cx="11318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7" b="1">
                <a:solidFill>
                  <a:srgbClr val="1F3D6B"/>
                </a:solidFill>
              </a:rPr>
              <a:t>Operation Unit</a:t>
            </a:r>
            <a:endParaRPr lang="en-US" sz="837"/>
          </a:p>
        </p:txBody>
      </p:sp>
      <p:sp>
        <p:nvSpPr>
          <p:cNvPr id="10" name="Shape 7"/>
          <p:cNvSpPr/>
          <p:nvPr/>
        </p:nvSpPr>
        <p:spPr>
          <a:xfrm>
            <a:off x="5176000" y="1147896"/>
            <a:ext cx="1205000" cy="2286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212576" y="1198188"/>
            <a:ext cx="11318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7" b="1">
                <a:solidFill>
                  <a:srgbClr val="1F3D6B"/>
                </a:solidFill>
              </a:rPr>
              <a:t>Store</a:t>
            </a:r>
            <a:endParaRPr lang="en-US" sz="837"/>
          </a:p>
        </p:txBody>
      </p:sp>
      <p:sp>
        <p:nvSpPr>
          <p:cNvPr id="12" name="Shape 9"/>
          <p:cNvSpPr/>
          <p:nvPr/>
        </p:nvSpPr>
        <p:spPr>
          <a:xfrm>
            <a:off x="6452000" y="1147896"/>
            <a:ext cx="1205000" cy="2286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488576" y="1198188"/>
            <a:ext cx="11318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7" b="1">
                <a:solidFill>
                  <a:srgbClr val="1F3D6B"/>
                </a:solidFill>
              </a:rPr>
              <a:t>Business Category</a:t>
            </a:r>
            <a:endParaRPr lang="en-US" sz="837"/>
          </a:p>
        </p:txBody>
      </p:sp>
      <p:sp>
        <p:nvSpPr>
          <p:cNvPr id="14" name="Shape 11"/>
          <p:cNvSpPr/>
          <p:nvPr/>
        </p:nvSpPr>
        <p:spPr>
          <a:xfrm>
            <a:off x="7728000" y="1147896"/>
            <a:ext cx="1205000" cy="2286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764576" y="1198188"/>
            <a:ext cx="11318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7" b="1">
                <a:solidFill>
                  <a:srgbClr val="1F3D6B"/>
                </a:solidFill>
              </a:rPr>
              <a:t>Tenant</a:t>
            </a:r>
            <a:endParaRPr lang="en-US" sz="837"/>
          </a:p>
        </p:txBody>
      </p:sp>
      <p:sp>
        <p:nvSpPr>
          <p:cNvPr id="16" name="Shape 13"/>
          <p:cNvSpPr/>
          <p:nvPr/>
        </p:nvSpPr>
        <p:spPr>
          <a:xfrm>
            <a:off x="9004000" y="1147896"/>
            <a:ext cx="1205000" cy="2286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9040576" y="1198188"/>
            <a:ext cx="11318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7" b="1">
                <a:solidFill>
                  <a:srgbClr val="1F3D6B"/>
                </a:solidFill>
              </a:rPr>
              <a:t>Date Range</a:t>
            </a:r>
            <a:endParaRPr lang="en-US" sz="837"/>
          </a:p>
        </p:txBody>
      </p:sp>
      <p:sp>
        <p:nvSpPr>
          <p:cNvPr id="900" name="Shape 900"/>
          <p:cNvSpPr/>
          <p:nvPr/>
        </p:nvSpPr>
        <p:spPr>
          <a:xfrm>
            <a:off x="10280000" y="1147896"/>
            <a:ext cx="1205000" cy="2286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1" name="Text 901"/>
          <p:cNvSpPr/>
          <p:nvPr/>
        </p:nvSpPr>
        <p:spPr>
          <a:xfrm>
            <a:off x="10316576" y="1198188"/>
            <a:ext cx="11318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7" b="1">
                <a:solidFill>
                  <a:srgbClr val="1F3D6B"/>
                </a:solidFill>
              </a:rPr>
              <a:t>Compare With</a:t>
            </a:r>
            <a:endParaRPr lang="en-US" sz="837"/>
          </a:p>
        </p:txBody>
      </p:sp>
      <p:sp>
        <p:nvSpPr>
          <p:cNvPr id="18" name="Shape 15"/>
          <p:cNvSpPr/>
          <p:nvPr/>
        </p:nvSpPr>
        <p:spPr>
          <a:xfrm>
            <a:off x="594360" y="1742256"/>
            <a:ext cx="1691640" cy="868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7620">
            <a:solidFill>
              <a:srgbClr val="DFE6EF"/>
            </a:solidFill>
            <a:prstDash val="solid"/>
          </a:ln>
          <a:effectLst>
            <a:outerShdw blurRad="12700" dist="635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67512" y="1824552"/>
            <a:ext cx="1545336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971" b="1">
                <a:solidFill>
                  <a:srgbClr val="4A5568"/>
                </a:solidFill>
              </a:rPr>
              <a:t>Purchasing Members</a:t>
            </a:r>
            <a:endParaRPr lang="en-US" sz="971"/>
          </a:p>
        </p:txBody>
      </p:sp>
      <p:sp>
        <p:nvSpPr>
          <p:cNvPr id="20" name="Text 17"/>
          <p:cNvSpPr/>
          <p:nvPr/>
        </p:nvSpPr>
        <p:spPr>
          <a:xfrm>
            <a:off x="667512" y="2053152"/>
            <a:ext cx="154533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2093" b="1">
                <a:solidFill>
                  <a:srgbClr val="1F3D6B"/>
                </a:solidFill>
              </a:rPr>
              <a:t>272K</a:t>
            </a:r>
            <a:endParaRPr lang="en-US" sz="2093"/>
          </a:p>
        </p:txBody>
      </p:sp>
      <p:sp>
        <p:nvSpPr>
          <p:cNvPr id="21" name="Text 18"/>
          <p:cNvSpPr/>
          <p:nvPr/>
        </p:nvSpPr>
        <p:spPr>
          <a:xfrm>
            <a:off x="667512" y="2400624"/>
            <a:ext cx="1545336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913">
                <a:solidFill>
                  <a:srgbClr val="2E7D32"/>
                </a:solidFill>
              </a:rPr>
              <a:t>MoM +8.2%</a:t>
            </a:r>
            <a:endParaRPr lang="en-US" sz="913"/>
          </a:p>
        </p:txBody>
      </p:sp>
      <p:sp>
        <p:nvSpPr>
          <p:cNvPr id="22" name="Shape 19"/>
          <p:cNvSpPr/>
          <p:nvPr/>
        </p:nvSpPr>
        <p:spPr>
          <a:xfrm>
            <a:off x="2505456" y="1742256"/>
            <a:ext cx="1691640" cy="868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7620">
            <a:solidFill>
              <a:srgbClr val="DFE6EF"/>
            </a:solidFill>
            <a:prstDash val="solid"/>
          </a:ln>
          <a:effectLst>
            <a:outerShdw blurRad="12700" dist="635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2578608" y="1824552"/>
            <a:ext cx="1545336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971" b="1">
                <a:solidFill>
                  <a:srgbClr val="4A5568"/>
                </a:solidFill>
              </a:rPr>
              <a:t>Net Sales</a:t>
            </a:r>
            <a:endParaRPr lang="en-US" sz="971"/>
          </a:p>
        </p:txBody>
      </p:sp>
      <p:sp>
        <p:nvSpPr>
          <p:cNvPr id="24" name="Text 21"/>
          <p:cNvSpPr/>
          <p:nvPr/>
        </p:nvSpPr>
        <p:spPr>
          <a:xfrm>
            <a:off x="2578608" y="2053152"/>
            <a:ext cx="154533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2093" b="1">
                <a:solidFill>
                  <a:srgbClr val="1F3D6B"/>
                </a:solidFill>
              </a:rPr>
              <a:t>226M</a:t>
            </a:r>
            <a:endParaRPr lang="en-US" sz="2093"/>
          </a:p>
        </p:txBody>
      </p:sp>
      <p:sp>
        <p:nvSpPr>
          <p:cNvPr id="25" name="Text 22"/>
          <p:cNvSpPr/>
          <p:nvPr/>
        </p:nvSpPr>
        <p:spPr>
          <a:xfrm>
            <a:off x="2578608" y="2400624"/>
            <a:ext cx="1545336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913">
                <a:solidFill>
                  <a:srgbClr val="2E7D32"/>
                </a:solidFill>
              </a:rPr>
              <a:t>MoM +5.6%</a:t>
            </a:r>
            <a:endParaRPr lang="en-US" sz="913"/>
          </a:p>
        </p:txBody>
      </p:sp>
      <p:sp>
        <p:nvSpPr>
          <p:cNvPr id="26" name="Shape 23"/>
          <p:cNvSpPr/>
          <p:nvPr/>
        </p:nvSpPr>
        <p:spPr>
          <a:xfrm>
            <a:off x="4416552" y="1742256"/>
            <a:ext cx="1691640" cy="868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7620">
            <a:solidFill>
              <a:srgbClr val="DFE6EF"/>
            </a:solidFill>
            <a:prstDash val="solid"/>
          </a:ln>
          <a:effectLst>
            <a:outerShdw blurRad="12700" dist="635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4489704" y="1824552"/>
            <a:ext cx="1545336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971" b="1">
                <a:solidFill>
                  <a:srgbClr val="4A5568"/>
                </a:solidFill>
              </a:rPr>
              <a:t>Transactions</a:t>
            </a:r>
            <a:endParaRPr lang="en-US" sz="971"/>
          </a:p>
        </p:txBody>
      </p:sp>
      <p:sp>
        <p:nvSpPr>
          <p:cNvPr id="28" name="Text 25"/>
          <p:cNvSpPr/>
          <p:nvPr/>
        </p:nvSpPr>
        <p:spPr>
          <a:xfrm>
            <a:off x="4489704" y="2053152"/>
            <a:ext cx="154533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2093" b="1">
                <a:solidFill>
                  <a:srgbClr val="1F3D6B"/>
                </a:solidFill>
              </a:rPr>
              <a:t>60K</a:t>
            </a:r>
            <a:endParaRPr lang="en-US" sz="2093"/>
          </a:p>
        </p:txBody>
      </p:sp>
      <p:sp>
        <p:nvSpPr>
          <p:cNvPr id="29" name="Text 26"/>
          <p:cNvSpPr/>
          <p:nvPr/>
        </p:nvSpPr>
        <p:spPr>
          <a:xfrm>
            <a:off x="4489704" y="2400624"/>
            <a:ext cx="1545336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913">
                <a:solidFill>
                  <a:srgbClr val="2E7D32"/>
                </a:solidFill>
              </a:rPr>
              <a:t>MoM +10.4%</a:t>
            </a:r>
            <a:endParaRPr lang="en-US" sz="913"/>
          </a:p>
        </p:txBody>
      </p:sp>
      <p:sp>
        <p:nvSpPr>
          <p:cNvPr id="30" name="Shape 27"/>
          <p:cNvSpPr/>
          <p:nvPr/>
        </p:nvSpPr>
        <p:spPr>
          <a:xfrm>
            <a:off x="6327648" y="1742256"/>
            <a:ext cx="1691640" cy="868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7620">
            <a:solidFill>
              <a:srgbClr val="DFE6EF"/>
            </a:solidFill>
            <a:prstDash val="solid"/>
          </a:ln>
          <a:effectLst>
            <a:outerShdw blurRad="12700" dist="635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6400800" y="1824552"/>
            <a:ext cx="1545336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971" b="1">
                <a:solidFill>
                  <a:srgbClr val="4A5568"/>
                </a:solidFill>
              </a:rPr>
              <a:t>AOV</a:t>
            </a:r>
            <a:endParaRPr lang="en-US" sz="971"/>
          </a:p>
        </p:txBody>
      </p:sp>
      <p:sp>
        <p:nvSpPr>
          <p:cNvPr id="32" name="Text 29"/>
          <p:cNvSpPr/>
          <p:nvPr/>
        </p:nvSpPr>
        <p:spPr>
          <a:xfrm>
            <a:off x="6400800" y="2053152"/>
            <a:ext cx="154533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2093" b="1">
                <a:solidFill>
                  <a:srgbClr val="1F3D6B"/>
                </a:solidFill>
              </a:rPr>
              <a:t>375K</a:t>
            </a:r>
            <a:endParaRPr lang="en-US" sz="2093"/>
          </a:p>
        </p:txBody>
      </p:sp>
      <p:sp>
        <p:nvSpPr>
          <p:cNvPr id="33" name="Text 30"/>
          <p:cNvSpPr/>
          <p:nvPr/>
        </p:nvSpPr>
        <p:spPr>
          <a:xfrm>
            <a:off x="6400800" y="2400624"/>
            <a:ext cx="1545336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913">
                <a:solidFill>
                  <a:srgbClr val="C0392B"/>
                </a:solidFill>
              </a:rPr>
              <a:t>MoM -1.2%</a:t>
            </a:r>
            <a:endParaRPr lang="en-US" sz="913"/>
          </a:p>
        </p:txBody>
      </p:sp>
      <p:sp>
        <p:nvSpPr>
          <p:cNvPr id="34" name="Shape 31"/>
          <p:cNvSpPr/>
          <p:nvPr/>
        </p:nvSpPr>
        <p:spPr>
          <a:xfrm>
            <a:off x="8238744" y="1742256"/>
            <a:ext cx="1691640" cy="868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7620">
            <a:solidFill>
              <a:srgbClr val="DFE6EF"/>
            </a:solidFill>
            <a:prstDash val="solid"/>
          </a:ln>
          <a:effectLst>
            <a:outerShdw blurRad="12700" dist="635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8311896" y="1824552"/>
            <a:ext cx="1545336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971" b="1">
                <a:solidFill>
                  <a:srgbClr val="4A5568"/>
                </a:solidFill>
              </a:rPr>
              <a:t>New Member %</a:t>
            </a:r>
            <a:endParaRPr lang="en-US" sz="971"/>
          </a:p>
        </p:txBody>
      </p:sp>
      <p:sp>
        <p:nvSpPr>
          <p:cNvPr id="36" name="Text 33"/>
          <p:cNvSpPr/>
          <p:nvPr/>
        </p:nvSpPr>
        <p:spPr>
          <a:xfrm>
            <a:off x="8311896" y="2053152"/>
            <a:ext cx="154533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2093" b="1">
                <a:solidFill>
                  <a:srgbClr val="1F3D6B"/>
                </a:solidFill>
              </a:rPr>
              <a:t>31%</a:t>
            </a:r>
            <a:endParaRPr lang="en-US" sz="2093"/>
          </a:p>
        </p:txBody>
      </p:sp>
      <p:sp>
        <p:nvSpPr>
          <p:cNvPr id="37" name="Text 34"/>
          <p:cNvSpPr/>
          <p:nvPr/>
        </p:nvSpPr>
        <p:spPr>
          <a:xfrm>
            <a:off x="8311896" y="2400624"/>
            <a:ext cx="1545336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913">
                <a:solidFill>
                  <a:srgbClr val="2E7D32"/>
                </a:solidFill>
              </a:rPr>
              <a:t>MoM +2.8pt</a:t>
            </a:r>
            <a:endParaRPr lang="en-US" sz="913"/>
          </a:p>
        </p:txBody>
      </p:sp>
      <p:sp>
        <p:nvSpPr>
          <p:cNvPr id="38" name="Shape 35"/>
          <p:cNvSpPr/>
          <p:nvPr/>
        </p:nvSpPr>
        <p:spPr>
          <a:xfrm>
            <a:off x="10149840" y="1742256"/>
            <a:ext cx="1691640" cy="868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7620">
            <a:solidFill>
              <a:srgbClr val="DFE6EF"/>
            </a:solidFill>
            <a:prstDash val="solid"/>
          </a:ln>
          <a:effectLst>
            <a:outerShdw blurRad="12700" dist="635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10222992" y="1824552"/>
            <a:ext cx="1545336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971" b="1">
                <a:solidFill>
                  <a:srgbClr val="4A5568"/>
                </a:solidFill>
              </a:rPr>
              <a:t>Repeat Ratio</a:t>
            </a:r>
            <a:endParaRPr lang="en-US" sz="971"/>
          </a:p>
        </p:txBody>
      </p:sp>
      <p:sp>
        <p:nvSpPr>
          <p:cNvPr id="40" name="Text 37"/>
          <p:cNvSpPr/>
          <p:nvPr/>
        </p:nvSpPr>
        <p:spPr>
          <a:xfrm>
            <a:off x="10222992" y="2053152"/>
            <a:ext cx="154533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2093" b="1">
                <a:solidFill>
                  <a:srgbClr val="1F3D6B"/>
                </a:solidFill>
              </a:rPr>
              <a:t>46%</a:t>
            </a:r>
            <a:endParaRPr lang="en-US" sz="2093"/>
          </a:p>
        </p:txBody>
      </p:sp>
      <p:sp>
        <p:nvSpPr>
          <p:cNvPr id="41" name="Text 38"/>
          <p:cNvSpPr/>
          <p:nvPr/>
        </p:nvSpPr>
        <p:spPr>
          <a:xfrm>
            <a:off x="10222992" y="2400624"/>
            <a:ext cx="1545336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913">
                <a:solidFill>
                  <a:srgbClr val="2E7D32"/>
                </a:solidFill>
              </a:rPr>
              <a:t>MoM +1.4pt</a:t>
            </a:r>
            <a:endParaRPr lang="en-US" sz="913"/>
          </a:p>
        </p:txBody>
      </p:sp>
      <p:sp>
        <p:nvSpPr>
          <p:cNvPr id="1001" name="Shape 1001"/>
          <p:cNvSpPr/>
          <p:nvPr/>
        </p:nvSpPr>
        <p:spPr>
          <a:xfrm>
            <a:off x="594360" y="2935224"/>
            <a:ext cx="3474720" cy="1874520"/>
          </a:xfrm>
          <a:prstGeom prst="roundRect">
            <a:avLst>
              <a:gd name="adj" fmla="val 4000"/>
            </a:avLst>
          </a:prstGeom>
          <a:solidFill>
            <a:srgbClr val="F6F8FB"/>
          </a:solidFill>
          <a:ln w="7620">
            <a:solidFill>
              <a:srgbClr val="D8E1EA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02" name="Shape 1002"/>
          <p:cNvSpPr/>
          <p:nvPr/>
        </p:nvSpPr>
        <p:spPr>
          <a:xfrm>
            <a:off x="594360" y="2935224"/>
            <a:ext cx="45720" cy="1874520"/>
          </a:xfrm>
          <a:prstGeom prst="rect">
            <a:avLst/>
          </a:prstGeom>
          <a:solidFill>
            <a:srgbClr val="D02C8C"/>
          </a:solidFill>
          <a:ln w="12700">
            <a:solidFill>
              <a:srgbClr val="D02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3" name="Shape 1003"/>
          <p:cNvSpPr/>
          <p:nvPr/>
        </p:nvSpPr>
        <p:spPr>
          <a:xfrm>
            <a:off x="4343400" y="2935224"/>
            <a:ext cx="3474720" cy="1874520"/>
          </a:xfrm>
          <a:prstGeom prst="roundRect">
            <a:avLst>
              <a:gd name="adj" fmla="val 4000"/>
            </a:avLst>
          </a:prstGeom>
          <a:solidFill>
            <a:srgbClr val="F6F8FB"/>
          </a:solidFill>
          <a:ln w="7620">
            <a:solidFill>
              <a:srgbClr val="D8E1EA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04" name="Shape 1004"/>
          <p:cNvSpPr/>
          <p:nvPr/>
        </p:nvSpPr>
        <p:spPr>
          <a:xfrm>
            <a:off x="4343400" y="2935224"/>
            <a:ext cx="45720" cy="1874520"/>
          </a:xfrm>
          <a:prstGeom prst="rect">
            <a:avLst/>
          </a:prstGeom>
          <a:solidFill>
            <a:srgbClr val="D02C8C"/>
          </a:solidFill>
          <a:ln w="12700">
            <a:solidFill>
              <a:srgbClr val="D02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5" name="Shape 1005"/>
          <p:cNvSpPr/>
          <p:nvPr/>
        </p:nvSpPr>
        <p:spPr>
          <a:xfrm>
            <a:off x="8092440" y="2935224"/>
            <a:ext cx="3474720" cy="1874520"/>
          </a:xfrm>
          <a:prstGeom prst="roundRect">
            <a:avLst>
              <a:gd name="adj" fmla="val 4000"/>
            </a:avLst>
          </a:prstGeom>
          <a:solidFill>
            <a:srgbClr val="F6F8FB"/>
          </a:solidFill>
          <a:ln w="7620">
            <a:solidFill>
              <a:srgbClr val="D8E1EA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06" name="Shape 1006"/>
          <p:cNvSpPr/>
          <p:nvPr/>
        </p:nvSpPr>
        <p:spPr>
          <a:xfrm>
            <a:off x="8092440" y="2935224"/>
            <a:ext cx="45720" cy="1874520"/>
          </a:xfrm>
          <a:prstGeom prst="rect">
            <a:avLst/>
          </a:prstGeom>
          <a:solidFill>
            <a:srgbClr val="D02C8C"/>
          </a:solidFill>
          <a:ln w="12700">
            <a:solidFill>
              <a:srgbClr val="D02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7" name="Text 1007"/>
          <p:cNvSpPr/>
          <p:nvPr/>
        </p:nvSpPr>
        <p:spPr>
          <a:xfrm>
            <a:off x="713232" y="3017520"/>
            <a:ext cx="3236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>
                <a:solidFill>
                  <a:srgbClr val="1F3D6B"/>
                </a:solidFill>
              </a:rPr>
              <a:t>KPI Trend Entry</a:t>
            </a:r>
            <a:endParaRPr lang="en-US" sz="1050"/>
          </a:p>
        </p:txBody>
      </p:sp>
      <p:sp>
        <p:nvSpPr>
          <p:cNvPr id="1008" name="Text 1008"/>
          <p:cNvSpPr/>
          <p:nvPr/>
        </p:nvSpPr>
        <p:spPr>
          <a:xfrm>
            <a:off x="713232" y="3227832"/>
            <a:ext cx="32369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b="0">
                <a:solidFill>
                  <a:srgbClr val="D02C8C"/>
                </a:solidFill>
              </a:rPr>
              <a:t>Transactions · selected</a:t>
            </a:r>
            <a:endParaRPr lang="en-US" sz="750"/>
          </a:p>
        </p:txBody>
      </p:sp>
      <p:sp>
        <p:nvSpPr>
          <p:cNvPr id="1009" name="Text 1009"/>
          <p:cNvSpPr/>
          <p:nvPr/>
        </p:nvSpPr>
        <p:spPr>
          <a:xfrm>
            <a:off x="4462272" y="3017520"/>
            <a:ext cx="3236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>
                <a:solidFill>
                  <a:srgbClr val="1F3D6B"/>
                </a:solidFill>
              </a:rPr>
              <a:t>Key Movement by Segment</a:t>
            </a:r>
            <a:endParaRPr lang="en-US" sz="1050"/>
          </a:p>
        </p:txBody>
      </p:sp>
      <p:sp>
        <p:nvSpPr>
          <p:cNvPr id="1010" name="Text 1010"/>
          <p:cNvSpPr/>
          <p:nvPr/>
        </p:nvSpPr>
        <p:spPr>
          <a:xfrm>
            <a:off x="4462272" y="3227832"/>
            <a:ext cx="32369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b="0">
                <a:solidFill>
                  <a:srgbClr val="8A94A6"/>
                </a:solidFill>
              </a:rPr>
              <a:t>Transactions movers · MoM change</a:t>
            </a:r>
            <a:endParaRPr lang="en-US" sz="750"/>
          </a:p>
        </p:txBody>
      </p:sp>
      <p:sp>
        <p:nvSpPr>
          <p:cNvPr id="1011" name="Text 1011"/>
          <p:cNvSpPr/>
          <p:nvPr/>
        </p:nvSpPr>
        <p:spPr>
          <a:xfrm>
            <a:off x="8211312" y="3017520"/>
            <a:ext cx="3236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>
                <a:solidFill>
                  <a:srgbClr val="1F3D6B"/>
                </a:solidFill>
              </a:rPr>
              <a:t>Actionable Alerts</a:t>
            </a:r>
            <a:endParaRPr lang="en-US" sz="1050"/>
          </a:p>
        </p:txBody>
      </p:sp>
      <p:sp>
        <p:nvSpPr>
          <p:cNvPr id="1012" name="Text 1012"/>
          <p:cNvSpPr/>
          <p:nvPr/>
        </p:nvSpPr>
        <p:spPr>
          <a:xfrm>
            <a:off x="8211312" y="3227832"/>
            <a:ext cx="32369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b="0">
                <a:solidFill>
                  <a:srgbClr val="8A94A6"/>
                </a:solidFill>
              </a:rPr>
              <a:t>Transactions alerts · last 24 hours</a:t>
            </a:r>
            <a:endParaRPr lang="en-US" sz="750"/>
          </a:p>
        </p:txBody>
      </p:sp>
      <p:sp>
        <p:nvSpPr>
          <p:cNvPr id="1013" name="Shape 1013"/>
          <p:cNvSpPr/>
          <p:nvPr/>
        </p:nvSpPr>
        <p:spPr>
          <a:xfrm>
            <a:off x="2395728" y="3191256"/>
            <a:ext cx="475488" cy="19202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CF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4" name="Text 1014"/>
          <p:cNvSpPr/>
          <p:nvPr/>
        </p:nvSpPr>
        <p:spPr>
          <a:xfrm>
            <a:off x="2395728" y="3218688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>
                <a:solidFill>
                  <a:srgbClr val="4A5568"/>
                </a:solidFill>
              </a:rPr>
              <a:t>Daily</a:t>
            </a:r>
            <a:endParaRPr lang="en-US" sz="700"/>
          </a:p>
        </p:txBody>
      </p:sp>
      <p:sp>
        <p:nvSpPr>
          <p:cNvPr id="1015" name="Shape 1015"/>
          <p:cNvSpPr/>
          <p:nvPr/>
        </p:nvSpPr>
        <p:spPr>
          <a:xfrm>
            <a:off x="2898648" y="3191256"/>
            <a:ext cx="548640" cy="19202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CF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6" name="Text 1016"/>
          <p:cNvSpPr/>
          <p:nvPr/>
        </p:nvSpPr>
        <p:spPr>
          <a:xfrm>
            <a:off x="2898648" y="3218688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>
                <a:solidFill>
                  <a:srgbClr val="4A5568"/>
                </a:solidFill>
              </a:rPr>
              <a:t>Weekly</a:t>
            </a:r>
            <a:endParaRPr lang="en-US" sz="700"/>
          </a:p>
        </p:txBody>
      </p:sp>
      <p:sp>
        <p:nvSpPr>
          <p:cNvPr id="1017" name="Shape 1017"/>
          <p:cNvSpPr/>
          <p:nvPr/>
        </p:nvSpPr>
        <p:spPr>
          <a:xfrm>
            <a:off x="3474720" y="3191256"/>
            <a:ext cx="594360" cy="192024"/>
          </a:xfrm>
          <a:prstGeom prst="roundRect">
            <a:avLst>
              <a:gd name="adj" fmla="val 25000"/>
            </a:avLst>
          </a:prstGeom>
          <a:solidFill>
            <a:srgbClr val="2E5FA3"/>
          </a:solidFill>
          <a:ln w="635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8" name="Text 1018"/>
          <p:cNvSpPr/>
          <p:nvPr/>
        </p:nvSpPr>
        <p:spPr>
          <a:xfrm>
            <a:off x="3474720" y="3218688"/>
            <a:ext cx="594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>
                <a:solidFill>
                  <a:srgbClr val="FFFFFF"/>
                </a:solidFill>
              </a:rPr>
              <a:t>Monthly</a:t>
            </a:r>
            <a:endParaRPr lang="en-US" sz="700"/>
          </a:p>
        </p:txBody>
      </p:sp>
      <p:sp>
        <p:nvSpPr>
          <p:cNvPr id="1019" name="Shape 1019"/>
          <p:cNvSpPr/>
          <p:nvPr/>
        </p:nvSpPr>
        <p:spPr>
          <a:xfrm>
            <a:off x="777240" y="3401568"/>
            <a:ext cx="3127248" cy="9326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0" name="Shape 1020"/>
          <p:cNvSpPr/>
          <p:nvPr/>
        </p:nvSpPr>
        <p:spPr>
          <a:xfrm>
            <a:off x="822960" y="3634740"/>
            <a:ext cx="3035808" cy="0"/>
          </a:xfrm>
          <a:prstGeom prst="line">
            <a:avLst/>
          </a:prstGeom>
          <a:noFill/>
          <a:ln w="4445">
            <a:solidFill>
              <a:srgbClr val="EDF1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1" name="Shape 1021"/>
          <p:cNvSpPr/>
          <p:nvPr/>
        </p:nvSpPr>
        <p:spPr>
          <a:xfrm>
            <a:off x="822960" y="3867912"/>
            <a:ext cx="3035808" cy="0"/>
          </a:xfrm>
          <a:prstGeom prst="line">
            <a:avLst/>
          </a:prstGeom>
          <a:noFill/>
          <a:ln w="4445">
            <a:solidFill>
              <a:srgbClr val="EDF1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2" name="Shape 1022"/>
          <p:cNvSpPr/>
          <p:nvPr/>
        </p:nvSpPr>
        <p:spPr>
          <a:xfrm>
            <a:off x="822960" y="4101084"/>
            <a:ext cx="3035808" cy="0"/>
          </a:xfrm>
          <a:prstGeom prst="line">
            <a:avLst/>
          </a:prstGeom>
          <a:noFill/>
          <a:ln w="4445">
            <a:solidFill>
              <a:srgbClr val="EDF1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3" name="Shape 1023"/>
          <p:cNvSpPr/>
          <p:nvPr/>
        </p:nvSpPr>
        <p:spPr>
          <a:xfrm flipV="1">
            <a:off x="941832" y="4046769"/>
            <a:ext cx="559613" cy="19751"/>
          </a:xfrm>
          <a:prstGeom prst="line">
            <a:avLst/>
          </a:prstGeom>
          <a:noFill/>
          <a:ln w="12700">
            <a:solidFill>
              <a:srgbClr val="C3CCD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24" name="Shape 1024"/>
          <p:cNvSpPr/>
          <p:nvPr/>
        </p:nvSpPr>
        <p:spPr>
          <a:xfrm flipV="1">
            <a:off x="1501445" y="4027018"/>
            <a:ext cx="559613" cy="19751"/>
          </a:xfrm>
          <a:prstGeom prst="line">
            <a:avLst/>
          </a:prstGeom>
          <a:noFill/>
          <a:ln w="12700">
            <a:solidFill>
              <a:srgbClr val="C3CCD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25" name="Shape 1025"/>
          <p:cNvSpPr/>
          <p:nvPr/>
        </p:nvSpPr>
        <p:spPr>
          <a:xfrm flipV="1">
            <a:off x="2061058" y="4000683"/>
            <a:ext cx="559613" cy="26335"/>
          </a:xfrm>
          <a:prstGeom prst="line">
            <a:avLst/>
          </a:prstGeom>
          <a:noFill/>
          <a:ln w="12700">
            <a:solidFill>
              <a:srgbClr val="C3CCD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26" name="Shape 1026"/>
          <p:cNvSpPr/>
          <p:nvPr/>
        </p:nvSpPr>
        <p:spPr>
          <a:xfrm flipV="1">
            <a:off x="2620670" y="3974348"/>
            <a:ext cx="559613" cy="26335"/>
          </a:xfrm>
          <a:prstGeom prst="line">
            <a:avLst/>
          </a:prstGeom>
          <a:noFill/>
          <a:ln w="12700">
            <a:solidFill>
              <a:srgbClr val="C3CCD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27" name="Shape 1027"/>
          <p:cNvSpPr/>
          <p:nvPr/>
        </p:nvSpPr>
        <p:spPr>
          <a:xfrm flipV="1">
            <a:off x="3180283" y="3934846"/>
            <a:ext cx="559613" cy="39502"/>
          </a:xfrm>
          <a:prstGeom prst="line">
            <a:avLst/>
          </a:prstGeom>
          <a:noFill/>
          <a:ln w="12700">
            <a:solidFill>
              <a:srgbClr val="C3CCD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28" name="Shape 1028"/>
          <p:cNvSpPr/>
          <p:nvPr/>
        </p:nvSpPr>
        <p:spPr>
          <a:xfrm flipV="1">
            <a:off x="941832" y="3974348"/>
            <a:ext cx="559613" cy="39502"/>
          </a:xfrm>
          <a:prstGeom prst="line">
            <a:avLst/>
          </a:prstGeom>
          <a:noFill/>
          <a:ln w="22225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9" name="Shape 1029"/>
          <p:cNvSpPr/>
          <p:nvPr/>
        </p:nvSpPr>
        <p:spPr>
          <a:xfrm>
            <a:off x="1501445" y="3974348"/>
            <a:ext cx="559613" cy="19751"/>
          </a:xfrm>
          <a:prstGeom prst="line">
            <a:avLst/>
          </a:prstGeom>
          <a:noFill/>
          <a:ln w="22225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0" name="Shape 1030"/>
          <p:cNvSpPr/>
          <p:nvPr/>
        </p:nvSpPr>
        <p:spPr>
          <a:xfrm flipV="1">
            <a:off x="2061058" y="3882177"/>
            <a:ext cx="559613" cy="111923"/>
          </a:xfrm>
          <a:prstGeom prst="line">
            <a:avLst/>
          </a:prstGeom>
          <a:noFill/>
          <a:ln w="22225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1" name="Shape 1031"/>
          <p:cNvSpPr/>
          <p:nvPr/>
        </p:nvSpPr>
        <p:spPr>
          <a:xfrm flipV="1">
            <a:off x="2620670" y="3829507"/>
            <a:ext cx="559613" cy="52669"/>
          </a:xfrm>
          <a:prstGeom prst="line">
            <a:avLst/>
          </a:prstGeom>
          <a:noFill/>
          <a:ln w="22225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2" name="Shape 1032"/>
          <p:cNvSpPr/>
          <p:nvPr/>
        </p:nvSpPr>
        <p:spPr>
          <a:xfrm flipV="1">
            <a:off x="3180283" y="3684666"/>
            <a:ext cx="559613" cy="144841"/>
          </a:xfrm>
          <a:prstGeom prst="line">
            <a:avLst/>
          </a:prstGeom>
          <a:noFill/>
          <a:ln w="22225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3" name="Shape 1033"/>
          <p:cNvSpPr/>
          <p:nvPr/>
        </p:nvSpPr>
        <p:spPr>
          <a:xfrm>
            <a:off x="914400" y="3986418"/>
            <a:ext cx="54864" cy="54864"/>
          </a:xfrm>
          <a:prstGeom prst="ellipse">
            <a:avLst/>
          </a:prstGeom>
          <a:solidFill>
            <a:srgbClr val="2E5FA3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4" name="Shape 1034"/>
          <p:cNvSpPr/>
          <p:nvPr/>
        </p:nvSpPr>
        <p:spPr>
          <a:xfrm>
            <a:off x="1474013" y="3946916"/>
            <a:ext cx="54864" cy="54864"/>
          </a:xfrm>
          <a:prstGeom prst="ellipse">
            <a:avLst/>
          </a:prstGeom>
          <a:solidFill>
            <a:srgbClr val="2E5FA3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5" name="Shape 1035"/>
          <p:cNvSpPr/>
          <p:nvPr/>
        </p:nvSpPr>
        <p:spPr>
          <a:xfrm>
            <a:off x="2033626" y="3966667"/>
            <a:ext cx="54864" cy="54864"/>
          </a:xfrm>
          <a:prstGeom prst="ellipse">
            <a:avLst/>
          </a:prstGeom>
          <a:solidFill>
            <a:srgbClr val="2E5FA3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6" name="Shape 1036"/>
          <p:cNvSpPr/>
          <p:nvPr/>
        </p:nvSpPr>
        <p:spPr>
          <a:xfrm>
            <a:off x="2593238" y="3854745"/>
            <a:ext cx="54864" cy="54864"/>
          </a:xfrm>
          <a:prstGeom prst="ellipse">
            <a:avLst/>
          </a:prstGeom>
          <a:solidFill>
            <a:srgbClr val="2E5FA3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7" name="Shape 1037"/>
          <p:cNvSpPr/>
          <p:nvPr/>
        </p:nvSpPr>
        <p:spPr>
          <a:xfrm>
            <a:off x="3152851" y="3802075"/>
            <a:ext cx="54864" cy="54864"/>
          </a:xfrm>
          <a:prstGeom prst="ellipse">
            <a:avLst/>
          </a:prstGeom>
          <a:solidFill>
            <a:srgbClr val="2E5FA3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8" name="Shape 1038"/>
          <p:cNvSpPr/>
          <p:nvPr/>
        </p:nvSpPr>
        <p:spPr>
          <a:xfrm>
            <a:off x="3698748" y="3643518"/>
            <a:ext cx="82296" cy="82296"/>
          </a:xfrm>
          <a:prstGeom prst="ellipse">
            <a:avLst/>
          </a:prstGeom>
          <a:solidFill>
            <a:srgbClr val="D02C8C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9" name="Text 1039"/>
          <p:cNvSpPr/>
          <p:nvPr/>
        </p:nvSpPr>
        <p:spPr>
          <a:xfrm>
            <a:off x="850392" y="3456432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50" b="1">
                <a:solidFill>
                  <a:srgbClr val="1F3D6B"/>
                </a:solidFill>
              </a:rPr>
              <a:t>60K  MoM +10.4%  YoY +18.2%</a:t>
            </a:r>
            <a:endParaRPr lang="en-US" sz="650"/>
          </a:p>
        </p:txBody>
      </p:sp>
      <p:sp>
        <p:nvSpPr>
          <p:cNvPr id="1040" name="Text 1040"/>
          <p:cNvSpPr/>
          <p:nvPr/>
        </p:nvSpPr>
        <p:spPr>
          <a:xfrm>
            <a:off x="758952" y="4361688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0">
                <a:solidFill>
                  <a:srgbClr val="8A94A6"/>
                </a:solidFill>
              </a:rPr>
              <a:t>Apr</a:t>
            </a:r>
            <a:endParaRPr lang="en-US" sz="650"/>
          </a:p>
        </p:txBody>
      </p:sp>
      <p:sp>
        <p:nvSpPr>
          <p:cNvPr id="1041" name="Text 1041"/>
          <p:cNvSpPr/>
          <p:nvPr/>
        </p:nvSpPr>
        <p:spPr>
          <a:xfrm>
            <a:off x="1318565" y="4361688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0">
                <a:solidFill>
                  <a:srgbClr val="8A94A6"/>
                </a:solidFill>
              </a:rPr>
              <a:t>May</a:t>
            </a:r>
            <a:endParaRPr lang="en-US" sz="650"/>
          </a:p>
        </p:txBody>
      </p:sp>
      <p:sp>
        <p:nvSpPr>
          <p:cNvPr id="1042" name="Text 1042"/>
          <p:cNvSpPr/>
          <p:nvPr/>
        </p:nvSpPr>
        <p:spPr>
          <a:xfrm>
            <a:off x="1878178" y="4361688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0">
                <a:solidFill>
                  <a:srgbClr val="8A94A6"/>
                </a:solidFill>
              </a:rPr>
              <a:t>Jun</a:t>
            </a:r>
            <a:endParaRPr lang="en-US" sz="650"/>
          </a:p>
        </p:txBody>
      </p:sp>
      <p:sp>
        <p:nvSpPr>
          <p:cNvPr id="1043" name="Text 1043"/>
          <p:cNvSpPr/>
          <p:nvPr/>
        </p:nvSpPr>
        <p:spPr>
          <a:xfrm>
            <a:off x="2437790" y="4361688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0">
                <a:solidFill>
                  <a:srgbClr val="8A94A6"/>
                </a:solidFill>
              </a:rPr>
              <a:t>Jul</a:t>
            </a:r>
            <a:endParaRPr lang="en-US" sz="650"/>
          </a:p>
        </p:txBody>
      </p:sp>
      <p:sp>
        <p:nvSpPr>
          <p:cNvPr id="1044" name="Text 1044"/>
          <p:cNvSpPr/>
          <p:nvPr/>
        </p:nvSpPr>
        <p:spPr>
          <a:xfrm>
            <a:off x="2997403" y="4361688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0">
                <a:solidFill>
                  <a:srgbClr val="8A94A6"/>
                </a:solidFill>
              </a:rPr>
              <a:t>Aug</a:t>
            </a:r>
            <a:endParaRPr lang="en-US" sz="650"/>
          </a:p>
        </p:txBody>
      </p:sp>
      <p:sp>
        <p:nvSpPr>
          <p:cNvPr id="1045" name="Text 1045"/>
          <p:cNvSpPr/>
          <p:nvPr/>
        </p:nvSpPr>
        <p:spPr>
          <a:xfrm>
            <a:off x="3557016" y="4361688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0">
                <a:solidFill>
                  <a:srgbClr val="8A94A6"/>
                </a:solidFill>
              </a:rPr>
              <a:t>Sep</a:t>
            </a:r>
            <a:endParaRPr lang="en-US" sz="650"/>
          </a:p>
        </p:txBody>
      </p:sp>
      <p:sp>
        <p:nvSpPr>
          <p:cNvPr id="1046" name="Shape 1046"/>
          <p:cNvSpPr/>
          <p:nvPr/>
        </p:nvSpPr>
        <p:spPr>
          <a:xfrm>
            <a:off x="777240" y="4553712"/>
            <a:ext cx="566928" cy="164592"/>
          </a:xfrm>
          <a:prstGeom prst="roundRect">
            <a:avLst>
              <a:gd name="adj" fmla="val 25000"/>
            </a:avLst>
          </a:prstGeom>
          <a:solidFill>
            <a:srgbClr val="E8F0FA"/>
          </a:solidFill>
          <a:ln w="12700">
            <a:solidFill>
              <a:srgbClr val="E8F0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7" name="Text 1047"/>
          <p:cNvSpPr/>
          <p:nvPr/>
        </p:nvSpPr>
        <p:spPr>
          <a:xfrm>
            <a:off x="777240" y="4581144"/>
            <a:ext cx="56692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1">
                <a:solidFill>
                  <a:srgbClr val="2E5FA3"/>
                </a:solidFill>
              </a:rPr>
              <a:t>Actual</a:t>
            </a:r>
            <a:endParaRPr lang="en-US" sz="650"/>
          </a:p>
        </p:txBody>
      </p:sp>
      <p:sp>
        <p:nvSpPr>
          <p:cNvPr id="1048" name="Shape 1048"/>
          <p:cNvSpPr/>
          <p:nvPr/>
        </p:nvSpPr>
        <p:spPr>
          <a:xfrm>
            <a:off x="1399032" y="4553712"/>
            <a:ext cx="658368" cy="164592"/>
          </a:xfrm>
          <a:prstGeom prst="roundRect">
            <a:avLst>
              <a:gd name="adj" fmla="val 25000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9" name="Text 1049"/>
          <p:cNvSpPr/>
          <p:nvPr/>
        </p:nvSpPr>
        <p:spPr>
          <a:xfrm>
            <a:off x="1399032" y="4581144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1">
                <a:solidFill>
                  <a:srgbClr val="8A94A6"/>
                </a:solidFill>
              </a:rPr>
              <a:t>Last year</a:t>
            </a:r>
            <a:endParaRPr lang="en-US" sz="650"/>
          </a:p>
        </p:txBody>
      </p:sp>
      <p:sp>
        <p:nvSpPr>
          <p:cNvPr id="1050" name="Text 1050"/>
          <p:cNvSpPr/>
          <p:nvPr/>
        </p:nvSpPr>
        <p:spPr>
          <a:xfrm>
            <a:off x="2148840" y="4553712"/>
            <a:ext cx="1755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50" b="0">
                <a:solidFill>
                  <a:srgbClr val="8A94A6"/>
                </a:solidFill>
              </a:rPr>
              <a:t>Click a point → L2 Transactions</a:t>
            </a:r>
            <a:endParaRPr lang="en-US" sz="650"/>
          </a:p>
        </p:txBody>
      </p:sp>
      <p:sp>
        <p:nvSpPr>
          <p:cNvPr id="1051" name="Text 1051"/>
          <p:cNvSpPr/>
          <p:nvPr/>
        </p:nvSpPr>
        <p:spPr>
          <a:xfrm>
            <a:off x="4462272" y="3401568"/>
            <a:ext cx="1188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00" b="1">
                <a:solidFill>
                  <a:srgbClr val="8A94A6"/>
                </a:solidFill>
              </a:rPr>
              <a:t>SEGMENT</a:t>
            </a:r>
            <a:endParaRPr lang="en-US" sz="600"/>
          </a:p>
        </p:txBody>
      </p:sp>
      <p:sp>
        <p:nvSpPr>
          <p:cNvPr id="1052" name="Text 1052"/>
          <p:cNvSpPr/>
          <p:nvPr/>
        </p:nvSpPr>
        <p:spPr>
          <a:xfrm>
            <a:off x="6995160" y="3401568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00" b="1">
                <a:solidFill>
                  <a:srgbClr val="8A94A6"/>
                </a:solidFill>
              </a:rPr>
              <a:t>MoM %</a:t>
            </a:r>
            <a:endParaRPr lang="en-US" sz="600"/>
          </a:p>
        </p:txBody>
      </p:sp>
      <p:sp>
        <p:nvSpPr>
          <p:cNvPr id="1053" name="Text 1053"/>
          <p:cNvSpPr/>
          <p:nvPr/>
        </p:nvSpPr>
        <p:spPr>
          <a:xfrm>
            <a:off x="4462272" y="3547872"/>
            <a:ext cx="1234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0">
                <a:solidFill>
                  <a:srgbClr val="1F3D6B"/>
                </a:solidFill>
              </a:rPr>
              <a:t>QR payment</a:t>
            </a:r>
            <a:endParaRPr lang="en-US" sz="700"/>
          </a:p>
        </p:txBody>
      </p:sp>
      <p:sp>
        <p:nvSpPr>
          <p:cNvPr id="1054" name="Shape 1054"/>
          <p:cNvSpPr/>
          <p:nvPr/>
        </p:nvSpPr>
        <p:spPr>
          <a:xfrm>
            <a:off x="5504688" y="3557016"/>
            <a:ext cx="1572768" cy="118872"/>
          </a:xfrm>
          <a:prstGeom prst="rect">
            <a:avLst/>
          </a:prstGeom>
          <a:solidFill>
            <a:srgbClr val="EDF1F6"/>
          </a:solidFill>
          <a:ln w="6350">
            <a:solidFill>
              <a:srgbClr val="EDF1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5" name="Shape 1055"/>
          <p:cNvSpPr/>
          <p:nvPr/>
        </p:nvSpPr>
        <p:spPr>
          <a:xfrm>
            <a:off x="5504688" y="3557016"/>
            <a:ext cx="1488887" cy="118872"/>
          </a:xfrm>
          <a:prstGeom prst="rect">
            <a:avLst/>
          </a:prstGeom>
          <a:solidFill>
            <a:srgbClr val="1E8E5A"/>
          </a:solidFill>
          <a:ln w="6350">
            <a:solidFill>
              <a:srgbClr val="1E8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6" name="Text 1056"/>
          <p:cNvSpPr/>
          <p:nvPr/>
        </p:nvSpPr>
        <p:spPr>
          <a:xfrm>
            <a:off x="6995160" y="3547872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b="1">
                <a:solidFill>
                  <a:srgbClr val="1E8E5A"/>
                </a:solidFill>
              </a:rPr>
              <a:t>+14.2%</a:t>
            </a:r>
            <a:endParaRPr lang="en-US" sz="700"/>
          </a:p>
        </p:txBody>
      </p:sp>
      <p:sp>
        <p:nvSpPr>
          <p:cNvPr id="1057" name="Text 1057"/>
          <p:cNvSpPr/>
          <p:nvPr/>
        </p:nvSpPr>
        <p:spPr>
          <a:xfrm>
            <a:off x="4462272" y="3785616"/>
            <a:ext cx="1234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0">
                <a:solidFill>
                  <a:srgbClr val="1F3D6B"/>
                </a:solidFill>
              </a:rPr>
              <a:t>Convenience stores</a:t>
            </a:r>
            <a:endParaRPr lang="en-US" sz="700"/>
          </a:p>
        </p:txBody>
      </p:sp>
      <p:sp>
        <p:nvSpPr>
          <p:cNvPr id="1058" name="Shape 1058"/>
          <p:cNvSpPr/>
          <p:nvPr/>
        </p:nvSpPr>
        <p:spPr>
          <a:xfrm>
            <a:off x="5504688" y="3794760"/>
            <a:ext cx="1572768" cy="118872"/>
          </a:xfrm>
          <a:prstGeom prst="rect">
            <a:avLst/>
          </a:prstGeom>
          <a:solidFill>
            <a:srgbClr val="EDF1F6"/>
          </a:solidFill>
          <a:ln w="6350">
            <a:solidFill>
              <a:srgbClr val="EDF1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9" name="Shape 1059"/>
          <p:cNvSpPr/>
          <p:nvPr/>
        </p:nvSpPr>
        <p:spPr>
          <a:xfrm>
            <a:off x="5504688" y="3794760"/>
            <a:ext cx="1205789" cy="118872"/>
          </a:xfrm>
          <a:prstGeom prst="rect">
            <a:avLst/>
          </a:prstGeom>
          <a:solidFill>
            <a:srgbClr val="1E8E5A"/>
          </a:solidFill>
          <a:ln w="6350">
            <a:solidFill>
              <a:srgbClr val="1E8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0" name="Text 1060"/>
          <p:cNvSpPr/>
          <p:nvPr/>
        </p:nvSpPr>
        <p:spPr>
          <a:xfrm>
            <a:off x="6995160" y="378561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b="1">
                <a:solidFill>
                  <a:srgbClr val="1E8E5A"/>
                </a:solidFill>
              </a:rPr>
              <a:t>+11.5%</a:t>
            </a:r>
            <a:endParaRPr lang="en-US" sz="700"/>
          </a:p>
        </p:txBody>
      </p:sp>
      <p:sp>
        <p:nvSpPr>
          <p:cNvPr id="1061" name="Text 1061"/>
          <p:cNvSpPr/>
          <p:nvPr/>
        </p:nvSpPr>
        <p:spPr>
          <a:xfrm>
            <a:off x="4462272" y="4023360"/>
            <a:ext cx="1234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0">
                <a:solidFill>
                  <a:srgbClr val="1F3D6B"/>
                </a:solidFill>
              </a:rPr>
              <a:t>Age 20-29</a:t>
            </a:r>
            <a:endParaRPr lang="en-US" sz="700"/>
          </a:p>
        </p:txBody>
      </p:sp>
      <p:sp>
        <p:nvSpPr>
          <p:cNvPr id="1062" name="Shape 1062"/>
          <p:cNvSpPr/>
          <p:nvPr/>
        </p:nvSpPr>
        <p:spPr>
          <a:xfrm>
            <a:off x="5504688" y="4032504"/>
            <a:ext cx="1572768" cy="118872"/>
          </a:xfrm>
          <a:prstGeom prst="rect">
            <a:avLst/>
          </a:prstGeom>
          <a:solidFill>
            <a:srgbClr val="EDF1F6"/>
          </a:solidFill>
          <a:ln w="6350">
            <a:solidFill>
              <a:srgbClr val="EDF1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3" name="Shape 1063"/>
          <p:cNvSpPr/>
          <p:nvPr/>
        </p:nvSpPr>
        <p:spPr>
          <a:xfrm>
            <a:off x="5504688" y="4032504"/>
            <a:ext cx="870265" cy="118872"/>
          </a:xfrm>
          <a:prstGeom prst="rect">
            <a:avLst/>
          </a:prstGeom>
          <a:solidFill>
            <a:srgbClr val="1E8E5A"/>
          </a:solidFill>
          <a:ln w="6350">
            <a:solidFill>
              <a:srgbClr val="1E8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4" name="Text 1064"/>
          <p:cNvSpPr/>
          <p:nvPr/>
        </p:nvSpPr>
        <p:spPr>
          <a:xfrm>
            <a:off x="6995160" y="4023360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b="1">
                <a:solidFill>
                  <a:srgbClr val="1E8E5A"/>
                </a:solidFill>
              </a:rPr>
              <a:t>+8.3%</a:t>
            </a:r>
            <a:endParaRPr lang="en-US" sz="700"/>
          </a:p>
        </p:txBody>
      </p:sp>
      <p:sp>
        <p:nvSpPr>
          <p:cNvPr id="1065" name="Text 1065"/>
          <p:cNvSpPr/>
          <p:nvPr/>
        </p:nvSpPr>
        <p:spPr>
          <a:xfrm>
            <a:off x="4462272" y="4261104"/>
            <a:ext cx="1234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0">
                <a:solidFill>
                  <a:srgbClr val="4A5568"/>
                </a:solidFill>
              </a:rPr>
              <a:t>Hanoi</a:t>
            </a:r>
            <a:endParaRPr lang="en-US" sz="700"/>
          </a:p>
        </p:txBody>
      </p:sp>
      <p:sp>
        <p:nvSpPr>
          <p:cNvPr id="1066" name="Shape 1066"/>
          <p:cNvSpPr/>
          <p:nvPr/>
        </p:nvSpPr>
        <p:spPr>
          <a:xfrm>
            <a:off x="5504688" y="4270248"/>
            <a:ext cx="1572768" cy="118872"/>
          </a:xfrm>
          <a:prstGeom prst="rect">
            <a:avLst/>
          </a:prstGeom>
          <a:solidFill>
            <a:srgbClr val="EDF1F6"/>
          </a:solidFill>
          <a:ln w="6350">
            <a:solidFill>
              <a:srgbClr val="EDF1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7" name="Shape 1067"/>
          <p:cNvSpPr/>
          <p:nvPr/>
        </p:nvSpPr>
        <p:spPr>
          <a:xfrm>
            <a:off x="6699992" y="4270248"/>
            <a:ext cx="377464" cy="118872"/>
          </a:xfrm>
          <a:prstGeom prst="rect">
            <a:avLst/>
          </a:prstGeom>
          <a:solidFill>
            <a:srgbClr val="C0392B"/>
          </a:solidFill>
          <a:ln w="63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8" name="Text 1068"/>
          <p:cNvSpPr/>
          <p:nvPr/>
        </p:nvSpPr>
        <p:spPr>
          <a:xfrm>
            <a:off x="6995160" y="4261104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b="1">
                <a:solidFill>
                  <a:srgbClr val="C0392B"/>
                </a:solidFill>
              </a:rPr>
              <a:t>-3.6%</a:t>
            </a:r>
            <a:endParaRPr lang="en-US" sz="700"/>
          </a:p>
        </p:txBody>
      </p:sp>
      <p:sp>
        <p:nvSpPr>
          <p:cNvPr id="1069" name="Text 1069"/>
          <p:cNvSpPr/>
          <p:nvPr/>
        </p:nvSpPr>
        <p:spPr>
          <a:xfrm>
            <a:off x="4462272" y="4498848"/>
            <a:ext cx="1234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0">
                <a:solidFill>
                  <a:srgbClr val="4A5568"/>
                </a:solidFill>
              </a:rPr>
              <a:t>Department stores</a:t>
            </a:r>
            <a:endParaRPr lang="en-US" sz="700"/>
          </a:p>
        </p:txBody>
      </p:sp>
      <p:sp>
        <p:nvSpPr>
          <p:cNvPr id="1070" name="Shape 1070"/>
          <p:cNvSpPr/>
          <p:nvPr/>
        </p:nvSpPr>
        <p:spPr>
          <a:xfrm>
            <a:off x="5504688" y="4507992"/>
            <a:ext cx="1572768" cy="118872"/>
          </a:xfrm>
          <a:prstGeom prst="rect">
            <a:avLst/>
          </a:prstGeom>
          <a:solidFill>
            <a:srgbClr val="EDF1F6"/>
          </a:solidFill>
          <a:ln w="6350">
            <a:solidFill>
              <a:srgbClr val="EDF1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1" name="Shape 1071"/>
          <p:cNvSpPr/>
          <p:nvPr/>
        </p:nvSpPr>
        <p:spPr>
          <a:xfrm>
            <a:off x="6511260" y="4507992"/>
            <a:ext cx="566196" cy="118872"/>
          </a:xfrm>
          <a:prstGeom prst="rect">
            <a:avLst/>
          </a:prstGeom>
          <a:solidFill>
            <a:srgbClr val="C0392B"/>
          </a:solidFill>
          <a:ln w="63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2" name="Text 1072"/>
          <p:cNvSpPr/>
          <p:nvPr/>
        </p:nvSpPr>
        <p:spPr>
          <a:xfrm>
            <a:off x="6995160" y="4498848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b="1">
                <a:solidFill>
                  <a:srgbClr val="C0392B"/>
                </a:solidFill>
              </a:rPr>
              <a:t>-5.4%</a:t>
            </a:r>
            <a:endParaRPr lang="en-US" sz="700"/>
          </a:p>
        </p:txBody>
      </p:sp>
      <p:sp>
        <p:nvSpPr>
          <p:cNvPr id="1073" name="Text 1073"/>
          <p:cNvSpPr/>
          <p:nvPr/>
        </p:nvSpPr>
        <p:spPr>
          <a:xfrm>
            <a:off x="4462272" y="4736592"/>
            <a:ext cx="32369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50" b="0">
                <a:solidFill>
                  <a:srgbClr val="8A94A6"/>
                </a:solidFill>
              </a:rPr>
              <a:t>Click a bar → opens L2 with that segment applied</a:t>
            </a:r>
            <a:endParaRPr lang="en-US" sz="650"/>
          </a:p>
        </p:txBody>
      </p:sp>
      <p:sp>
        <p:nvSpPr>
          <p:cNvPr id="1074" name="Shape 1074"/>
          <p:cNvSpPr/>
          <p:nvPr/>
        </p:nvSpPr>
        <p:spPr>
          <a:xfrm>
            <a:off x="8211312" y="3401568"/>
            <a:ext cx="3236976" cy="384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5" name="Shape 1075"/>
          <p:cNvSpPr/>
          <p:nvPr/>
        </p:nvSpPr>
        <p:spPr>
          <a:xfrm>
            <a:off x="8211312" y="3401568"/>
            <a:ext cx="36576" cy="384048"/>
          </a:xfrm>
          <a:prstGeom prst="rect">
            <a:avLst/>
          </a:prstGeom>
          <a:solidFill>
            <a:srgbClr val="C0392B"/>
          </a:solidFill>
          <a:ln w="63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6" name="Shape 1076"/>
          <p:cNvSpPr/>
          <p:nvPr/>
        </p:nvSpPr>
        <p:spPr>
          <a:xfrm>
            <a:off x="8311896" y="3456432"/>
            <a:ext cx="420624" cy="146304"/>
          </a:xfrm>
          <a:prstGeom prst="roundRect">
            <a:avLst>
              <a:gd name="adj" fmla="val 25000"/>
            </a:avLst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7" name="Text 1077"/>
          <p:cNvSpPr/>
          <p:nvPr/>
        </p:nvSpPr>
        <p:spPr>
          <a:xfrm>
            <a:off x="8311896" y="3474720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00" b="1">
                <a:solidFill>
                  <a:srgbClr val="C0392B"/>
                </a:solidFill>
              </a:rPr>
              <a:t>HIGH</a:t>
            </a:r>
            <a:endParaRPr lang="en-US" sz="600"/>
          </a:p>
        </p:txBody>
      </p:sp>
      <p:sp>
        <p:nvSpPr>
          <p:cNvPr id="1078" name="Text 1078"/>
          <p:cNvSpPr/>
          <p:nvPr/>
        </p:nvSpPr>
        <p:spPr>
          <a:xfrm>
            <a:off x="8787384" y="3447288"/>
            <a:ext cx="2606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>
                <a:solidFill>
                  <a:srgbClr val="1F3D6B"/>
                </a:solidFill>
              </a:rPr>
              <a:t>Department store trx -5.4%</a:t>
            </a:r>
            <a:endParaRPr lang="en-US" sz="750"/>
          </a:p>
        </p:txBody>
      </p:sp>
      <p:sp>
        <p:nvSpPr>
          <p:cNvPr id="1079" name="Text 1079"/>
          <p:cNvSpPr/>
          <p:nvPr/>
        </p:nvSpPr>
        <p:spPr>
          <a:xfrm>
            <a:off x="8787384" y="3611880"/>
            <a:ext cx="2606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50" b="0">
                <a:solidFill>
                  <a:srgbClr val="8A94A6"/>
                </a:solidFill>
              </a:rPr>
              <a:t>Weekend traffic down in three malls</a:t>
            </a:r>
            <a:endParaRPr lang="en-US" sz="650"/>
          </a:p>
        </p:txBody>
      </p:sp>
      <p:sp>
        <p:nvSpPr>
          <p:cNvPr id="1080" name="Shape 1080"/>
          <p:cNvSpPr/>
          <p:nvPr/>
        </p:nvSpPr>
        <p:spPr>
          <a:xfrm>
            <a:off x="8211312" y="3831336"/>
            <a:ext cx="3236976" cy="384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1" name="Shape 1081"/>
          <p:cNvSpPr/>
          <p:nvPr/>
        </p:nvSpPr>
        <p:spPr>
          <a:xfrm>
            <a:off x="8211312" y="3831336"/>
            <a:ext cx="36576" cy="384048"/>
          </a:xfrm>
          <a:prstGeom prst="rect">
            <a:avLst/>
          </a:prstGeom>
          <a:solidFill>
            <a:srgbClr val="C77700"/>
          </a:solidFill>
          <a:ln w="6350">
            <a:solidFill>
              <a:srgbClr val="C77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2" name="Shape 1082"/>
          <p:cNvSpPr/>
          <p:nvPr/>
        </p:nvSpPr>
        <p:spPr>
          <a:xfrm>
            <a:off x="8311896" y="3886200"/>
            <a:ext cx="420624" cy="146304"/>
          </a:xfrm>
          <a:prstGeom prst="roundRect">
            <a:avLst>
              <a:gd name="adj" fmla="val 25000"/>
            </a:avLst>
          </a:prstGeom>
          <a:solidFill>
            <a:srgbClr val="FDF3E3"/>
          </a:solidFill>
          <a:ln w="12700">
            <a:solidFill>
              <a:srgbClr val="FDF3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3" name="Text 1083"/>
          <p:cNvSpPr/>
          <p:nvPr/>
        </p:nvSpPr>
        <p:spPr>
          <a:xfrm>
            <a:off x="8311896" y="3904488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00" b="1">
                <a:solidFill>
                  <a:srgbClr val="C77700"/>
                </a:solidFill>
              </a:rPr>
              <a:t>MED</a:t>
            </a:r>
            <a:endParaRPr lang="en-US" sz="600"/>
          </a:p>
        </p:txBody>
      </p:sp>
      <p:sp>
        <p:nvSpPr>
          <p:cNvPr id="1084" name="Text 1084"/>
          <p:cNvSpPr/>
          <p:nvPr/>
        </p:nvSpPr>
        <p:spPr>
          <a:xfrm>
            <a:off x="8787384" y="3877056"/>
            <a:ext cx="2606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>
                <a:solidFill>
                  <a:srgbClr val="1F3D6B"/>
                </a:solidFill>
              </a:rPr>
              <a:t>QR payment share +6.1pt</a:t>
            </a:r>
            <a:endParaRPr lang="en-US" sz="750"/>
          </a:p>
        </p:txBody>
      </p:sp>
      <p:sp>
        <p:nvSpPr>
          <p:cNvPr id="1085" name="Text 1085"/>
          <p:cNvSpPr/>
          <p:nvPr/>
        </p:nvSpPr>
        <p:spPr>
          <a:xfrm>
            <a:off x="8787384" y="4041648"/>
            <a:ext cx="2606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50" b="0">
                <a:solidFill>
                  <a:srgbClr val="8A94A6"/>
                </a:solidFill>
              </a:rPr>
              <a:t>Check settlement batch capacity</a:t>
            </a:r>
            <a:endParaRPr lang="en-US" sz="650"/>
          </a:p>
        </p:txBody>
      </p:sp>
      <p:sp>
        <p:nvSpPr>
          <p:cNvPr id="1086" name="Shape 1086"/>
          <p:cNvSpPr/>
          <p:nvPr/>
        </p:nvSpPr>
        <p:spPr>
          <a:xfrm>
            <a:off x="8211312" y="4261104"/>
            <a:ext cx="3236976" cy="384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7" name="Shape 1087"/>
          <p:cNvSpPr/>
          <p:nvPr/>
        </p:nvSpPr>
        <p:spPr>
          <a:xfrm>
            <a:off x="8211312" y="4261104"/>
            <a:ext cx="36576" cy="384048"/>
          </a:xfrm>
          <a:prstGeom prst="rect">
            <a:avLst/>
          </a:prstGeom>
          <a:solidFill>
            <a:srgbClr val="2E5FA3"/>
          </a:solidFill>
          <a:ln w="635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8" name="Shape 1088"/>
          <p:cNvSpPr/>
          <p:nvPr/>
        </p:nvSpPr>
        <p:spPr>
          <a:xfrm>
            <a:off x="8311896" y="4315968"/>
            <a:ext cx="420624" cy="146304"/>
          </a:xfrm>
          <a:prstGeom prst="roundRect">
            <a:avLst>
              <a:gd name="adj" fmla="val 25000"/>
            </a:avLst>
          </a:prstGeom>
          <a:solidFill>
            <a:srgbClr val="E8F0FA"/>
          </a:solidFill>
          <a:ln w="12700">
            <a:solidFill>
              <a:srgbClr val="E8F0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9" name="Text 1089"/>
          <p:cNvSpPr/>
          <p:nvPr/>
        </p:nvSpPr>
        <p:spPr>
          <a:xfrm>
            <a:off x="8311896" y="4334256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00" b="1">
                <a:solidFill>
                  <a:srgbClr val="2E5FA3"/>
                </a:solidFill>
              </a:rPr>
              <a:t>INFO</a:t>
            </a:r>
            <a:endParaRPr lang="en-US" sz="600"/>
          </a:p>
        </p:txBody>
      </p:sp>
      <p:sp>
        <p:nvSpPr>
          <p:cNvPr id="1090" name="Text 1090"/>
          <p:cNvSpPr/>
          <p:nvPr/>
        </p:nvSpPr>
        <p:spPr>
          <a:xfrm>
            <a:off x="8787384" y="4306824"/>
            <a:ext cx="2606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>
                <a:solidFill>
                  <a:srgbClr val="1F3D6B"/>
                </a:solidFill>
              </a:rPr>
              <a:t>Transactions +10.4% MoM</a:t>
            </a:r>
            <a:endParaRPr lang="en-US" sz="750"/>
          </a:p>
        </p:txBody>
      </p:sp>
      <p:sp>
        <p:nvSpPr>
          <p:cNvPr id="1091" name="Text 1091"/>
          <p:cNvSpPr/>
          <p:nvPr/>
        </p:nvSpPr>
        <p:spPr>
          <a:xfrm>
            <a:off x="8787384" y="4471416"/>
            <a:ext cx="2606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50" b="0">
                <a:solidFill>
                  <a:srgbClr val="8A94A6"/>
                </a:solidFill>
              </a:rPr>
              <a:t>Fastest growing KPI this month</a:t>
            </a:r>
            <a:endParaRPr lang="en-US" sz="650"/>
          </a:p>
        </p:txBody>
      </p:sp>
      <p:sp>
        <p:nvSpPr>
          <p:cNvPr id="1092" name="Text 1092"/>
          <p:cNvSpPr/>
          <p:nvPr/>
        </p:nvSpPr>
        <p:spPr>
          <a:xfrm>
            <a:off x="8211312" y="4718304"/>
            <a:ext cx="32369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50" b="0">
                <a:solidFill>
                  <a:srgbClr val="8A94A6"/>
                </a:solidFill>
              </a:rPr>
              <a:t>Click an alert → opens L2 with the filter applied</a:t>
            </a:r>
            <a:endParaRPr lang="en-US" sz="650"/>
          </a:p>
        </p:txBody>
      </p:sp>
      <p:sp>
        <p:nvSpPr>
          <p:cNvPr id="1093" name="Shape 1093"/>
          <p:cNvSpPr/>
          <p:nvPr/>
        </p:nvSpPr>
        <p:spPr>
          <a:xfrm>
            <a:off x="4398264" y="1728216"/>
            <a:ext cx="1728216" cy="905256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D02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4" name="Shape 1094"/>
          <p:cNvSpPr/>
          <p:nvPr/>
        </p:nvSpPr>
        <p:spPr>
          <a:xfrm>
            <a:off x="5358384" y="2395728"/>
            <a:ext cx="658368" cy="173736"/>
          </a:xfrm>
          <a:prstGeom prst="roundRect">
            <a:avLst>
              <a:gd name="adj" fmla="val 25000"/>
            </a:avLst>
          </a:prstGeom>
          <a:solidFill>
            <a:srgbClr val="D02C8C"/>
          </a:solidFill>
          <a:ln w="12700">
            <a:solidFill>
              <a:srgbClr val="D02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5" name="Text 1095"/>
          <p:cNvSpPr/>
          <p:nvPr/>
        </p:nvSpPr>
        <p:spPr>
          <a:xfrm>
            <a:off x="5358384" y="2418588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00" b="1">
                <a:solidFill>
                  <a:srgbClr val="FFFFFF"/>
                </a:solidFill>
              </a:rPr>
              <a:t>selected</a:t>
            </a:r>
            <a:endParaRPr lang="en-US" sz="600"/>
          </a:p>
        </p:txBody>
      </p:sp>
      <p:sp>
        <p:nvSpPr>
          <p:cNvPr id="8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8016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794">
                <a:solidFill>
                  <a:srgbClr val="8B95A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  <p:sp>
        <p:nvSpPr>
          <p:cNvPr id="101" name="Shape 101"/>
          <p:cNvSpPr/>
          <p:nvPr/>
        </p:nvSpPr>
        <p:spPr>
          <a:xfrm>
            <a:off x="2002536" y="1806552"/>
            <a:ext cx="182880" cy="182880"/>
          </a:xfrm>
          <a:prstGeom prst="ellipse">
            <a:avLst/>
          </a:prstGeom>
          <a:noFill/>
          <a:ln w="7620">
            <a:solidFill>
              <a:srgbClr val="B4C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 102"/>
          <p:cNvSpPr/>
          <p:nvPr/>
        </p:nvSpPr>
        <p:spPr>
          <a:xfrm>
            <a:off x="2002536" y="1806552"/>
            <a:ext cx="1828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6B7C93"/>
                </a:solidFill>
              </a:rPr>
              <a:t>i</a:t>
            </a:r>
            <a:endParaRPr lang="en-US" sz="900"/>
          </a:p>
        </p:txBody>
      </p:sp>
      <p:sp>
        <p:nvSpPr>
          <p:cNvPr id="103" name="Shape 103"/>
          <p:cNvSpPr/>
          <p:nvPr/>
        </p:nvSpPr>
        <p:spPr>
          <a:xfrm>
            <a:off x="3913632" y="1806552"/>
            <a:ext cx="182880" cy="182880"/>
          </a:xfrm>
          <a:prstGeom prst="ellipse">
            <a:avLst/>
          </a:prstGeom>
          <a:noFill/>
          <a:ln w="7620">
            <a:solidFill>
              <a:srgbClr val="B4C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Text 104"/>
          <p:cNvSpPr/>
          <p:nvPr/>
        </p:nvSpPr>
        <p:spPr>
          <a:xfrm>
            <a:off x="3913632" y="1806552"/>
            <a:ext cx="1828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6B7C93"/>
                </a:solidFill>
              </a:rPr>
              <a:t>i</a:t>
            </a:r>
            <a:endParaRPr lang="en-US" sz="900"/>
          </a:p>
        </p:txBody>
      </p:sp>
      <p:sp>
        <p:nvSpPr>
          <p:cNvPr id="105" name="Shape 105"/>
          <p:cNvSpPr/>
          <p:nvPr/>
        </p:nvSpPr>
        <p:spPr>
          <a:xfrm>
            <a:off x="5824728" y="1806552"/>
            <a:ext cx="182880" cy="182880"/>
          </a:xfrm>
          <a:prstGeom prst="ellipse">
            <a:avLst/>
          </a:prstGeom>
          <a:noFill/>
          <a:ln w="7620">
            <a:solidFill>
              <a:srgbClr val="B4C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Text 106"/>
          <p:cNvSpPr/>
          <p:nvPr/>
        </p:nvSpPr>
        <p:spPr>
          <a:xfrm>
            <a:off x="5824728" y="1806552"/>
            <a:ext cx="1828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6B7C93"/>
                </a:solidFill>
              </a:rPr>
              <a:t>i</a:t>
            </a:r>
            <a:endParaRPr lang="en-US" sz="900"/>
          </a:p>
        </p:txBody>
      </p:sp>
      <p:sp>
        <p:nvSpPr>
          <p:cNvPr id="107" name="Shape 107"/>
          <p:cNvSpPr/>
          <p:nvPr/>
        </p:nvSpPr>
        <p:spPr>
          <a:xfrm>
            <a:off x="7735824" y="1806552"/>
            <a:ext cx="182880" cy="182880"/>
          </a:xfrm>
          <a:prstGeom prst="ellipse">
            <a:avLst/>
          </a:prstGeom>
          <a:noFill/>
          <a:ln w="7620">
            <a:solidFill>
              <a:srgbClr val="B4C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Text 108"/>
          <p:cNvSpPr/>
          <p:nvPr/>
        </p:nvSpPr>
        <p:spPr>
          <a:xfrm>
            <a:off x="7735824" y="1806552"/>
            <a:ext cx="1828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6B7C93"/>
                </a:solidFill>
              </a:rPr>
              <a:t>i</a:t>
            </a:r>
            <a:endParaRPr lang="en-US" sz="900"/>
          </a:p>
        </p:txBody>
      </p:sp>
      <p:sp>
        <p:nvSpPr>
          <p:cNvPr id="109" name="Shape 109"/>
          <p:cNvSpPr/>
          <p:nvPr/>
        </p:nvSpPr>
        <p:spPr>
          <a:xfrm>
            <a:off x="9646920" y="1806552"/>
            <a:ext cx="182880" cy="182880"/>
          </a:xfrm>
          <a:prstGeom prst="ellipse">
            <a:avLst/>
          </a:prstGeom>
          <a:noFill/>
          <a:ln w="7620">
            <a:solidFill>
              <a:srgbClr val="B4C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Text 110"/>
          <p:cNvSpPr/>
          <p:nvPr/>
        </p:nvSpPr>
        <p:spPr>
          <a:xfrm>
            <a:off x="9646920" y="1806552"/>
            <a:ext cx="1828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6B7C93"/>
                </a:solidFill>
              </a:rPr>
              <a:t>i</a:t>
            </a:r>
            <a:endParaRPr lang="en-US" sz="900"/>
          </a:p>
        </p:txBody>
      </p:sp>
      <p:sp>
        <p:nvSpPr>
          <p:cNvPr id="111" name="Shape 111"/>
          <p:cNvSpPr/>
          <p:nvPr/>
        </p:nvSpPr>
        <p:spPr>
          <a:xfrm>
            <a:off x="11558016" y="1806552"/>
            <a:ext cx="182880" cy="182880"/>
          </a:xfrm>
          <a:prstGeom prst="ellipse">
            <a:avLst/>
          </a:prstGeom>
          <a:noFill/>
          <a:ln w="7620">
            <a:solidFill>
              <a:srgbClr val="B4C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Text 112"/>
          <p:cNvSpPr/>
          <p:nvPr/>
        </p:nvSpPr>
        <p:spPr>
          <a:xfrm>
            <a:off x="11558016" y="1806552"/>
            <a:ext cx="1828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6B7C93"/>
                </a:solidFill>
              </a:rPr>
              <a:t>i</a:t>
            </a:r>
            <a:endParaRPr lang="en-US" sz="900"/>
          </a:p>
        </p:txBody>
      </p:sp>
      <p:sp>
        <p:nvSpPr>
          <p:cNvPr id="113" name="Shape 113"/>
          <p:cNvSpPr/>
          <p:nvPr/>
        </p:nvSpPr>
        <p:spPr>
          <a:xfrm>
            <a:off x="594360" y="4980000"/>
            <a:ext cx="11247120" cy="1200000"/>
          </a:xfrm>
          <a:prstGeom prst="roundRect">
            <a:avLst>
              <a:gd name="adj" fmla="val 4000"/>
            </a:avLst>
          </a:prstGeom>
          <a:solidFill>
            <a:srgbClr val="F6F8FB"/>
          </a:solidFill>
          <a:ln w="7620">
            <a:solidFill>
              <a:srgbClr val="D8E1EA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4" name="Shape 114"/>
          <p:cNvSpPr/>
          <p:nvPr/>
        </p:nvSpPr>
        <p:spPr>
          <a:xfrm>
            <a:off x="594360" y="4980000"/>
            <a:ext cx="45720" cy="1200000"/>
          </a:xfrm>
          <a:prstGeom prst="rect">
            <a:avLst/>
          </a:prstGeom>
          <a:solidFill>
            <a:srgbClr val="2E5F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5" name="Text 115"/>
          <p:cNvSpPr/>
          <p:nvPr/>
        </p:nvSpPr>
        <p:spPr>
          <a:xfrm>
            <a:off x="713232" y="5062296"/>
            <a:ext cx="60000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86" b="1">
                <a:solidFill>
                  <a:srgbClr val="1F3D6B"/>
                </a:solidFill>
              </a:rPr>
              <a:t>Hover Tooltip · Metric Definition</a:t>
            </a:r>
            <a:endParaRPr lang="en-US" sz="1286"/>
          </a:p>
        </p:txBody>
      </p:sp>
      <p:sp>
        <p:nvSpPr>
          <p:cNvPr id="116" name="Text 116"/>
          <p:cNvSpPr/>
          <p:nvPr/>
        </p:nvSpPr>
        <p:spPr>
          <a:xfrm>
            <a:off x="713232" y="5300000"/>
            <a:ext cx="10900000" cy="780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31">
                <a:solidFill>
                  <a:srgbClr val="4A5568"/>
                </a:solidFill>
              </a:rPr>
              <a:t>Transactions — Completed purchases in the selected period, cancelled orders excluded.</a:t>
            </a:r>
            <a:endParaRPr lang="en-US" sz="1031"/>
          </a:p>
          <a:p>
            <a:pPr marL="0" indent="0">
              <a:buNone/>
            </a:pPr>
            <a:r>
              <a:rPr lang="en-US" sz="1031">
                <a:solidFill>
                  <a:srgbClr val="4A5568"/>
                </a:solidFill>
              </a:rPr>
              <a:t>Formula: count(transaction_id) where status = completed   ·   Source: agg_merchant_daily   ·   Updated daily 06:00 ICT</a:t>
            </a:r>
            <a:endParaRPr lang="en-US" sz="1031"/>
          </a:p>
          <a:p>
            <a:pPr marL="0" indent="0">
              <a:buNone/>
            </a:pPr>
            <a:r>
              <a:rPr lang="en-US" sz="1031">
                <a:solidFill>
                  <a:srgbClr val="4A5568"/>
                </a:solidFill>
              </a:rPr>
              <a:t>Every KPI card, chart title, and table column exposes the same definition on hover.</a:t>
            </a:r>
            <a:endParaRPr lang="en-US" sz="103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42" b="1">
                <a:solidFill>
                  <a:srgbClr val="1F3D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L1 · Merchant Insight Overview — AOV selected</a:t>
            </a:r>
            <a:endParaRPr lang="en-US" sz="2542"/>
          </a:p>
        </p:txBody>
      </p:sp>
      <p:sp>
        <p:nvSpPr>
          <p:cNvPr id="3" name="Text 1"/>
          <p:cNvSpPr/>
          <p:nvPr/>
        </p:nvSpPr>
        <p:spPr>
          <a:xfrm>
            <a:off x="274320" y="502920"/>
            <a:ext cx="11521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6">
                <a:solidFill>
                  <a:srgbClr val="4A5568"/>
                </a:solidFill>
              </a:rPr>
              <a:t>Clicking the AOV KPI card refreshes the whole panel row to the AOV context before moving to L2.</a:t>
            </a:r>
            <a:endParaRPr lang="en-US" sz="1076"/>
          </a:p>
        </p:txBody>
      </p:sp>
      <p:sp>
        <p:nvSpPr>
          <p:cNvPr id="5" name="Shape 2"/>
          <p:cNvSpPr/>
          <p:nvPr/>
        </p:nvSpPr>
        <p:spPr>
          <a:xfrm>
            <a:off x="320040" y="1056456"/>
            <a:ext cx="11567160" cy="5349240"/>
          </a:xfrm>
          <a:prstGeom prst="roundRect">
            <a:avLst>
              <a:gd name="adj" fmla="val 1026"/>
            </a:avLst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320040" y="1056456"/>
            <a:ext cx="11567160" cy="411480"/>
          </a:xfrm>
          <a:prstGeom prst="rect">
            <a:avLst/>
          </a:prstGeom>
          <a:solidFill>
            <a:srgbClr val="1F3D6B"/>
          </a:solidFill>
          <a:ln w="12700">
            <a:solidFill>
              <a:srgbClr val="1F3D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02920" y="117532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1" b="1">
                <a:solidFill>
                  <a:srgbClr val="FFFFFF"/>
                </a:solidFill>
              </a:rPr>
              <a:t>Merchant Insight Dashboard · L1 Overview</a:t>
            </a:r>
            <a:endParaRPr lang="en-US" sz="1121"/>
          </a:p>
        </p:txBody>
      </p:sp>
      <p:sp>
        <p:nvSpPr>
          <p:cNvPr id="8" name="Shape 5"/>
          <p:cNvSpPr/>
          <p:nvPr/>
        </p:nvSpPr>
        <p:spPr>
          <a:xfrm>
            <a:off x="3900000" y="1147896"/>
            <a:ext cx="1205000" cy="2286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936576" y="1198188"/>
            <a:ext cx="11318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7" b="1">
                <a:solidFill>
                  <a:srgbClr val="1F3D6B"/>
                </a:solidFill>
              </a:rPr>
              <a:t>Operation Unit</a:t>
            </a:r>
            <a:endParaRPr lang="en-US" sz="837"/>
          </a:p>
        </p:txBody>
      </p:sp>
      <p:sp>
        <p:nvSpPr>
          <p:cNvPr id="10" name="Shape 7"/>
          <p:cNvSpPr/>
          <p:nvPr/>
        </p:nvSpPr>
        <p:spPr>
          <a:xfrm>
            <a:off x="5176000" y="1147896"/>
            <a:ext cx="1205000" cy="2286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212576" y="1198188"/>
            <a:ext cx="11318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7" b="1">
                <a:solidFill>
                  <a:srgbClr val="1F3D6B"/>
                </a:solidFill>
              </a:rPr>
              <a:t>Store</a:t>
            </a:r>
            <a:endParaRPr lang="en-US" sz="837"/>
          </a:p>
        </p:txBody>
      </p:sp>
      <p:sp>
        <p:nvSpPr>
          <p:cNvPr id="12" name="Shape 9"/>
          <p:cNvSpPr/>
          <p:nvPr/>
        </p:nvSpPr>
        <p:spPr>
          <a:xfrm>
            <a:off x="6452000" y="1147896"/>
            <a:ext cx="1205000" cy="2286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488576" y="1198188"/>
            <a:ext cx="11318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7" b="1">
                <a:solidFill>
                  <a:srgbClr val="1F3D6B"/>
                </a:solidFill>
              </a:rPr>
              <a:t>Business Category</a:t>
            </a:r>
            <a:endParaRPr lang="en-US" sz="837"/>
          </a:p>
        </p:txBody>
      </p:sp>
      <p:sp>
        <p:nvSpPr>
          <p:cNvPr id="14" name="Shape 11"/>
          <p:cNvSpPr/>
          <p:nvPr/>
        </p:nvSpPr>
        <p:spPr>
          <a:xfrm>
            <a:off x="7728000" y="1147896"/>
            <a:ext cx="1205000" cy="2286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764576" y="1198188"/>
            <a:ext cx="11318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7" b="1">
                <a:solidFill>
                  <a:srgbClr val="1F3D6B"/>
                </a:solidFill>
              </a:rPr>
              <a:t>Tenant</a:t>
            </a:r>
            <a:endParaRPr lang="en-US" sz="837"/>
          </a:p>
        </p:txBody>
      </p:sp>
      <p:sp>
        <p:nvSpPr>
          <p:cNvPr id="16" name="Shape 13"/>
          <p:cNvSpPr/>
          <p:nvPr/>
        </p:nvSpPr>
        <p:spPr>
          <a:xfrm>
            <a:off x="9004000" y="1147896"/>
            <a:ext cx="1205000" cy="2286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9040576" y="1198188"/>
            <a:ext cx="11318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7" b="1">
                <a:solidFill>
                  <a:srgbClr val="1F3D6B"/>
                </a:solidFill>
              </a:rPr>
              <a:t>Date Range</a:t>
            </a:r>
            <a:endParaRPr lang="en-US" sz="837"/>
          </a:p>
        </p:txBody>
      </p:sp>
      <p:sp>
        <p:nvSpPr>
          <p:cNvPr id="900" name="Shape 900"/>
          <p:cNvSpPr/>
          <p:nvPr/>
        </p:nvSpPr>
        <p:spPr>
          <a:xfrm>
            <a:off x="10280000" y="1147896"/>
            <a:ext cx="1205000" cy="2286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1" name="Text 901"/>
          <p:cNvSpPr/>
          <p:nvPr/>
        </p:nvSpPr>
        <p:spPr>
          <a:xfrm>
            <a:off x="10316576" y="1198188"/>
            <a:ext cx="11318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7" b="1">
                <a:solidFill>
                  <a:srgbClr val="1F3D6B"/>
                </a:solidFill>
              </a:rPr>
              <a:t>Compare With</a:t>
            </a:r>
            <a:endParaRPr lang="en-US" sz="837"/>
          </a:p>
        </p:txBody>
      </p:sp>
      <p:sp>
        <p:nvSpPr>
          <p:cNvPr id="18" name="Shape 15"/>
          <p:cNvSpPr/>
          <p:nvPr/>
        </p:nvSpPr>
        <p:spPr>
          <a:xfrm>
            <a:off x="594360" y="1742256"/>
            <a:ext cx="1691640" cy="868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7620">
            <a:solidFill>
              <a:srgbClr val="DFE6EF"/>
            </a:solidFill>
            <a:prstDash val="solid"/>
          </a:ln>
          <a:effectLst>
            <a:outerShdw blurRad="12700" dist="635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67512" y="1824552"/>
            <a:ext cx="1545336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971" b="1">
                <a:solidFill>
                  <a:srgbClr val="4A5568"/>
                </a:solidFill>
              </a:rPr>
              <a:t>Purchasing Members</a:t>
            </a:r>
            <a:endParaRPr lang="en-US" sz="971"/>
          </a:p>
        </p:txBody>
      </p:sp>
      <p:sp>
        <p:nvSpPr>
          <p:cNvPr id="20" name="Text 17"/>
          <p:cNvSpPr/>
          <p:nvPr/>
        </p:nvSpPr>
        <p:spPr>
          <a:xfrm>
            <a:off x="667512" y="2053152"/>
            <a:ext cx="154533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2093" b="1">
                <a:solidFill>
                  <a:srgbClr val="1F3D6B"/>
                </a:solidFill>
              </a:rPr>
              <a:t>272K</a:t>
            </a:r>
            <a:endParaRPr lang="en-US" sz="2093"/>
          </a:p>
        </p:txBody>
      </p:sp>
      <p:sp>
        <p:nvSpPr>
          <p:cNvPr id="21" name="Text 18"/>
          <p:cNvSpPr/>
          <p:nvPr/>
        </p:nvSpPr>
        <p:spPr>
          <a:xfrm>
            <a:off x="667512" y="2400624"/>
            <a:ext cx="1545336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913">
                <a:solidFill>
                  <a:srgbClr val="2E7D32"/>
                </a:solidFill>
              </a:rPr>
              <a:t>MoM +8.2%</a:t>
            </a:r>
            <a:endParaRPr lang="en-US" sz="913"/>
          </a:p>
        </p:txBody>
      </p:sp>
      <p:sp>
        <p:nvSpPr>
          <p:cNvPr id="22" name="Shape 19"/>
          <p:cNvSpPr/>
          <p:nvPr/>
        </p:nvSpPr>
        <p:spPr>
          <a:xfrm>
            <a:off x="2505456" y="1742256"/>
            <a:ext cx="1691640" cy="868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7620">
            <a:solidFill>
              <a:srgbClr val="DFE6EF"/>
            </a:solidFill>
            <a:prstDash val="solid"/>
          </a:ln>
          <a:effectLst>
            <a:outerShdw blurRad="12700" dist="635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2578608" y="1824552"/>
            <a:ext cx="1545336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971" b="1">
                <a:solidFill>
                  <a:srgbClr val="4A5568"/>
                </a:solidFill>
              </a:rPr>
              <a:t>Net Sales</a:t>
            </a:r>
            <a:endParaRPr lang="en-US" sz="971"/>
          </a:p>
        </p:txBody>
      </p:sp>
      <p:sp>
        <p:nvSpPr>
          <p:cNvPr id="24" name="Text 21"/>
          <p:cNvSpPr/>
          <p:nvPr/>
        </p:nvSpPr>
        <p:spPr>
          <a:xfrm>
            <a:off x="2578608" y="2053152"/>
            <a:ext cx="154533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2093" b="1">
                <a:solidFill>
                  <a:srgbClr val="1F3D6B"/>
                </a:solidFill>
              </a:rPr>
              <a:t>226M</a:t>
            </a:r>
            <a:endParaRPr lang="en-US" sz="2093"/>
          </a:p>
        </p:txBody>
      </p:sp>
      <p:sp>
        <p:nvSpPr>
          <p:cNvPr id="25" name="Text 22"/>
          <p:cNvSpPr/>
          <p:nvPr/>
        </p:nvSpPr>
        <p:spPr>
          <a:xfrm>
            <a:off x="2578608" y="2400624"/>
            <a:ext cx="1545336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913">
                <a:solidFill>
                  <a:srgbClr val="2E7D32"/>
                </a:solidFill>
              </a:rPr>
              <a:t>MoM +5.6%</a:t>
            </a:r>
            <a:endParaRPr lang="en-US" sz="913"/>
          </a:p>
        </p:txBody>
      </p:sp>
      <p:sp>
        <p:nvSpPr>
          <p:cNvPr id="26" name="Shape 23"/>
          <p:cNvSpPr/>
          <p:nvPr/>
        </p:nvSpPr>
        <p:spPr>
          <a:xfrm>
            <a:off x="4416552" y="1742256"/>
            <a:ext cx="1691640" cy="868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7620">
            <a:solidFill>
              <a:srgbClr val="DFE6EF"/>
            </a:solidFill>
            <a:prstDash val="solid"/>
          </a:ln>
          <a:effectLst>
            <a:outerShdw blurRad="12700" dist="635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4489704" y="1824552"/>
            <a:ext cx="1545336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971" b="1">
                <a:solidFill>
                  <a:srgbClr val="4A5568"/>
                </a:solidFill>
              </a:rPr>
              <a:t>Transactions</a:t>
            </a:r>
            <a:endParaRPr lang="en-US" sz="971"/>
          </a:p>
        </p:txBody>
      </p:sp>
      <p:sp>
        <p:nvSpPr>
          <p:cNvPr id="28" name="Text 25"/>
          <p:cNvSpPr/>
          <p:nvPr/>
        </p:nvSpPr>
        <p:spPr>
          <a:xfrm>
            <a:off x="4489704" y="2053152"/>
            <a:ext cx="154533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2093" b="1">
                <a:solidFill>
                  <a:srgbClr val="1F3D6B"/>
                </a:solidFill>
              </a:rPr>
              <a:t>60K</a:t>
            </a:r>
            <a:endParaRPr lang="en-US" sz="2093"/>
          </a:p>
        </p:txBody>
      </p:sp>
      <p:sp>
        <p:nvSpPr>
          <p:cNvPr id="29" name="Text 26"/>
          <p:cNvSpPr/>
          <p:nvPr/>
        </p:nvSpPr>
        <p:spPr>
          <a:xfrm>
            <a:off x="4489704" y="2400624"/>
            <a:ext cx="1545336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913">
                <a:solidFill>
                  <a:srgbClr val="2E7D32"/>
                </a:solidFill>
              </a:rPr>
              <a:t>MoM +10.4%</a:t>
            </a:r>
            <a:endParaRPr lang="en-US" sz="913"/>
          </a:p>
        </p:txBody>
      </p:sp>
      <p:sp>
        <p:nvSpPr>
          <p:cNvPr id="30" name="Shape 27"/>
          <p:cNvSpPr/>
          <p:nvPr/>
        </p:nvSpPr>
        <p:spPr>
          <a:xfrm>
            <a:off x="6327648" y="1742256"/>
            <a:ext cx="1691640" cy="868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7620">
            <a:solidFill>
              <a:srgbClr val="DFE6EF"/>
            </a:solidFill>
            <a:prstDash val="solid"/>
          </a:ln>
          <a:effectLst>
            <a:outerShdw blurRad="12700" dist="635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6400800" y="1824552"/>
            <a:ext cx="1545336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971" b="1">
                <a:solidFill>
                  <a:srgbClr val="4A5568"/>
                </a:solidFill>
              </a:rPr>
              <a:t>AOV</a:t>
            </a:r>
            <a:endParaRPr lang="en-US" sz="971"/>
          </a:p>
        </p:txBody>
      </p:sp>
      <p:sp>
        <p:nvSpPr>
          <p:cNvPr id="32" name="Text 29"/>
          <p:cNvSpPr/>
          <p:nvPr/>
        </p:nvSpPr>
        <p:spPr>
          <a:xfrm>
            <a:off x="6400800" y="2053152"/>
            <a:ext cx="154533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2093" b="1">
                <a:solidFill>
                  <a:srgbClr val="1F3D6B"/>
                </a:solidFill>
              </a:rPr>
              <a:t>375K</a:t>
            </a:r>
            <a:endParaRPr lang="en-US" sz="2093"/>
          </a:p>
        </p:txBody>
      </p:sp>
      <p:sp>
        <p:nvSpPr>
          <p:cNvPr id="33" name="Text 30"/>
          <p:cNvSpPr/>
          <p:nvPr/>
        </p:nvSpPr>
        <p:spPr>
          <a:xfrm>
            <a:off x="6400800" y="2400624"/>
            <a:ext cx="1545336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913">
                <a:solidFill>
                  <a:srgbClr val="C0392B"/>
                </a:solidFill>
              </a:rPr>
              <a:t>MoM -1.2%</a:t>
            </a:r>
            <a:endParaRPr lang="en-US" sz="913"/>
          </a:p>
        </p:txBody>
      </p:sp>
      <p:sp>
        <p:nvSpPr>
          <p:cNvPr id="34" name="Shape 31"/>
          <p:cNvSpPr/>
          <p:nvPr/>
        </p:nvSpPr>
        <p:spPr>
          <a:xfrm>
            <a:off x="8238744" y="1742256"/>
            <a:ext cx="1691640" cy="868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7620">
            <a:solidFill>
              <a:srgbClr val="DFE6EF"/>
            </a:solidFill>
            <a:prstDash val="solid"/>
          </a:ln>
          <a:effectLst>
            <a:outerShdw blurRad="12700" dist="635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8311896" y="1824552"/>
            <a:ext cx="1545336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971" b="1">
                <a:solidFill>
                  <a:srgbClr val="4A5568"/>
                </a:solidFill>
              </a:rPr>
              <a:t>New Member %</a:t>
            </a:r>
            <a:endParaRPr lang="en-US" sz="971"/>
          </a:p>
        </p:txBody>
      </p:sp>
      <p:sp>
        <p:nvSpPr>
          <p:cNvPr id="36" name="Text 33"/>
          <p:cNvSpPr/>
          <p:nvPr/>
        </p:nvSpPr>
        <p:spPr>
          <a:xfrm>
            <a:off x="8311896" y="2053152"/>
            <a:ext cx="154533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2093" b="1">
                <a:solidFill>
                  <a:srgbClr val="1F3D6B"/>
                </a:solidFill>
              </a:rPr>
              <a:t>31%</a:t>
            </a:r>
            <a:endParaRPr lang="en-US" sz="2093"/>
          </a:p>
        </p:txBody>
      </p:sp>
      <p:sp>
        <p:nvSpPr>
          <p:cNvPr id="37" name="Text 34"/>
          <p:cNvSpPr/>
          <p:nvPr/>
        </p:nvSpPr>
        <p:spPr>
          <a:xfrm>
            <a:off x="8311896" y="2400624"/>
            <a:ext cx="1545336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913">
                <a:solidFill>
                  <a:srgbClr val="2E7D32"/>
                </a:solidFill>
              </a:rPr>
              <a:t>MoM +2.8pt</a:t>
            </a:r>
            <a:endParaRPr lang="en-US" sz="913"/>
          </a:p>
        </p:txBody>
      </p:sp>
      <p:sp>
        <p:nvSpPr>
          <p:cNvPr id="38" name="Shape 35"/>
          <p:cNvSpPr/>
          <p:nvPr/>
        </p:nvSpPr>
        <p:spPr>
          <a:xfrm>
            <a:off x="10149840" y="1742256"/>
            <a:ext cx="1691640" cy="868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7620">
            <a:solidFill>
              <a:srgbClr val="DFE6EF"/>
            </a:solidFill>
            <a:prstDash val="solid"/>
          </a:ln>
          <a:effectLst>
            <a:outerShdw blurRad="12700" dist="635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10222992" y="1824552"/>
            <a:ext cx="1545336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971" b="1">
                <a:solidFill>
                  <a:srgbClr val="4A5568"/>
                </a:solidFill>
              </a:rPr>
              <a:t>Repeat Ratio</a:t>
            </a:r>
            <a:endParaRPr lang="en-US" sz="971"/>
          </a:p>
        </p:txBody>
      </p:sp>
      <p:sp>
        <p:nvSpPr>
          <p:cNvPr id="40" name="Text 37"/>
          <p:cNvSpPr/>
          <p:nvPr/>
        </p:nvSpPr>
        <p:spPr>
          <a:xfrm>
            <a:off x="10222992" y="2053152"/>
            <a:ext cx="154533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2093" b="1">
                <a:solidFill>
                  <a:srgbClr val="1F3D6B"/>
                </a:solidFill>
              </a:rPr>
              <a:t>46%</a:t>
            </a:r>
            <a:endParaRPr lang="en-US" sz="2093"/>
          </a:p>
        </p:txBody>
      </p:sp>
      <p:sp>
        <p:nvSpPr>
          <p:cNvPr id="41" name="Text 38"/>
          <p:cNvSpPr/>
          <p:nvPr/>
        </p:nvSpPr>
        <p:spPr>
          <a:xfrm>
            <a:off x="10222992" y="2400624"/>
            <a:ext cx="1545336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913">
                <a:solidFill>
                  <a:srgbClr val="2E7D32"/>
                </a:solidFill>
              </a:rPr>
              <a:t>MoM +1.4pt</a:t>
            </a:r>
            <a:endParaRPr lang="en-US" sz="913"/>
          </a:p>
        </p:txBody>
      </p:sp>
      <p:sp>
        <p:nvSpPr>
          <p:cNvPr id="1001" name="Shape 1001"/>
          <p:cNvSpPr/>
          <p:nvPr/>
        </p:nvSpPr>
        <p:spPr>
          <a:xfrm>
            <a:off x="594360" y="2935224"/>
            <a:ext cx="3474720" cy="1874520"/>
          </a:xfrm>
          <a:prstGeom prst="roundRect">
            <a:avLst>
              <a:gd name="adj" fmla="val 4000"/>
            </a:avLst>
          </a:prstGeom>
          <a:solidFill>
            <a:srgbClr val="F6F8FB"/>
          </a:solidFill>
          <a:ln w="7620">
            <a:solidFill>
              <a:srgbClr val="D8E1EA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02" name="Shape 1002"/>
          <p:cNvSpPr/>
          <p:nvPr/>
        </p:nvSpPr>
        <p:spPr>
          <a:xfrm>
            <a:off x="594360" y="2935224"/>
            <a:ext cx="45720" cy="1874520"/>
          </a:xfrm>
          <a:prstGeom prst="rect">
            <a:avLst/>
          </a:prstGeom>
          <a:solidFill>
            <a:srgbClr val="D02C8C"/>
          </a:solidFill>
          <a:ln w="12700">
            <a:solidFill>
              <a:srgbClr val="D02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3" name="Shape 1003"/>
          <p:cNvSpPr/>
          <p:nvPr/>
        </p:nvSpPr>
        <p:spPr>
          <a:xfrm>
            <a:off x="4343400" y="2935224"/>
            <a:ext cx="3474720" cy="1874520"/>
          </a:xfrm>
          <a:prstGeom prst="roundRect">
            <a:avLst>
              <a:gd name="adj" fmla="val 4000"/>
            </a:avLst>
          </a:prstGeom>
          <a:solidFill>
            <a:srgbClr val="F6F8FB"/>
          </a:solidFill>
          <a:ln w="7620">
            <a:solidFill>
              <a:srgbClr val="D8E1EA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04" name="Shape 1004"/>
          <p:cNvSpPr/>
          <p:nvPr/>
        </p:nvSpPr>
        <p:spPr>
          <a:xfrm>
            <a:off x="4343400" y="2935224"/>
            <a:ext cx="45720" cy="1874520"/>
          </a:xfrm>
          <a:prstGeom prst="rect">
            <a:avLst/>
          </a:prstGeom>
          <a:solidFill>
            <a:srgbClr val="D02C8C"/>
          </a:solidFill>
          <a:ln w="12700">
            <a:solidFill>
              <a:srgbClr val="D02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5" name="Shape 1005"/>
          <p:cNvSpPr/>
          <p:nvPr/>
        </p:nvSpPr>
        <p:spPr>
          <a:xfrm>
            <a:off x="8092440" y="2935224"/>
            <a:ext cx="3474720" cy="1874520"/>
          </a:xfrm>
          <a:prstGeom prst="roundRect">
            <a:avLst>
              <a:gd name="adj" fmla="val 4000"/>
            </a:avLst>
          </a:prstGeom>
          <a:solidFill>
            <a:srgbClr val="F6F8FB"/>
          </a:solidFill>
          <a:ln w="7620">
            <a:solidFill>
              <a:srgbClr val="D8E1EA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06" name="Shape 1006"/>
          <p:cNvSpPr/>
          <p:nvPr/>
        </p:nvSpPr>
        <p:spPr>
          <a:xfrm>
            <a:off x="8092440" y="2935224"/>
            <a:ext cx="45720" cy="1874520"/>
          </a:xfrm>
          <a:prstGeom prst="rect">
            <a:avLst/>
          </a:prstGeom>
          <a:solidFill>
            <a:srgbClr val="D02C8C"/>
          </a:solidFill>
          <a:ln w="12700">
            <a:solidFill>
              <a:srgbClr val="D02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7" name="Text 1007"/>
          <p:cNvSpPr/>
          <p:nvPr/>
        </p:nvSpPr>
        <p:spPr>
          <a:xfrm>
            <a:off x="713232" y="3017520"/>
            <a:ext cx="3236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>
                <a:solidFill>
                  <a:srgbClr val="1F3D6B"/>
                </a:solidFill>
              </a:rPr>
              <a:t>KPI Trend Entry</a:t>
            </a:r>
            <a:endParaRPr lang="en-US" sz="1050"/>
          </a:p>
        </p:txBody>
      </p:sp>
      <p:sp>
        <p:nvSpPr>
          <p:cNvPr id="1008" name="Text 1008"/>
          <p:cNvSpPr/>
          <p:nvPr/>
        </p:nvSpPr>
        <p:spPr>
          <a:xfrm>
            <a:off x="713232" y="3227832"/>
            <a:ext cx="32369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b="0">
                <a:solidFill>
                  <a:srgbClr val="D02C8C"/>
                </a:solidFill>
              </a:rPr>
              <a:t>AOV · selected</a:t>
            </a:r>
            <a:endParaRPr lang="en-US" sz="750"/>
          </a:p>
        </p:txBody>
      </p:sp>
      <p:sp>
        <p:nvSpPr>
          <p:cNvPr id="1009" name="Text 1009"/>
          <p:cNvSpPr/>
          <p:nvPr/>
        </p:nvSpPr>
        <p:spPr>
          <a:xfrm>
            <a:off x="4462272" y="3017520"/>
            <a:ext cx="3236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>
                <a:solidFill>
                  <a:srgbClr val="1F3D6B"/>
                </a:solidFill>
              </a:rPr>
              <a:t>Key Movement by Segment</a:t>
            </a:r>
            <a:endParaRPr lang="en-US" sz="1050"/>
          </a:p>
        </p:txBody>
      </p:sp>
      <p:sp>
        <p:nvSpPr>
          <p:cNvPr id="1010" name="Text 1010"/>
          <p:cNvSpPr/>
          <p:nvPr/>
        </p:nvSpPr>
        <p:spPr>
          <a:xfrm>
            <a:off x="4462272" y="3227832"/>
            <a:ext cx="32369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b="0">
                <a:solidFill>
                  <a:srgbClr val="8A94A6"/>
                </a:solidFill>
              </a:rPr>
              <a:t>AOV movers · MoM change</a:t>
            </a:r>
            <a:endParaRPr lang="en-US" sz="750"/>
          </a:p>
        </p:txBody>
      </p:sp>
      <p:sp>
        <p:nvSpPr>
          <p:cNvPr id="1011" name="Text 1011"/>
          <p:cNvSpPr/>
          <p:nvPr/>
        </p:nvSpPr>
        <p:spPr>
          <a:xfrm>
            <a:off x="8211312" y="3017520"/>
            <a:ext cx="3236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>
                <a:solidFill>
                  <a:srgbClr val="1F3D6B"/>
                </a:solidFill>
              </a:rPr>
              <a:t>Actionable Alerts</a:t>
            </a:r>
            <a:endParaRPr lang="en-US" sz="1050"/>
          </a:p>
        </p:txBody>
      </p:sp>
      <p:sp>
        <p:nvSpPr>
          <p:cNvPr id="1012" name="Text 1012"/>
          <p:cNvSpPr/>
          <p:nvPr/>
        </p:nvSpPr>
        <p:spPr>
          <a:xfrm>
            <a:off x="8211312" y="3227832"/>
            <a:ext cx="32369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b="0">
                <a:solidFill>
                  <a:srgbClr val="8A94A6"/>
                </a:solidFill>
              </a:rPr>
              <a:t>AOV alerts · last 24 hours</a:t>
            </a:r>
            <a:endParaRPr lang="en-US" sz="750"/>
          </a:p>
        </p:txBody>
      </p:sp>
      <p:sp>
        <p:nvSpPr>
          <p:cNvPr id="1013" name="Shape 1013"/>
          <p:cNvSpPr/>
          <p:nvPr/>
        </p:nvSpPr>
        <p:spPr>
          <a:xfrm>
            <a:off x="2395728" y="3191256"/>
            <a:ext cx="475488" cy="19202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CF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4" name="Text 1014"/>
          <p:cNvSpPr/>
          <p:nvPr/>
        </p:nvSpPr>
        <p:spPr>
          <a:xfrm>
            <a:off x="2395728" y="3218688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>
                <a:solidFill>
                  <a:srgbClr val="4A5568"/>
                </a:solidFill>
              </a:rPr>
              <a:t>Daily</a:t>
            </a:r>
            <a:endParaRPr lang="en-US" sz="700"/>
          </a:p>
        </p:txBody>
      </p:sp>
      <p:sp>
        <p:nvSpPr>
          <p:cNvPr id="1015" name="Shape 1015"/>
          <p:cNvSpPr/>
          <p:nvPr/>
        </p:nvSpPr>
        <p:spPr>
          <a:xfrm>
            <a:off x="2898648" y="3191256"/>
            <a:ext cx="548640" cy="19202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CF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6" name="Text 1016"/>
          <p:cNvSpPr/>
          <p:nvPr/>
        </p:nvSpPr>
        <p:spPr>
          <a:xfrm>
            <a:off x="2898648" y="3218688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>
                <a:solidFill>
                  <a:srgbClr val="4A5568"/>
                </a:solidFill>
              </a:rPr>
              <a:t>Weekly</a:t>
            </a:r>
            <a:endParaRPr lang="en-US" sz="700"/>
          </a:p>
        </p:txBody>
      </p:sp>
      <p:sp>
        <p:nvSpPr>
          <p:cNvPr id="1017" name="Shape 1017"/>
          <p:cNvSpPr/>
          <p:nvPr/>
        </p:nvSpPr>
        <p:spPr>
          <a:xfrm>
            <a:off x="3474720" y="3191256"/>
            <a:ext cx="594360" cy="192024"/>
          </a:xfrm>
          <a:prstGeom prst="roundRect">
            <a:avLst>
              <a:gd name="adj" fmla="val 25000"/>
            </a:avLst>
          </a:prstGeom>
          <a:solidFill>
            <a:srgbClr val="2E5FA3"/>
          </a:solidFill>
          <a:ln w="635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8" name="Text 1018"/>
          <p:cNvSpPr/>
          <p:nvPr/>
        </p:nvSpPr>
        <p:spPr>
          <a:xfrm>
            <a:off x="3474720" y="3218688"/>
            <a:ext cx="594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>
                <a:solidFill>
                  <a:srgbClr val="FFFFFF"/>
                </a:solidFill>
              </a:rPr>
              <a:t>Monthly</a:t>
            </a:r>
            <a:endParaRPr lang="en-US" sz="700"/>
          </a:p>
        </p:txBody>
      </p:sp>
      <p:sp>
        <p:nvSpPr>
          <p:cNvPr id="1019" name="Shape 1019"/>
          <p:cNvSpPr/>
          <p:nvPr/>
        </p:nvSpPr>
        <p:spPr>
          <a:xfrm>
            <a:off x="777240" y="3401568"/>
            <a:ext cx="3127248" cy="9326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0" name="Shape 1020"/>
          <p:cNvSpPr/>
          <p:nvPr/>
        </p:nvSpPr>
        <p:spPr>
          <a:xfrm>
            <a:off x="822960" y="3634740"/>
            <a:ext cx="3035808" cy="0"/>
          </a:xfrm>
          <a:prstGeom prst="line">
            <a:avLst/>
          </a:prstGeom>
          <a:noFill/>
          <a:ln w="4445">
            <a:solidFill>
              <a:srgbClr val="EDF1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1" name="Shape 1021"/>
          <p:cNvSpPr/>
          <p:nvPr/>
        </p:nvSpPr>
        <p:spPr>
          <a:xfrm>
            <a:off x="822960" y="3867912"/>
            <a:ext cx="3035808" cy="0"/>
          </a:xfrm>
          <a:prstGeom prst="line">
            <a:avLst/>
          </a:prstGeom>
          <a:noFill/>
          <a:ln w="4445">
            <a:solidFill>
              <a:srgbClr val="EDF1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2" name="Shape 1022"/>
          <p:cNvSpPr/>
          <p:nvPr/>
        </p:nvSpPr>
        <p:spPr>
          <a:xfrm>
            <a:off x="822960" y="4101084"/>
            <a:ext cx="3035808" cy="0"/>
          </a:xfrm>
          <a:prstGeom prst="line">
            <a:avLst/>
          </a:prstGeom>
          <a:noFill/>
          <a:ln w="4445">
            <a:solidFill>
              <a:srgbClr val="EDF1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3" name="Shape 1023"/>
          <p:cNvSpPr/>
          <p:nvPr/>
        </p:nvSpPr>
        <p:spPr>
          <a:xfrm>
            <a:off x="941832" y="3763670"/>
            <a:ext cx="559613" cy="6584"/>
          </a:xfrm>
          <a:prstGeom prst="line">
            <a:avLst/>
          </a:prstGeom>
          <a:noFill/>
          <a:ln w="12700">
            <a:solidFill>
              <a:srgbClr val="C3CCD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24" name="Shape 1024"/>
          <p:cNvSpPr/>
          <p:nvPr/>
        </p:nvSpPr>
        <p:spPr>
          <a:xfrm>
            <a:off x="1501445" y="3770254"/>
            <a:ext cx="559613" cy="6584"/>
          </a:xfrm>
          <a:prstGeom prst="line">
            <a:avLst/>
          </a:prstGeom>
          <a:noFill/>
          <a:ln w="12700">
            <a:solidFill>
              <a:srgbClr val="C3CCD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25" name="Shape 1025"/>
          <p:cNvSpPr/>
          <p:nvPr/>
        </p:nvSpPr>
        <p:spPr>
          <a:xfrm>
            <a:off x="2061058" y="3776838"/>
            <a:ext cx="559613" cy="6584"/>
          </a:xfrm>
          <a:prstGeom prst="line">
            <a:avLst/>
          </a:prstGeom>
          <a:noFill/>
          <a:ln w="12700">
            <a:solidFill>
              <a:srgbClr val="C3CCD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26" name="Shape 1026"/>
          <p:cNvSpPr/>
          <p:nvPr/>
        </p:nvSpPr>
        <p:spPr>
          <a:xfrm>
            <a:off x="2620670" y="3783421"/>
            <a:ext cx="559613" cy="6584"/>
          </a:xfrm>
          <a:prstGeom prst="line">
            <a:avLst/>
          </a:prstGeom>
          <a:noFill/>
          <a:ln w="12700">
            <a:solidFill>
              <a:srgbClr val="C3CCD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27" name="Shape 1027"/>
          <p:cNvSpPr/>
          <p:nvPr/>
        </p:nvSpPr>
        <p:spPr>
          <a:xfrm>
            <a:off x="3180283" y="3790005"/>
            <a:ext cx="559613" cy="6584"/>
          </a:xfrm>
          <a:prstGeom prst="line">
            <a:avLst/>
          </a:prstGeom>
          <a:noFill/>
          <a:ln w="12700">
            <a:solidFill>
              <a:srgbClr val="C3CCD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28" name="Shape 1028"/>
          <p:cNvSpPr/>
          <p:nvPr/>
        </p:nvSpPr>
        <p:spPr>
          <a:xfrm flipV="1">
            <a:off x="941832" y="3790005"/>
            <a:ext cx="559613" cy="26335"/>
          </a:xfrm>
          <a:prstGeom prst="line">
            <a:avLst/>
          </a:prstGeom>
          <a:noFill/>
          <a:ln w="22225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9" name="Shape 1029"/>
          <p:cNvSpPr/>
          <p:nvPr/>
        </p:nvSpPr>
        <p:spPr>
          <a:xfrm>
            <a:off x="1501445" y="3790005"/>
            <a:ext cx="559613" cy="39502"/>
          </a:xfrm>
          <a:prstGeom prst="line">
            <a:avLst/>
          </a:prstGeom>
          <a:noFill/>
          <a:ln w="22225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0" name="Shape 1030"/>
          <p:cNvSpPr/>
          <p:nvPr/>
        </p:nvSpPr>
        <p:spPr>
          <a:xfrm>
            <a:off x="2061058" y="3829507"/>
            <a:ext cx="559613" cy="32918"/>
          </a:xfrm>
          <a:prstGeom prst="line">
            <a:avLst/>
          </a:prstGeom>
          <a:noFill/>
          <a:ln w="22225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1" name="Shape 1031"/>
          <p:cNvSpPr/>
          <p:nvPr/>
        </p:nvSpPr>
        <p:spPr>
          <a:xfrm>
            <a:off x="2620670" y="3862426"/>
            <a:ext cx="559613" cy="19751"/>
          </a:xfrm>
          <a:prstGeom prst="line">
            <a:avLst/>
          </a:prstGeom>
          <a:noFill/>
          <a:ln w="22225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2" name="Shape 1032"/>
          <p:cNvSpPr/>
          <p:nvPr/>
        </p:nvSpPr>
        <p:spPr>
          <a:xfrm>
            <a:off x="3180283" y="3882177"/>
            <a:ext cx="559613" cy="39502"/>
          </a:xfrm>
          <a:prstGeom prst="line">
            <a:avLst/>
          </a:prstGeom>
          <a:noFill/>
          <a:ln w="22225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3" name="Shape 1033"/>
          <p:cNvSpPr/>
          <p:nvPr/>
        </p:nvSpPr>
        <p:spPr>
          <a:xfrm>
            <a:off x="914400" y="3788908"/>
            <a:ext cx="54864" cy="54864"/>
          </a:xfrm>
          <a:prstGeom prst="ellipse">
            <a:avLst/>
          </a:prstGeom>
          <a:solidFill>
            <a:srgbClr val="2E5FA3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4" name="Shape 1034"/>
          <p:cNvSpPr/>
          <p:nvPr/>
        </p:nvSpPr>
        <p:spPr>
          <a:xfrm>
            <a:off x="1474013" y="3762573"/>
            <a:ext cx="54864" cy="54864"/>
          </a:xfrm>
          <a:prstGeom prst="ellipse">
            <a:avLst/>
          </a:prstGeom>
          <a:solidFill>
            <a:srgbClr val="2E5FA3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5" name="Shape 1035"/>
          <p:cNvSpPr/>
          <p:nvPr/>
        </p:nvSpPr>
        <p:spPr>
          <a:xfrm>
            <a:off x="2033626" y="3802075"/>
            <a:ext cx="54864" cy="54864"/>
          </a:xfrm>
          <a:prstGeom prst="ellipse">
            <a:avLst/>
          </a:prstGeom>
          <a:solidFill>
            <a:srgbClr val="2E5FA3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6" name="Shape 1036"/>
          <p:cNvSpPr/>
          <p:nvPr/>
        </p:nvSpPr>
        <p:spPr>
          <a:xfrm>
            <a:off x="2593238" y="3834994"/>
            <a:ext cx="54864" cy="54864"/>
          </a:xfrm>
          <a:prstGeom prst="ellipse">
            <a:avLst/>
          </a:prstGeom>
          <a:solidFill>
            <a:srgbClr val="2E5FA3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7" name="Shape 1037"/>
          <p:cNvSpPr/>
          <p:nvPr/>
        </p:nvSpPr>
        <p:spPr>
          <a:xfrm>
            <a:off x="3152851" y="3854745"/>
            <a:ext cx="54864" cy="54864"/>
          </a:xfrm>
          <a:prstGeom prst="ellipse">
            <a:avLst/>
          </a:prstGeom>
          <a:solidFill>
            <a:srgbClr val="2E5FA3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8" name="Shape 1038"/>
          <p:cNvSpPr/>
          <p:nvPr/>
        </p:nvSpPr>
        <p:spPr>
          <a:xfrm>
            <a:off x="3698748" y="3880531"/>
            <a:ext cx="82296" cy="82296"/>
          </a:xfrm>
          <a:prstGeom prst="ellipse">
            <a:avLst/>
          </a:prstGeom>
          <a:solidFill>
            <a:srgbClr val="D02C8C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9" name="Text 1039"/>
          <p:cNvSpPr/>
          <p:nvPr/>
        </p:nvSpPr>
        <p:spPr>
          <a:xfrm>
            <a:off x="850392" y="3456432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50" b="1">
                <a:solidFill>
                  <a:srgbClr val="1F3D6B"/>
                </a:solidFill>
              </a:rPr>
              <a:t>375K  MoM -1.2%  YoY -3.4%</a:t>
            </a:r>
            <a:endParaRPr lang="en-US" sz="650"/>
          </a:p>
        </p:txBody>
      </p:sp>
      <p:sp>
        <p:nvSpPr>
          <p:cNvPr id="1040" name="Text 1040"/>
          <p:cNvSpPr/>
          <p:nvPr/>
        </p:nvSpPr>
        <p:spPr>
          <a:xfrm>
            <a:off x="758952" y="4361688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0">
                <a:solidFill>
                  <a:srgbClr val="8A94A6"/>
                </a:solidFill>
              </a:rPr>
              <a:t>Apr</a:t>
            </a:r>
            <a:endParaRPr lang="en-US" sz="650"/>
          </a:p>
        </p:txBody>
      </p:sp>
      <p:sp>
        <p:nvSpPr>
          <p:cNvPr id="1041" name="Text 1041"/>
          <p:cNvSpPr/>
          <p:nvPr/>
        </p:nvSpPr>
        <p:spPr>
          <a:xfrm>
            <a:off x="1318565" y="4361688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0">
                <a:solidFill>
                  <a:srgbClr val="8A94A6"/>
                </a:solidFill>
              </a:rPr>
              <a:t>May</a:t>
            </a:r>
            <a:endParaRPr lang="en-US" sz="650"/>
          </a:p>
        </p:txBody>
      </p:sp>
      <p:sp>
        <p:nvSpPr>
          <p:cNvPr id="1042" name="Text 1042"/>
          <p:cNvSpPr/>
          <p:nvPr/>
        </p:nvSpPr>
        <p:spPr>
          <a:xfrm>
            <a:off x="1878178" y="4361688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0">
                <a:solidFill>
                  <a:srgbClr val="8A94A6"/>
                </a:solidFill>
              </a:rPr>
              <a:t>Jun</a:t>
            </a:r>
            <a:endParaRPr lang="en-US" sz="650"/>
          </a:p>
        </p:txBody>
      </p:sp>
      <p:sp>
        <p:nvSpPr>
          <p:cNvPr id="1043" name="Text 1043"/>
          <p:cNvSpPr/>
          <p:nvPr/>
        </p:nvSpPr>
        <p:spPr>
          <a:xfrm>
            <a:off x="2437790" y="4361688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0">
                <a:solidFill>
                  <a:srgbClr val="8A94A6"/>
                </a:solidFill>
              </a:rPr>
              <a:t>Jul</a:t>
            </a:r>
            <a:endParaRPr lang="en-US" sz="650"/>
          </a:p>
        </p:txBody>
      </p:sp>
      <p:sp>
        <p:nvSpPr>
          <p:cNvPr id="1044" name="Text 1044"/>
          <p:cNvSpPr/>
          <p:nvPr/>
        </p:nvSpPr>
        <p:spPr>
          <a:xfrm>
            <a:off x="2997403" y="4361688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0">
                <a:solidFill>
                  <a:srgbClr val="8A94A6"/>
                </a:solidFill>
              </a:rPr>
              <a:t>Aug</a:t>
            </a:r>
            <a:endParaRPr lang="en-US" sz="650"/>
          </a:p>
        </p:txBody>
      </p:sp>
      <p:sp>
        <p:nvSpPr>
          <p:cNvPr id="1045" name="Text 1045"/>
          <p:cNvSpPr/>
          <p:nvPr/>
        </p:nvSpPr>
        <p:spPr>
          <a:xfrm>
            <a:off x="3557016" y="4361688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0">
                <a:solidFill>
                  <a:srgbClr val="8A94A6"/>
                </a:solidFill>
              </a:rPr>
              <a:t>Sep</a:t>
            </a:r>
            <a:endParaRPr lang="en-US" sz="650"/>
          </a:p>
        </p:txBody>
      </p:sp>
      <p:sp>
        <p:nvSpPr>
          <p:cNvPr id="1046" name="Shape 1046"/>
          <p:cNvSpPr/>
          <p:nvPr/>
        </p:nvSpPr>
        <p:spPr>
          <a:xfrm>
            <a:off x="777240" y="4553712"/>
            <a:ext cx="566928" cy="164592"/>
          </a:xfrm>
          <a:prstGeom prst="roundRect">
            <a:avLst>
              <a:gd name="adj" fmla="val 25000"/>
            </a:avLst>
          </a:prstGeom>
          <a:solidFill>
            <a:srgbClr val="E8F0FA"/>
          </a:solidFill>
          <a:ln w="12700">
            <a:solidFill>
              <a:srgbClr val="E8F0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7" name="Text 1047"/>
          <p:cNvSpPr/>
          <p:nvPr/>
        </p:nvSpPr>
        <p:spPr>
          <a:xfrm>
            <a:off x="777240" y="4581144"/>
            <a:ext cx="56692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1">
                <a:solidFill>
                  <a:srgbClr val="2E5FA3"/>
                </a:solidFill>
              </a:rPr>
              <a:t>Actual</a:t>
            </a:r>
            <a:endParaRPr lang="en-US" sz="650"/>
          </a:p>
        </p:txBody>
      </p:sp>
      <p:sp>
        <p:nvSpPr>
          <p:cNvPr id="1048" name="Shape 1048"/>
          <p:cNvSpPr/>
          <p:nvPr/>
        </p:nvSpPr>
        <p:spPr>
          <a:xfrm>
            <a:off x="1399032" y="4553712"/>
            <a:ext cx="658368" cy="164592"/>
          </a:xfrm>
          <a:prstGeom prst="roundRect">
            <a:avLst>
              <a:gd name="adj" fmla="val 25000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9" name="Text 1049"/>
          <p:cNvSpPr/>
          <p:nvPr/>
        </p:nvSpPr>
        <p:spPr>
          <a:xfrm>
            <a:off x="1399032" y="4581144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1">
                <a:solidFill>
                  <a:srgbClr val="8A94A6"/>
                </a:solidFill>
              </a:rPr>
              <a:t>Last year</a:t>
            </a:r>
            <a:endParaRPr lang="en-US" sz="650"/>
          </a:p>
        </p:txBody>
      </p:sp>
      <p:sp>
        <p:nvSpPr>
          <p:cNvPr id="1050" name="Text 1050"/>
          <p:cNvSpPr/>
          <p:nvPr/>
        </p:nvSpPr>
        <p:spPr>
          <a:xfrm>
            <a:off x="2148840" y="4553712"/>
            <a:ext cx="1755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50" b="0">
                <a:solidFill>
                  <a:srgbClr val="8A94A6"/>
                </a:solidFill>
              </a:rPr>
              <a:t>Click a point → L2 AOV</a:t>
            </a:r>
            <a:endParaRPr lang="en-US" sz="650"/>
          </a:p>
        </p:txBody>
      </p:sp>
      <p:sp>
        <p:nvSpPr>
          <p:cNvPr id="1051" name="Text 1051"/>
          <p:cNvSpPr/>
          <p:nvPr/>
        </p:nvSpPr>
        <p:spPr>
          <a:xfrm>
            <a:off x="4462272" y="3401568"/>
            <a:ext cx="1188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00" b="1">
                <a:solidFill>
                  <a:srgbClr val="8A94A6"/>
                </a:solidFill>
              </a:rPr>
              <a:t>SEGMENT</a:t>
            </a:r>
            <a:endParaRPr lang="en-US" sz="600"/>
          </a:p>
        </p:txBody>
      </p:sp>
      <p:sp>
        <p:nvSpPr>
          <p:cNvPr id="1052" name="Text 1052"/>
          <p:cNvSpPr/>
          <p:nvPr/>
        </p:nvSpPr>
        <p:spPr>
          <a:xfrm>
            <a:off x="6995160" y="3401568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00" b="1">
                <a:solidFill>
                  <a:srgbClr val="8A94A6"/>
                </a:solidFill>
              </a:rPr>
              <a:t>MoM %</a:t>
            </a:r>
            <a:endParaRPr lang="en-US" sz="600"/>
          </a:p>
        </p:txBody>
      </p:sp>
      <p:sp>
        <p:nvSpPr>
          <p:cNvPr id="1053" name="Text 1053"/>
          <p:cNvSpPr/>
          <p:nvPr/>
        </p:nvSpPr>
        <p:spPr>
          <a:xfrm>
            <a:off x="4462272" y="3547872"/>
            <a:ext cx="1234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0">
                <a:solidFill>
                  <a:srgbClr val="1F3D6B"/>
                </a:solidFill>
              </a:rPr>
              <a:t>Electronics</a:t>
            </a:r>
            <a:endParaRPr lang="en-US" sz="700"/>
          </a:p>
        </p:txBody>
      </p:sp>
      <p:sp>
        <p:nvSpPr>
          <p:cNvPr id="1054" name="Shape 1054"/>
          <p:cNvSpPr/>
          <p:nvPr/>
        </p:nvSpPr>
        <p:spPr>
          <a:xfrm>
            <a:off x="5504688" y="3557016"/>
            <a:ext cx="1572768" cy="118872"/>
          </a:xfrm>
          <a:prstGeom prst="rect">
            <a:avLst/>
          </a:prstGeom>
          <a:solidFill>
            <a:srgbClr val="EDF1F6"/>
          </a:solidFill>
          <a:ln w="6350">
            <a:solidFill>
              <a:srgbClr val="EDF1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5" name="Shape 1055"/>
          <p:cNvSpPr/>
          <p:nvPr/>
        </p:nvSpPr>
        <p:spPr>
          <a:xfrm>
            <a:off x="5504688" y="3557016"/>
            <a:ext cx="853788" cy="118872"/>
          </a:xfrm>
          <a:prstGeom prst="rect">
            <a:avLst/>
          </a:prstGeom>
          <a:solidFill>
            <a:srgbClr val="1E8E5A"/>
          </a:solidFill>
          <a:ln w="6350">
            <a:solidFill>
              <a:srgbClr val="1E8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6" name="Text 1056"/>
          <p:cNvSpPr/>
          <p:nvPr/>
        </p:nvSpPr>
        <p:spPr>
          <a:xfrm>
            <a:off x="6995160" y="3547872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b="1">
                <a:solidFill>
                  <a:srgbClr val="1E8E5A"/>
                </a:solidFill>
              </a:rPr>
              <a:t>+3.8%</a:t>
            </a:r>
            <a:endParaRPr lang="en-US" sz="700"/>
          </a:p>
        </p:txBody>
      </p:sp>
      <p:sp>
        <p:nvSpPr>
          <p:cNvPr id="1057" name="Text 1057"/>
          <p:cNvSpPr/>
          <p:nvPr/>
        </p:nvSpPr>
        <p:spPr>
          <a:xfrm>
            <a:off x="4462272" y="3785616"/>
            <a:ext cx="1234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0">
                <a:solidFill>
                  <a:srgbClr val="1F3D6B"/>
                </a:solidFill>
              </a:rPr>
              <a:t>Merchant B · Lotte</a:t>
            </a:r>
            <a:endParaRPr lang="en-US" sz="700"/>
          </a:p>
        </p:txBody>
      </p:sp>
      <p:sp>
        <p:nvSpPr>
          <p:cNvPr id="1058" name="Shape 1058"/>
          <p:cNvSpPr/>
          <p:nvPr/>
        </p:nvSpPr>
        <p:spPr>
          <a:xfrm>
            <a:off x="5504688" y="3794760"/>
            <a:ext cx="1572768" cy="118872"/>
          </a:xfrm>
          <a:prstGeom prst="rect">
            <a:avLst/>
          </a:prstGeom>
          <a:solidFill>
            <a:srgbClr val="EDF1F6"/>
          </a:solidFill>
          <a:ln w="6350">
            <a:solidFill>
              <a:srgbClr val="EDF1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9" name="Shape 1059"/>
          <p:cNvSpPr/>
          <p:nvPr/>
        </p:nvSpPr>
        <p:spPr>
          <a:xfrm>
            <a:off x="5504688" y="3794760"/>
            <a:ext cx="471830" cy="118872"/>
          </a:xfrm>
          <a:prstGeom prst="rect">
            <a:avLst/>
          </a:prstGeom>
          <a:solidFill>
            <a:srgbClr val="1E8E5A"/>
          </a:solidFill>
          <a:ln w="6350">
            <a:solidFill>
              <a:srgbClr val="1E8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0" name="Text 1060"/>
          <p:cNvSpPr/>
          <p:nvPr/>
        </p:nvSpPr>
        <p:spPr>
          <a:xfrm>
            <a:off x="6995160" y="378561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b="1">
                <a:solidFill>
                  <a:srgbClr val="1E8E5A"/>
                </a:solidFill>
              </a:rPr>
              <a:t>+2.1%</a:t>
            </a:r>
            <a:endParaRPr lang="en-US" sz="700"/>
          </a:p>
        </p:txBody>
      </p:sp>
      <p:sp>
        <p:nvSpPr>
          <p:cNvPr id="1061" name="Text 1061"/>
          <p:cNvSpPr/>
          <p:nvPr/>
        </p:nvSpPr>
        <p:spPr>
          <a:xfrm>
            <a:off x="4462272" y="4023360"/>
            <a:ext cx="1234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0">
                <a:solidFill>
                  <a:srgbClr val="1F3D6B"/>
                </a:solidFill>
              </a:rPr>
              <a:t>Weekend baskets</a:t>
            </a:r>
            <a:endParaRPr lang="en-US" sz="700"/>
          </a:p>
        </p:txBody>
      </p:sp>
      <p:sp>
        <p:nvSpPr>
          <p:cNvPr id="1062" name="Shape 1062"/>
          <p:cNvSpPr/>
          <p:nvPr/>
        </p:nvSpPr>
        <p:spPr>
          <a:xfrm>
            <a:off x="5504688" y="4032504"/>
            <a:ext cx="1572768" cy="118872"/>
          </a:xfrm>
          <a:prstGeom prst="rect">
            <a:avLst/>
          </a:prstGeom>
          <a:solidFill>
            <a:srgbClr val="EDF1F6"/>
          </a:solidFill>
          <a:ln w="6350">
            <a:solidFill>
              <a:srgbClr val="EDF1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3" name="Shape 1063"/>
          <p:cNvSpPr/>
          <p:nvPr/>
        </p:nvSpPr>
        <p:spPr>
          <a:xfrm>
            <a:off x="5504688" y="4032504"/>
            <a:ext cx="314554" cy="118872"/>
          </a:xfrm>
          <a:prstGeom prst="rect">
            <a:avLst/>
          </a:prstGeom>
          <a:solidFill>
            <a:srgbClr val="1E8E5A"/>
          </a:solidFill>
          <a:ln w="6350">
            <a:solidFill>
              <a:srgbClr val="1E8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4" name="Text 1064"/>
          <p:cNvSpPr/>
          <p:nvPr/>
        </p:nvSpPr>
        <p:spPr>
          <a:xfrm>
            <a:off x="6995160" y="4023360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b="1">
                <a:solidFill>
                  <a:srgbClr val="1E8E5A"/>
                </a:solidFill>
              </a:rPr>
              <a:t>+1.4%</a:t>
            </a:r>
            <a:endParaRPr lang="en-US" sz="700"/>
          </a:p>
        </p:txBody>
      </p:sp>
      <p:sp>
        <p:nvSpPr>
          <p:cNvPr id="1065" name="Text 1065"/>
          <p:cNvSpPr/>
          <p:nvPr/>
        </p:nvSpPr>
        <p:spPr>
          <a:xfrm>
            <a:off x="4462272" y="4261104"/>
            <a:ext cx="1234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0">
                <a:solidFill>
                  <a:srgbClr val="4A5568"/>
                </a:solidFill>
              </a:rPr>
              <a:t>HCMC province</a:t>
            </a:r>
            <a:endParaRPr lang="en-US" sz="700"/>
          </a:p>
        </p:txBody>
      </p:sp>
      <p:sp>
        <p:nvSpPr>
          <p:cNvPr id="1066" name="Shape 1066"/>
          <p:cNvSpPr/>
          <p:nvPr/>
        </p:nvSpPr>
        <p:spPr>
          <a:xfrm>
            <a:off x="5504688" y="4270248"/>
            <a:ext cx="1572768" cy="118872"/>
          </a:xfrm>
          <a:prstGeom prst="rect">
            <a:avLst/>
          </a:prstGeom>
          <a:solidFill>
            <a:srgbClr val="EDF1F6"/>
          </a:solidFill>
          <a:ln w="6350">
            <a:solidFill>
              <a:srgbClr val="EDF1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7" name="Shape 1067"/>
          <p:cNvSpPr/>
          <p:nvPr/>
        </p:nvSpPr>
        <p:spPr>
          <a:xfrm>
            <a:off x="6066391" y="4270248"/>
            <a:ext cx="1011065" cy="118872"/>
          </a:xfrm>
          <a:prstGeom prst="rect">
            <a:avLst/>
          </a:prstGeom>
          <a:solidFill>
            <a:srgbClr val="C0392B"/>
          </a:solidFill>
          <a:ln w="63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8" name="Text 1068"/>
          <p:cNvSpPr/>
          <p:nvPr/>
        </p:nvSpPr>
        <p:spPr>
          <a:xfrm>
            <a:off x="6995160" y="4261104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b="1">
                <a:solidFill>
                  <a:srgbClr val="C0392B"/>
                </a:solidFill>
              </a:rPr>
              <a:t>-4.5%</a:t>
            </a:r>
            <a:endParaRPr lang="en-US" sz="700"/>
          </a:p>
        </p:txBody>
      </p:sp>
      <p:sp>
        <p:nvSpPr>
          <p:cNvPr id="1069" name="Text 1069"/>
          <p:cNvSpPr/>
          <p:nvPr/>
        </p:nvSpPr>
        <p:spPr>
          <a:xfrm>
            <a:off x="4462272" y="4498848"/>
            <a:ext cx="1234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0">
                <a:solidFill>
                  <a:srgbClr val="4A5568"/>
                </a:solidFill>
              </a:rPr>
              <a:t>Beauty category</a:t>
            </a:r>
            <a:endParaRPr lang="en-US" sz="700"/>
          </a:p>
        </p:txBody>
      </p:sp>
      <p:sp>
        <p:nvSpPr>
          <p:cNvPr id="1070" name="Shape 1070"/>
          <p:cNvSpPr/>
          <p:nvPr/>
        </p:nvSpPr>
        <p:spPr>
          <a:xfrm>
            <a:off x="5504688" y="4507992"/>
            <a:ext cx="1572768" cy="118872"/>
          </a:xfrm>
          <a:prstGeom prst="rect">
            <a:avLst/>
          </a:prstGeom>
          <a:solidFill>
            <a:srgbClr val="EDF1F6"/>
          </a:solidFill>
          <a:ln w="6350">
            <a:solidFill>
              <a:srgbClr val="EDF1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1" name="Shape 1071"/>
          <p:cNvSpPr/>
          <p:nvPr/>
        </p:nvSpPr>
        <p:spPr>
          <a:xfrm>
            <a:off x="5684433" y="4507992"/>
            <a:ext cx="1393023" cy="118872"/>
          </a:xfrm>
          <a:prstGeom prst="rect">
            <a:avLst/>
          </a:prstGeom>
          <a:solidFill>
            <a:srgbClr val="C0392B"/>
          </a:solidFill>
          <a:ln w="63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2" name="Text 1072"/>
          <p:cNvSpPr/>
          <p:nvPr/>
        </p:nvSpPr>
        <p:spPr>
          <a:xfrm>
            <a:off x="6995160" y="4498848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b="1">
                <a:solidFill>
                  <a:srgbClr val="C0392B"/>
                </a:solidFill>
              </a:rPr>
              <a:t>-6.2%</a:t>
            </a:r>
            <a:endParaRPr lang="en-US" sz="700"/>
          </a:p>
        </p:txBody>
      </p:sp>
      <p:sp>
        <p:nvSpPr>
          <p:cNvPr id="1073" name="Text 1073"/>
          <p:cNvSpPr/>
          <p:nvPr/>
        </p:nvSpPr>
        <p:spPr>
          <a:xfrm>
            <a:off x="4462272" y="4736592"/>
            <a:ext cx="32369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50" b="0">
                <a:solidFill>
                  <a:srgbClr val="8A94A6"/>
                </a:solidFill>
              </a:rPr>
              <a:t>Click a bar → opens L2 with that segment applied</a:t>
            </a:r>
            <a:endParaRPr lang="en-US" sz="650"/>
          </a:p>
        </p:txBody>
      </p:sp>
      <p:sp>
        <p:nvSpPr>
          <p:cNvPr id="1074" name="Shape 1074"/>
          <p:cNvSpPr/>
          <p:nvPr/>
        </p:nvSpPr>
        <p:spPr>
          <a:xfrm>
            <a:off x="8211312" y="3401568"/>
            <a:ext cx="3236976" cy="384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5" name="Shape 1075"/>
          <p:cNvSpPr/>
          <p:nvPr/>
        </p:nvSpPr>
        <p:spPr>
          <a:xfrm>
            <a:off x="8211312" y="3401568"/>
            <a:ext cx="36576" cy="384048"/>
          </a:xfrm>
          <a:prstGeom prst="rect">
            <a:avLst/>
          </a:prstGeom>
          <a:solidFill>
            <a:srgbClr val="C0392B"/>
          </a:solidFill>
          <a:ln w="63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6" name="Shape 1076"/>
          <p:cNvSpPr/>
          <p:nvPr/>
        </p:nvSpPr>
        <p:spPr>
          <a:xfrm>
            <a:off x="8311896" y="3456432"/>
            <a:ext cx="420624" cy="146304"/>
          </a:xfrm>
          <a:prstGeom prst="roundRect">
            <a:avLst>
              <a:gd name="adj" fmla="val 25000"/>
            </a:avLst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7" name="Text 1077"/>
          <p:cNvSpPr/>
          <p:nvPr/>
        </p:nvSpPr>
        <p:spPr>
          <a:xfrm>
            <a:off x="8311896" y="3474720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00" b="1">
                <a:solidFill>
                  <a:srgbClr val="C0392B"/>
                </a:solidFill>
              </a:rPr>
              <a:t>HIGH</a:t>
            </a:r>
            <a:endParaRPr lang="en-US" sz="600"/>
          </a:p>
        </p:txBody>
      </p:sp>
      <p:sp>
        <p:nvSpPr>
          <p:cNvPr id="1078" name="Text 1078"/>
          <p:cNvSpPr/>
          <p:nvPr/>
        </p:nvSpPr>
        <p:spPr>
          <a:xfrm>
            <a:off x="8787384" y="3447288"/>
            <a:ext cx="2606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>
                <a:solidFill>
                  <a:srgbClr val="1F3D6B"/>
                </a:solidFill>
              </a:rPr>
              <a:t>Beauty AOV -6.2%</a:t>
            </a:r>
            <a:endParaRPr lang="en-US" sz="750"/>
          </a:p>
        </p:txBody>
      </p:sp>
      <p:sp>
        <p:nvSpPr>
          <p:cNvPr id="1079" name="Text 1079"/>
          <p:cNvSpPr/>
          <p:nvPr/>
        </p:nvSpPr>
        <p:spPr>
          <a:xfrm>
            <a:off x="8787384" y="3611880"/>
            <a:ext cx="2606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50" b="0">
                <a:solidFill>
                  <a:srgbClr val="8A94A6"/>
                </a:solidFill>
              </a:rPr>
              <a:t>Discount rate up 3.2pt in HCMC stores</a:t>
            </a:r>
            <a:endParaRPr lang="en-US" sz="650"/>
          </a:p>
        </p:txBody>
      </p:sp>
      <p:sp>
        <p:nvSpPr>
          <p:cNvPr id="1080" name="Shape 1080"/>
          <p:cNvSpPr/>
          <p:nvPr/>
        </p:nvSpPr>
        <p:spPr>
          <a:xfrm>
            <a:off x="8211312" y="3831336"/>
            <a:ext cx="3236976" cy="384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1" name="Shape 1081"/>
          <p:cNvSpPr/>
          <p:nvPr/>
        </p:nvSpPr>
        <p:spPr>
          <a:xfrm>
            <a:off x="8211312" y="3831336"/>
            <a:ext cx="36576" cy="384048"/>
          </a:xfrm>
          <a:prstGeom prst="rect">
            <a:avLst/>
          </a:prstGeom>
          <a:solidFill>
            <a:srgbClr val="C77700"/>
          </a:solidFill>
          <a:ln w="6350">
            <a:solidFill>
              <a:srgbClr val="C77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2" name="Shape 1082"/>
          <p:cNvSpPr/>
          <p:nvPr/>
        </p:nvSpPr>
        <p:spPr>
          <a:xfrm>
            <a:off x="8311896" y="3886200"/>
            <a:ext cx="420624" cy="146304"/>
          </a:xfrm>
          <a:prstGeom prst="roundRect">
            <a:avLst>
              <a:gd name="adj" fmla="val 25000"/>
            </a:avLst>
          </a:prstGeom>
          <a:solidFill>
            <a:srgbClr val="FDF3E3"/>
          </a:solidFill>
          <a:ln w="12700">
            <a:solidFill>
              <a:srgbClr val="FDF3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3" name="Text 1083"/>
          <p:cNvSpPr/>
          <p:nvPr/>
        </p:nvSpPr>
        <p:spPr>
          <a:xfrm>
            <a:off x="8311896" y="3904488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00" b="1">
                <a:solidFill>
                  <a:srgbClr val="C77700"/>
                </a:solidFill>
              </a:rPr>
              <a:t>MED</a:t>
            </a:r>
            <a:endParaRPr lang="en-US" sz="600"/>
          </a:p>
        </p:txBody>
      </p:sp>
      <p:sp>
        <p:nvSpPr>
          <p:cNvPr id="1084" name="Text 1084"/>
          <p:cNvSpPr/>
          <p:nvPr/>
        </p:nvSpPr>
        <p:spPr>
          <a:xfrm>
            <a:off x="8787384" y="3877056"/>
            <a:ext cx="2606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>
                <a:solidFill>
                  <a:srgbClr val="1F3D6B"/>
                </a:solidFill>
              </a:rPr>
              <a:t>AOV below plan for 2 months</a:t>
            </a:r>
            <a:endParaRPr lang="en-US" sz="750"/>
          </a:p>
        </p:txBody>
      </p:sp>
      <p:sp>
        <p:nvSpPr>
          <p:cNvPr id="1085" name="Text 1085"/>
          <p:cNvSpPr/>
          <p:nvPr/>
        </p:nvSpPr>
        <p:spPr>
          <a:xfrm>
            <a:off x="8787384" y="4041648"/>
            <a:ext cx="2606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50" b="0">
                <a:solidFill>
                  <a:srgbClr val="8A94A6"/>
                </a:solidFill>
              </a:rPr>
              <a:t>Basket size shrinking in electronics</a:t>
            </a:r>
            <a:endParaRPr lang="en-US" sz="650"/>
          </a:p>
        </p:txBody>
      </p:sp>
      <p:sp>
        <p:nvSpPr>
          <p:cNvPr id="1086" name="Shape 1086"/>
          <p:cNvSpPr/>
          <p:nvPr/>
        </p:nvSpPr>
        <p:spPr>
          <a:xfrm>
            <a:off x="8211312" y="4261104"/>
            <a:ext cx="3236976" cy="384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7" name="Shape 1087"/>
          <p:cNvSpPr/>
          <p:nvPr/>
        </p:nvSpPr>
        <p:spPr>
          <a:xfrm>
            <a:off x="8211312" y="4261104"/>
            <a:ext cx="36576" cy="384048"/>
          </a:xfrm>
          <a:prstGeom prst="rect">
            <a:avLst/>
          </a:prstGeom>
          <a:solidFill>
            <a:srgbClr val="2E5FA3"/>
          </a:solidFill>
          <a:ln w="635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8" name="Shape 1088"/>
          <p:cNvSpPr/>
          <p:nvPr/>
        </p:nvSpPr>
        <p:spPr>
          <a:xfrm>
            <a:off x="8311896" y="4315968"/>
            <a:ext cx="420624" cy="146304"/>
          </a:xfrm>
          <a:prstGeom prst="roundRect">
            <a:avLst>
              <a:gd name="adj" fmla="val 25000"/>
            </a:avLst>
          </a:prstGeom>
          <a:solidFill>
            <a:srgbClr val="E8F0FA"/>
          </a:solidFill>
          <a:ln w="12700">
            <a:solidFill>
              <a:srgbClr val="E8F0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9" name="Text 1089"/>
          <p:cNvSpPr/>
          <p:nvPr/>
        </p:nvSpPr>
        <p:spPr>
          <a:xfrm>
            <a:off x="8311896" y="4334256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00" b="1">
                <a:solidFill>
                  <a:srgbClr val="2E5FA3"/>
                </a:solidFill>
              </a:rPr>
              <a:t>INFO</a:t>
            </a:r>
            <a:endParaRPr lang="en-US" sz="600"/>
          </a:p>
        </p:txBody>
      </p:sp>
      <p:sp>
        <p:nvSpPr>
          <p:cNvPr id="1090" name="Text 1090"/>
          <p:cNvSpPr/>
          <p:nvPr/>
        </p:nvSpPr>
        <p:spPr>
          <a:xfrm>
            <a:off x="8787384" y="4306824"/>
            <a:ext cx="2606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>
                <a:solidFill>
                  <a:srgbClr val="1F3D6B"/>
                </a:solidFill>
              </a:rPr>
              <a:t>Transactions up, AOV down</a:t>
            </a:r>
            <a:endParaRPr lang="en-US" sz="750"/>
          </a:p>
        </p:txBody>
      </p:sp>
      <p:sp>
        <p:nvSpPr>
          <p:cNvPr id="1091" name="Text 1091"/>
          <p:cNvSpPr/>
          <p:nvPr/>
        </p:nvSpPr>
        <p:spPr>
          <a:xfrm>
            <a:off x="8787384" y="4471416"/>
            <a:ext cx="2606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50" b="0">
                <a:solidFill>
                  <a:srgbClr val="8A94A6"/>
                </a:solidFill>
              </a:rPr>
              <a:t>Growth is driven by smaller baskets</a:t>
            </a:r>
            <a:endParaRPr lang="en-US" sz="650"/>
          </a:p>
        </p:txBody>
      </p:sp>
      <p:sp>
        <p:nvSpPr>
          <p:cNvPr id="1092" name="Text 1092"/>
          <p:cNvSpPr/>
          <p:nvPr/>
        </p:nvSpPr>
        <p:spPr>
          <a:xfrm>
            <a:off x="8211312" y="4718304"/>
            <a:ext cx="32369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50" b="0">
                <a:solidFill>
                  <a:srgbClr val="8A94A6"/>
                </a:solidFill>
              </a:rPr>
              <a:t>Click an alert → opens L2 with the filter applied</a:t>
            </a:r>
            <a:endParaRPr lang="en-US" sz="650"/>
          </a:p>
        </p:txBody>
      </p:sp>
      <p:sp>
        <p:nvSpPr>
          <p:cNvPr id="1093" name="Shape 1093"/>
          <p:cNvSpPr/>
          <p:nvPr/>
        </p:nvSpPr>
        <p:spPr>
          <a:xfrm>
            <a:off x="6309360" y="1728216"/>
            <a:ext cx="1728216" cy="905256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D02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4" name="Shape 1094"/>
          <p:cNvSpPr/>
          <p:nvPr/>
        </p:nvSpPr>
        <p:spPr>
          <a:xfrm>
            <a:off x="7269480" y="2395728"/>
            <a:ext cx="658368" cy="173736"/>
          </a:xfrm>
          <a:prstGeom prst="roundRect">
            <a:avLst>
              <a:gd name="adj" fmla="val 25000"/>
            </a:avLst>
          </a:prstGeom>
          <a:solidFill>
            <a:srgbClr val="D02C8C"/>
          </a:solidFill>
          <a:ln w="12700">
            <a:solidFill>
              <a:srgbClr val="D02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5" name="Text 1095"/>
          <p:cNvSpPr/>
          <p:nvPr/>
        </p:nvSpPr>
        <p:spPr>
          <a:xfrm>
            <a:off x="7269480" y="2418588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00" b="1">
                <a:solidFill>
                  <a:srgbClr val="FFFFFF"/>
                </a:solidFill>
              </a:rPr>
              <a:t>selected</a:t>
            </a:r>
            <a:endParaRPr lang="en-US" sz="600"/>
          </a:p>
        </p:txBody>
      </p:sp>
      <p:sp>
        <p:nvSpPr>
          <p:cNvPr id="8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8016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794">
                <a:solidFill>
                  <a:srgbClr val="8B95A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  <p:sp>
        <p:nvSpPr>
          <p:cNvPr id="101" name="Shape 101"/>
          <p:cNvSpPr/>
          <p:nvPr/>
        </p:nvSpPr>
        <p:spPr>
          <a:xfrm>
            <a:off x="2002536" y="1806552"/>
            <a:ext cx="182880" cy="182880"/>
          </a:xfrm>
          <a:prstGeom prst="ellipse">
            <a:avLst/>
          </a:prstGeom>
          <a:noFill/>
          <a:ln w="7620">
            <a:solidFill>
              <a:srgbClr val="B4C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 102"/>
          <p:cNvSpPr/>
          <p:nvPr/>
        </p:nvSpPr>
        <p:spPr>
          <a:xfrm>
            <a:off x="2002536" y="1806552"/>
            <a:ext cx="1828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6B7C93"/>
                </a:solidFill>
              </a:rPr>
              <a:t>i</a:t>
            </a:r>
            <a:endParaRPr lang="en-US" sz="900"/>
          </a:p>
        </p:txBody>
      </p:sp>
      <p:sp>
        <p:nvSpPr>
          <p:cNvPr id="103" name="Shape 103"/>
          <p:cNvSpPr/>
          <p:nvPr/>
        </p:nvSpPr>
        <p:spPr>
          <a:xfrm>
            <a:off x="3913632" y="1806552"/>
            <a:ext cx="182880" cy="182880"/>
          </a:xfrm>
          <a:prstGeom prst="ellipse">
            <a:avLst/>
          </a:prstGeom>
          <a:noFill/>
          <a:ln w="7620">
            <a:solidFill>
              <a:srgbClr val="B4C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Text 104"/>
          <p:cNvSpPr/>
          <p:nvPr/>
        </p:nvSpPr>
        <p:spPr>
          <a:xfrm>
            <a:off x="3913632" y="1806552"/>
            <a:ext cx="1828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6B7C93"/>
                </a:solidFill>
              </a:rPr>
              <a:t>i</a:t>
            </a:r>
            <a:endParaRPr lang="en-US" sz="900"/>
          </a:p>
        </p:txBody>
      </p:sp>
      <p:sp>
        <p:nvSpPr>
          <p:cNvPr id="105" name="Shape 105"/>
          <p:cNvSpPr/>
          <p:nvPr/>
        </p:nvSpPr>
        <p:spPr>
          <a:xfrm>
            <a:off x="5824728" y="1806552"/>
            <a:ext cx="182880" cy="182880"/>
          </a:xfrm>
          <a:prstGeom prst="ellipse">
            <a:avLst/>
          </a:prstGeom>
          <a:noFill/>
          <a:ln w="7620">
            <a:solidFill>
              <a:srgbClr val="B4C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Text 106"/>
          <p:cNvSpPr/>
          <p:nvPr/>
        </p:nvSpPr>
        <p:spPr>
          <a:xfrm>
            <a:off x="5824728" y="1806552"/>
            <a:ext cx="1828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6B7C93"/>
                </a:solidFill>
              </a:rPr>
              <a:t>i</a:t>
            </a:r>
            <a:endParaRPr lang="en-US" sz="900"/>
          </a:p>
        </p:txBody>
      </p:sp>
      <p:sp>
        <p:nvSpPr>
          <p:cNvPr id="107" name="Shape 107"/>
          <p:cNvSpPr/>
          <p:nvPr/>
        </p:nvSpPr>
        <p:spPr>
          <a:xfrm>
            <a:off x="7735824" y="1806552"/>
            <a:ext cx="182880" cy="182880"/>
          </a:xfrm>
          <a:prstGeom prst="ellipse">
            <a:avLst/>
          </a:prstGeom>
          <a:noFill/>
          <a:ln w="7620">
            <a:solidFill>
              <a:srgbClr val="B4C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Text 108"/>
          <p:cNvSpPr/>
          <p:nvPr/>
        </p:nvSpPr>
        <p:spPr>
          <a:xfrm>
            <a:off x="7735824" y="1806552"/>
            <a:ext cx="1828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6B7C93"/>
                </a:solidFill>
              </a:rPr>
              <a:t>i</a:t>
            </a:r>
            <a:endParaRPr lang="en-US" sz="900"/>
          </a:p>
        </p:txBody>
      </p:sp>
      <p:sp>
        <p:nvSpPr>
          <p:cNvPr id="109" name="Shape 109"/>
          <p:cNvSpPr/>
          <p:nvPr/>
        </p:nvSpPr>
        <p:spPr>
          <a:xfrm>
            <a:off x="9646920" y="1806552"/>
            <a:ext cx="182880" cy="182880"/>
          </a:xfrm>
          <a:prstGeom prst="ellipse">
            <a:avLst/>
          </a:prstGeom>
          <a:noFill/>
          <a:ln w="7620">
            <a:solidFill>
              <a:srgbClr val="B4C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Text 110"/>
          <p:cNvSpPr/>
          <p:nvPr/>
        </p:nvSpPr>
        <p:spPr>
          <a:xfrm>
            <a:off x="9646920" y="1806552"/>
            <a:ext cx="1828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6B7C93"/>
                </a:solidFill>
              </a:rPr>
              <a:t>i</a:t>
            </a:r>
            <a:endParaRPr lang="en-US" sz="900"/>
          </a:p>
        </p:txBody>
      </p:sp>
      <p:sp>
        <p:nvSpPr>
          <p:cNvPr id="111" name="Shape 111"/>
          <p:cNvSpPr/>
          <p:nvPr/>
        </p:nvSpPr>
        <p:spPr>
          <a:xfrm>
            <a:off x="11558016" y="1806552"/>
            <a:ext cx="182880" cy="182880"/>
          </a:xfrm>
          <a:prstGeom prst="ellipse">
            <a:avLst/>
          </a:prstGeom>
          <a:noFill/>
          <a:ln w="7620">
            <a:solidFill>
              <a:srgbClr val="B4C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Text 112"/>
          <p:cNvSpPr/>
          <p:nvPr/>
        </p:nvSpPr>
        <p:spPr>
          <a:xfrm>
            <a:off x="11558016" y="1806552"/>
            <a:ext cx="1828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6B7C93"/>
                </a:solidFill>
              </a:rPr>
              <a:t>i</a:t>
            </a:r>
            <a:endParaRPr lang="en-US" sz="900"/>
          </a:p>
        </p:txBody>
      </p:sp>
      <p:sp>
        <p:nvSpPr>
          <p:cNvPr id="113" name="Shape 113"/>
          <p:cNvSpPr/>
          <p:nvPr/>
        </p:nvSpPr>
        <p:spPr>
          <a:xfrm>
            <a:off x="594360" y="4980000"/>
            <a:ext cx="11247120" cy="1200000"/>
          </a:xfrm>
          <a:prstGeom prst="roundRect">
            <a:avLst>
              <a:gd name="adj" fmla="val 4000"/>
            </a:avLst>
          </a:prstGeom>
          <a:solidFill>
            <a:srgbClr val="F6F8FB"/>
          </a:solidFill>
          <a:ln w="7620">
            <a:solidFill>
              <a:srgbClr val="D8E1EA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4" name="Shape 114"/>
          <p:cNvSpPr/>
          <p:nvPr/>
        </p:nvSpPr>
        <p:spPr>
          <a:xfrm>
            <a:off x="594360" y="4980000"/>
            <a:ext cx="45720" cy="1200000"/>
          </a:xfrm>
          <a:prstGeom prst="rect">
            <a:avLst/>
          </a:prstGeom>
          <a:solidFill>
            <a:srgbClr val="2E5F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5" name="Text 115"/>
          <p:cNvSpPr/>
          <p:nvPr/>
        </p:nvSpPr>
        <p:spPr>
          <a:xfrm>
            <a:off x="713232" y="5062296"/>
            <a:ext cx="60000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86" b="1">
                <a:solidFill>
                  <a:srgbClr val="1F3D6B"/>
                </a:solidFill>
              </a:rPr>
              <a:t>Hover Tooltip · Metric Definition</a:t>
            </a:r>
            <a:endParaRPr lang="en-US" sz="1286"/>
          </a:p>
        </p:txBody>
      </p:sp>
      <p:sp>
        <p:nvSpPr>
          <p:cNvPr id="116" name="Text 116"/>
          <p:cNvSpPr/>
          <p:nvPr/>
        </p:nvSpPr>
        <p:spPr>
          <a:xfrm>
            <a:off x="713232" y="5300000"/>
            <a:ext cx="10900000" cy="780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31">
                <a:solidFill>
                  <a:srgbClr val="4A5568"/>
                </a:solidFill>
              </a:rPr>
              <a:t>AOV — Average sales value per transaction in the selected period.</a:t>
            </a:r>
            <a:endParaRPr lang="en-US" sz="1031"/>
          </a:p>
          <a:p>
            <a:pPr marL="0" indent="0">
              <a:buNone/>
            </a:pPr>
            <a:r>
              <a:rPr lang="en-US" sz="1031">
                <a:solidFill>
                  <a:srgbClr val="4A5568"/>
                </a:solidFill>
              </a:rPr>
              <a:t>Formula: Net Sales ÷ Transactions   ·   Source: derived at query time   ·   Updated daily 06:00 ICT</a:t>
            </a:r>
            <a:endParaRPr lang="en-US" sz="1031"/>
          </a:p>
          <a:p>
            <a:pPr marL="0" indent="0">
              <a:buNone/>
            </a:pPr>
            <a:r>
              <a:rPr lang="en-US" sz="1031">
                <a:solidFill>
                  <a:srgbClr val="4A5568"/>
                </a:solidFill>
              </a:rPr>
              <a:t>Every KPI card, chart title, and table column exposes the same definition on hover.</a:t>
            </a:r>
            <a:endParaRPr lang="en-US" sz="103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42" b="1">
                <a:solidFill>
                  <a:srgbClr val="1F3D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L1 · Merchant Insight Overview — New Member % selected</a:t>
            </a:r>
            <a:endParaRPr lang="en-US" sz="2542"/>
          </a:p>
        </p:txBody>
      </p:sp>
      <p:sp>
        <p:nvSpPr>
          <p:cNvPr id="3" name="Text 1"/>
          <p:cNvSpPr/>
          <p:nvPr/>
        </p:nvSpPr>
        <p:spPr>
          <a:xfrm>
            <a:off x="274320" y="502920"/>
            <a:ext cx="11521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6">
                <a:solidFill>
                  <a:srgbClr val="4A5568"/>
                </a:solidFill>
              </a:rPr>
              <a:t>Clicking the New Member % KPI card refreshes the whole panel row to the New Member % context before moving to L2.</a:t>
            </a:r>
            <a:endParaRPr lang="en-US" sz="1076"/>
          </a:p>
        </p:txBody>
      </p:sp>
      <p:sp>
        <p:nvSpPr>
          <p:cNvPr id="5" name="Shape 2"/>
          <p:cNvSpPr/>
          <p:nvPr/>
        </p:nvSpPr>
        <p:spPr>
          <a:xfrm>
            <a:off x="320040" y="1056456"/>
            <a:ext cx="11567160" cy="5349240"/>
          </a:xfrm>
          <a:prstGeom prst="roundRect">
            <a:avLst>
              <a:gd name="adj" fmla="val 1026"/>
            </a:avLst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320040" y="1056456"/>
            <a:ext cx="11567160" cy="411480"/>
          </a:xfrm>
          <a:prstGeom prst="rect">
            <a:avLst/>
          </a:prstGeom>
          <a:solidFill>
            <a:srgbClr val="1F3D6B"/>
          </a:solidFill>
          <a:ln w="12700">
            <a:solidFill>
              <a:srgbClr val="1F3D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02920" y="117532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1" b="1">
                <a:solidFill>
                  <a:srgbClr val="FFFFFF"/>
                </a:solidFill>
              </a:rPr>
              <a:t>Merchant Insight Dashboard · L1 Overview</a:t>
            </a:r>
            <a:endParaRPr lang="en-US" sz="1121"/>
          </a:p>
        </p:txBody>
      </p:sp>
      <p:sp>
        <p:nvSpPr>
          <p:cNvPr id="8" name="Shape 5"/>
          <p:cNvSpPr/>
          <p:nvPr/>
        </p:nvSpPr>
        <p:spPr>
          <a:xfrm>
            <a:off x="3900000" y="1147896"/>
            <a:ext cx="1205000" cy="2286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936576" y="1198188"/>
            <a:ext cx="11318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7" b="1">
                <a:solidFill>
                  <a:srgbClr val="1F3D6B"/>
                </a:solidFill>
              </a:rPr>
              <a:t>Operation Unit</a:t>
            </a:r>
            <a:endParaRPr lang="en-US" sz="837"/>
          </a:p>
        </p:txBody>
      </p:sp>
      <p:sp>
        <p:nvSpPr>
          <p:cNvPr id="10" name="Shape 7"/>
          <p:cNvSpPr/>
          <p:nvPr/>
        </p:nvSpPr>
        <p:spPr>
          <a:xfrm>
            <a:off x="5176000" y="1147896"/>
            <a:ext cx="1205000" cy="2286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212576" y="1198188"/>
            <a:ext cx="11318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7" b="1">
                <a:solidFill>
                  <a:srgbClr val="1F3D6B"/>
                </a:solidFill>
              </a:rPr>
              <a:t>Store</a:t>
            </a:r>
            <a:endParaRPr lang="en-US" sz="837"/>
          </a:p>
        </p:txBody>
      </p:sp>
      <p:sp>
        <p:nvSpPr>
          <p:cNvPr id="12" name="Shape 9"/>
          <p:cNvSpPr/>
          <p:nvPr/>
        </p:nvSpPr>
        <p:spPr>
          <a:xfrm>
            <a:off x="6452000" y="1147896"/>
            <a:ext cx="1205000" cy="2286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488576" y="1198188"/>
            <a:ext cx="11318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7" b="1">
                <a:solidFill>
                  <a:srgbClr val="1F3D6B"/>
                </a:solidFill>
              </a:rPr>
              <a:t>Business Category</a:t>
            </a:r>
            <a:endParaRPr lang="en-US" sz="837"/>
          </a:p>
        </p:txBody>
      </p:sp>
      <p:sp>
        <p:nvSpPr>
          <p:cNvPr id="14" name="Shape 11"/>
          <p:cNvSpPr/>
          <p:nvPr/>
        </p:nvSpPr>
        <p:spPr>
          <a:xfrm>
            <a:off x="7728000" y="1147896"/>
            <a:ext cx="1205000" cy="2286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764576" y="1198188"/>
            <a:ext cx="11318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7" b="1">
                <a:solidFill>
                  <a:srgbClr val="1F3D6B"/>
                </a:solidFill>
              </a:rPr>
              <a:t>Tenant</a:t>
            </a:r>
            <a:endParaRPr lang="en-US" sz="837"/>
          </a:p>
        </p:txBody>
      </p:sp>
      <p:sp>
        <p:nvSpPr>
          <p:cNvPr id="16" name="Shape 13"/>
          <p:cNvSpPr/>
          <p:nvPr/>
        </p:nvSpPr>
        <p:spPr>
          <a:xfrm>
            <a:off x="9004000" y="1147896"/>
            <a:ext cx="1205000" cy="2286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9040576" y="1198188"/>
            <a:ext cx="11318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7" b="1">
                <a:solidFill>
                  <a:srgbClr val="1F3D6B"/>
                </a:solidFill>
              </a:rPr>
              <a:t>Date Range</a:t>
            </a:r>
            <a:endParaRPr lang="en-US" sz="837"/>
          </a:p>
        </p:txBody>
      </p:sp>
      <p:sp>
        <p:nvSpPr>
          <p:cNvPr id="900" name="Shape 900"/>
          <p:cNvSpPr/>
          <p:nvPr/>
        </p:nvSpPr>
        <p:spPr>
          <a:xfrm>
            <a:off x="10280000" y="1147896"/>
            <a:ext cx="1205000" cy="2286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1" name="Text 901"/>
          <p:cNvSpPr/>
          <p:nvPr/>
        </p:nvSpPr>
        <p:spPr>
          <a:xfrm>
            <a:off x="10316576" y="1198188"/>
            <a:ext cx="11318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7" b="1">
                <a:solidFill>
                  <a:srgbClr val="1F3D6B"/>
                </a:solidFill>
              </a:rPr>
              <a:t>Compare With</a:t>
            </a:r>
            <a:endParaRPr lang="en-US" sz="837"/>
          </a:p>
        </p:txBody>
      </p:sp>
      <p:sp>
        <p:nvSpPr>
          <p:cNvPr id="18" name="Shape 15"/>
          <p:cNvSpPr/>
          <p:nvPr/>
        </p:nvSpPr>
        <p:spPr>
          <a:xfrm>
            <a:off x="594360" y="1742256"/>
            <a:ext cx="1691640" cy="868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7620">
            <a:solidFill>
              <a:srgbClr val="DFE6EF"/>
            </a:solidFill>
            <a:prstDash val="solid"/>
          </a:ln>
          <a:effectLst>
            <a:outerShdw blurRad="12700" dist="635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67512" y="1824552"/>
            <a:ext cx="1545336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971" b="1">
                <a:solidFill>
                  <a:srgbClr val="4A5568"/>
                </a:solidFill>
              </a:rPr>
              <a:t>Purchasing Members</a:t>
            </a:r>
            <a:endParaRPr lang="en-US" sz="971"/>
          </a:p>
        </p:txBody>
      </p:sp>
      <p:sp>
        <p:nvSpPr>
          <p:cNvPr id="20" name="Text 17"/>
          <p:cNvSpPr/>
          <p:nvPr/>
        </p:nvSpPr>
        <p:spPr>
          <a:xfrm>
            <a:off x="667512" y="2053152"/>
            <a:ext cx="154533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2093" b="1">
                <a:solidFill>
                  <a:srgbClr val="1F3D6B"/>
                </a:solidFill>
              </a:rPr>
              <a:t>272K</a:t>
            </a:r>
            <a:endParaRPr lang="en-US" sz="2093"/>
          </a:p>
        </p:txBody>
      </p:sp>
      <p:sp>
        <p:nvSpPr>
          <p:cNvPr id="21" name="Text 18"/>
          <p:cNvSpPr/>
          <p:nvPr/>
        </p:nvSpPr>
        <p:spPr>
          <a:xfrm>
            <a:off x="667512" y="2400624"/>
            <a:ext cx="1545336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913">
                <a:solidFill>
                  <a:srgbClr val="2E7D32"/>
                </a:solidFill>
              </a:rPr>
              <a:t>MoM +8.2%</a:t>
            </a:r>
            <a:endParaRPr lang="en-US" sz="913"/>
          </a:p>
        </p:txBody>
      </p:sp>
      <p:sp>
        <p:nvSpPr>
          <p:cNvPr id="22" name="Shape 19"/>
          <p:cNvSpPr/>
          <p:nvPr/>
        </p:nvSpPr>
        <p:spPr>
          <a:xfrm>
            <a:off x="2505456" y="1742256"/>
            <a:ext cx="1691640" cy="868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7620">
            <a:solidFill>
              <a:srgbClr val="DFE6EF"/>
            </a:solidFill>
            <a:prstDash val="solid"/>
          </a:ln>
          <a:effectLst>
            <a:outerShdw blurRad="12700" dist="635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2578608" y="1824552"/>
            <a:ext cx="1545336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971" b="1">
                <a:solidFill>
                  <a:srgbClr val="4A5568"/>
                </a:solidFill>
              </a:rPr>
              <a:t>Net Sales</a:t>
            </a:r>
            <a:endParaRPr lang="en-US" sz="971"/>
          </a:p>
        </p:txBody>
      </p:sp>
      <p:sp>
        <p:nvSpPr>
          <p:cNvPr id="24" name="Text 21"/>
          <p:cNvSpPr/>
          <p:nvPr/>
        </p:nvSpPr>
        <p:spPr>
          <a:xfrm>
            <a:off x="2578608" y="2053152"/>
            <a:ext cx="154533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2093" b="1">
                <a:solidFill>
                  <a:srgbClr val="1F3D6B"/>
                </a:solidFill>
              </a:rPr>
              <a:t>226M</a:t>
            </a:r>
            <a:endParaRPr lang="en-US" sz="2093"/>
          </a:p>
        </p:txBody>
      </p:sp>
      <p:sp>
        <p:nvSpPr>
          <p:cNvPr id="25" name="Text 22"/>
          <p:cNvSpPr/>
          <p:nvPr/>
        </p:nvSpPr>
        <p:spPr>
          <a:xfrm>
            <a:off x="2578608" y="2400624"/>
            <a:ext cx="1545336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913">
                <a:solidFill>
                  <a:srgbClr val="2E7D32"/>
                </a:solidFill>
              </a:rPr>
              <a:t>MoM +5.6%</a:t>
            </a:r>
            <a:endParaRPr lang="en-US" sz="913"/>
          </a:p>
        </p:txBody>
      </p:sp>
      <p:sp>
        <p:nvSpPr>
          <p:cNvPr id="26" name="Shape 23"/>
          <p:cNvSpPr/>
          <p:nvPr/>
        </p:nvSpPr>
        <p:spPr>
          <a:xfrm>
            <a:off x="4416552" y="1742256"/>
            <a:ext cx="1691640" cy="868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7620">
            <a:solidFill>
              <a:srgbClr val="DFE6EF"/>
            </a:solidFill>
            <a:prstDash val="solid"/>
          </a:ln>
          <a:effectLst>
            <a:outerShdw blurRad="12700" dist="635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4489704" y="1824552"/>
            <a:ext cx="1545336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971" b="1">
                <a:solidFill>
                  <a:srgbClr val="4A5568"/>
                </a:solidFill>
              </a:rPr>
              <a:t>Transactions</a:t>
            </a:r>
            <a:endParaRPr lang="en-US" sz="971"/>
          </a:p>
        </p:txBody>
      </p:sp>
      <p:sp>
        <p:nvSpPr>
          <p:cNvPr id="28" name="Text 25"/>
          <p:cNvSpPr/>
          <p:nvPr/>
        </p:nvSpPr>
        <p:spPr>
          <a:xfrm>
            <a:off x="4489704" y="2053152"/>
            <a:ext cx="154533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2093" b="1">
                <a:solidFill>
                  <a:srgbClr val="1F3D6B"/>
                </a:solidFill>
              </a:rPr>
              <a:t>60K</a:t>
            </a:r>
            <a:endParaRPr lang="en-US" sz="2093"/>
          </a:p>
        </p:txBody>
      </p:sp>
      <p:sp>
        <p:nvSpPr>
          <p:cNvPr id="29" name="Text 26"/>
          <p:cNvSpPr/>
          <p:nvPr/>
        </p:nvSpPr>
        <p:spPr>
          <a:xfrm>
            <a:off x="4489704" y="2400624"/>
            <a:ext cx="1545336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913">
                <a:solidFill>
                  <a:srgbClr val="2E7D32"/>
                </a:solidFill>
              </a:rPr>
              <a:t>MoM +10.4%</a:t>
            </a:r>
            <a:endParaRPr lang="en-US" sz="913"/>
          </a:p>
        </p:txBody>
      </p:sp>
      <p:sp>
        <p:nvSpPr>
          <p:cNvPr id="30" name="Shape 27"/>
          <p:cNvSpPr/>
          <p:nvPr/>
        </p:nvSpPr>
        <p:spPr>
          <a:xfrm>
            <a:off x="6327648" y="1742256"/>
            <a:ext cx="1691640" cy="868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7620">
            <a:solidFill>
              <a:srgbClr val="DFE6EF"/>
            </a:solidFill>
            <a:prstDash val="solid"/>
          </a:ln>
          <a:effectLst>
            <a:outerShdw blurRad="12700" dist="635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6400800" y="1824552"/>
            <a:ext cx="1545336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971" b="1">
                <a:solidFill>
                  <a:srgbClr val="4A5568"/>
                </a:solidFill>
              </a:rPr>
              <a:t>AOV</a:t>
            </a:r>
            <a:endParaRPr lang="en-US" sz="971"/>
          </a:p>
        </p:txBody>
      </p:sp>
      <p:sp>
        <p:nvSpPr>
          <p:cNvPr id="32" name="Text 29"/>
          <p:cNvSpPr/>
          <p:nvPr/>
        </p:nvSpPr>
        <p:spPr>
          <a:xfrm>
            <a:off x="6400800" y="2053152"/>
            <a:ext cx="154533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2093" b="1">
                <a:solidFill>
                  <a:srgbClr val="1F3D6B"/>
                </a:solidFill>
              </a:rPr>
              <a:t>375K</a:t>
            </a:r>
            <a:endParaRPr lang="en-US" sz="2093"/>
          </a:p>
        </p:txBody>
      </p:sp>
      <p:sp>
        <p:nvSpPr>
          <p:cNvPr id="33" name="Text 30"/>
          <p:cNvSpPr/>
          <p:nvPr/>
        </p:nvSpPr>
        <p:spPr>
          <a:xfrm>
            <a:off x="6400800" y="2400624"/>
            <a:ext cx="1545336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913">
                <a:solidFill>
                  <a:srgbClr val="C0392B"/>
                </a:solidFill>
              </a:rPr>
              <a:t>MoM -1.2%</a:t>
            </a:r>
            <a:endParaRPr lang="en-US" sz="913"/>
          </a:p>
        </p:txBody>
      </p:sp>
      <p:sp>
        <p:nvSpPr>
          <p:cNvPr id="34" name="Shape 31"/>
          <p:cNvSpPr/>
          <p:nvPr/>
        </p:nvSpPr>
        <p:spPr>
          <a:xfrm>
            <a:off x="8238744" y="1742256"/>
            <a:ext cx="1691640" cy="868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7620">
            <a:solidFill>
              <a:srgbClr val="DFE6EF"/>
            </a:solidFill>
            <a:prstDash val="solid"/>
          </a:ln>
          <a:effectLst>
            <a:outerShdw blurRad="12700" dist="635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8311896" y="1824552"/>
            <a:ext cx="1545336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971" b="1">
                <a:solidFill>
                  <a:srgbClr val="4A5568"/>
                </a:solidFill>
              </a:rPr>
              <a:t>New Member %</a:t>
            </a:r>
            <a:endParaRPr lang="en-US" sz="971"/>
          </a:p>
        </p:txBody>
      </p:sp>
      <p:sp>
        <p:nvSpPr>
          <p:cNvPr id="36" name="Text 33"/>
          <p:cNvSpPr/>
          <p:nvPr/>
        </p:nvSpPr>
        <p:spPr>
          <a:xfrm>
            <a:off x="8311896" y="2053152"/>
            <a:ext cx="154533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2093" b="1">
                <a:solidFill>
                  <a:srgbClr val="1F3D6B"/>
                </a:solidFill>
              </a:rPr>
              <a:t>31%</a:t>
            </a:r>
            <a:endParaRPr lang="en-US" sz="2093"/>
          </a:p>
        </p:txBody>
      </p:sp>
      <p:sp>
        <p:nvSpPr>
          <p:cNvPr id="37" name="Text 34"/>
          <p:cNvSpPr/>
          <p:nvPr/>
        </p:nvSpPr>
        <p:spPr>
          <a:xfrm>
            <a:off x="8311896" y="2400624"/>
            <a:ext cx="1545336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913">
                <a:solidFill>
                  <a:srgbClr val="2E7D32"/>
                </a:solidFill>
              </a:rPr>
              <a:t>MoM +2.8pt</a:t>
            </a:r>
            <a:endParaRPr lang="en-US" sz="913"/>
          </a:p>
        </p:txBody>
      </p:sp>
      <p:sp>
        <p:nvSpPr>
          <p:cNvPr id="38" name="Shape 35"/>
          <p:cNvSpPr/>
          <p:nvPr/>
        </p:nvSpPr>
        <p:spPr>
          <a:xfrm>
            <a:off x="10149840" y="1742256"/>
            <a:ext cx="1691640" cy="868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7620">
            <a:solidFill>
              <a:srgbClr val="DFE6EF"/>
            </a:solidFill>
            <a:prstDash val="solid"/>
          </a:ln>
          <a:effectLst>
            <a:outerShdw blurRad="12700" dist="635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10222992" y="1824552"/>
            <a:ext cx="1545336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971" b="1">
                <a:solidFill>
                  <a:srgbClr val="4A5568"/>
                </a:solidFill>
              </a:rPr>
              <a:t>Repeat Ratio</a:t>
            </a:r>
            <a:endParaRPr lang="en-US" sz="971"/>
          </a:p>
        </p:txBody>
      </p:sp>
      <p:sp>
        <p:nvSpPr>
          <p:cNvPr id="40" name="Text 37"/>
          <p:cNvSpPr/>
          <p:nvPr/>
        </p:nvSpPr>
        <p:spPr>
          <a:xfrm>
            <a:off x="10222992" y="2053152"/>
            <a:ext cx="154533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2093" b="1">
                <a:solidFill>
                  <a:srgbClr val="1F3D6B"/>
                </a:solidFill>
              </a:rPr>
              <a:t>46%</a:t>
            </a:r>
            <a:endParaRPr lang="en-US" sz="2093"/>
          </a:p>
        </p:txBody>
      </p:sp>
      <p:sp>
        <p:nvSpPr>
          <p:cNvPr id="41" name="Text 38"/>
          <p:cNvSpPr/>
          <p:nvPr/>
        </p:nvSpPr>
        <p:spPr>
          <a:xfrm>
            <a:off x="10222992" y="2400624"/>
            <a:ext cx="1545336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913">
                <a:solidFill>
                  <a:srgbClr val="2E7D32"/>
                </a:solidFill>
              </a:rPr>
              <a:t>MoM +1.4pt</a:t>
            </a:r>
            <a:endParaRPr lang="en-US" sz="913"/>
          </a:p>
        </p:txBody>
      </p:sp>
      <p:sp>
        <p:nvSpPr>
          <p:cNvPr id="1001" name="Shape 1001"/>
          <p:cNvSpPr/>
          <p:nvPr/>
        </p:nvSpPr>
        <p:spPr>
          <a:xfrm>
            <a:off x="594360" y="2935224"/>
            <a:ext cx="3474720" cy="1874520"/>
          </a:xfrm>
          <a:prstGeom prst="roundRect">
            <a:avLst>
              <a:gd name="adj" fmla="val 4000"/>
            </a:avLst>
          </a:prstGeom>
          <a:solidFill>
            <a:srgbClr val="F6F8FB"/>
          </a:solidFill>
          <a:ln w="7620">
            <a:solidFill>
              <a:srgbClr val="D8E1EA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02" name="Shape 1002"/>
          <p:cNvSpPr/>
          <p:nvPr/>
        </p:nvSpPr>
        <p:spPr>
          <a:xfrm>
            <a:off x="594360" y="2935224"/>
            <a:ext cx="45720" cy="1874520"/>
          </a:xfrm>
          <a:prstGeom prst="rect">
            <a:avLst/>
          </a:prstGeom>
          <a:solidFill>
            <a:srgbClr val="D02C8C"/>
          </a:solidFill>
          <a:ln w="12700">
            <a:solidFill>
              <a:srgbClr val="D02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3" name="Shape 1003"/>
          <p:cNvSpPr/>
          <p:nvPr/>
        </p:nvSpPr>
        <p:spPr>
          <a:xfrm>
            <a:off x="4343400" y="2935224"/>
            <a:ext cx="3474720" cy="1874520"/>
          </a:xfrm>
          <a:prstGeom prst="roundRect">
            <a:avLst>
              <a:gd name="adj" fmla="val 4000"/>
            </a:avLst>
          </a:prstGeom>
          <a:solidFill>
            <a:srgbClr val="F6F8FB"/>
          </a:solidFill>
          <a:ln w="7620">
            <a:solidFill>
              <a:srgbClr val="D8E1EA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04" name="Shape 1004"/>
          <p:cNvSpPr/>
          <p:nvPr/>
        </p:nvSpPr>
        <p:spPr>
          <a:xfrm>
            <a:off x="4343400" y="2935224"/>
            <a:ext cx="45720" cy="1874520"/>
          </a:xfrm>
          <a:prstGeom prst="rect">
            <a:avLst/>
          </a:prstGeom>
          <a:solidFill>
            <a:srgbClr val="D02C8C"/>
          </a:solidFill>
          <a:ln w="12700">
            <a:solidFill>
              <a:srgbClr val="D02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5" name="Shape 1005"/>
          <p:cNvSpPr/>
          <p:nvPr/>
        </p:nvSpPr>
        <p:spPr>
          <a:xfrm>
            <a:off x="8092440" y="2935224"/>
            <a:ext cx="3474720" cy="1874520"/>
          </a:xfrm>
          <a:prstGeom prst="roundRect">
            <a:avLst>
              <a:gd name="adj" fmla="val 4000"/>
            </a:avLst>
          </a:prstGeom>
          <a:solidFill>
            <a:srgbClr val="F6F8FB"/>
          </a:solidFill>
          <a:ln w="7620">
            <a:solidFill>
              <a:srgbClr val="D8E1EA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06" name="Shape 1006"/>
          <p:cNvSpPr/>
          <p:nvPr/>
        </p:nvSpPr>
        <p:spPr>
          <a:xfrm>
            <a:off x="8092440" y="2935224"/>
            <a:ext cx="45720" cy="1874520"/>
          </a:xfrm>
          <a:prstGeom prst="rect">
            <a:avLst/>
          </a:prstGeom>
          <a:solidFill>
            <a:srgbClr val="D02C8C"/>
          </a:solidFill>
          <a:ln w="12700">
            <a:solidFill>
              <a:srgbClr val="D02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7" name="Text 1007"/>
          <p:cNvSpPr/>
          <p:nvPr/>
        </p:nvSpPr>
        <p:spPr>
          <a:xfrm>
            <a:off x="713232" y="3017520"/>
            <a:ext cx="3236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>
                <a:solidFill>
                  <a:srgbClr val="1F3D6B"/>
                </a:solidFill>
              </a:rPr>
              <a:t>KPI Trend Entry</a:t>
            </a:r>
            <a:endParaRPr lang="en-US" sz="1050"/>
          </a:p>
        </p:txBody>
      </p:sp>
      <p:sp>
        <p:nvSpPr>
          <p:cNvPr id="1008" name="Text 1008"/>
          <p:cNvSpPr/>
          <p:nvPr/>
        </p:nvSpPr>
        <p:spPr>
          <a:xfrm>
            <a:off x="713232" y="3227832"/>
            <a:ext cx="32369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b="0">
                <a:solidFill>
                  <a:srgbClr val="D02C8C"/>
                </a:solidFill>
              </a:rPr>
              <a:t>New Member % · selected</a:t>
            </a:r>
            <a:endParaRPr lang="en-US" sz="750"/>
          </a:p>
        </p:txBody>
      </p:sp>
      <p:sp>
        <p:nvSpPr>
          <p:cNvPr id="1009" name="Text 1009"/>
          <p:cNvSpPr/>
          <p:nvPr/>
        </p:nvSpPr>
        <p:spPr>
          <a:xfrm>
            <a:off x="4462272" y="3017520"/>
            <a:ext cx="3236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>
                <a:solidFill>
                  <a:srgbClr val="1F3D6B"/>
                </a:solidFill>
              </a:rPr>
              <a:t>Key Movement by Segment</a:t>
            </a:r>
            <a:endParaRPr lang="en-US" sz="1050"/>
          </a:p>
        </p:txBody>
      </p:sp>
      <p:sp>
        <p:nvSpPr>
          <p:cNvPr id="1010" name="Text 1010"/>
          <p:cNvSpPr/>
          <p:nvPr/>
        </p:nvSpPr>
        <p:spPr>
          <a:xfrm>
            <a:off x="4462272" y="3227832"/>
            <a:ext cx="32369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b="0">
                <a:solidFill>
                  <a:srgbClr val="8A94A6"/>
                </a:solidFill>
              </a:rPr>
              <a:t>New Member % movers · MoM change</a:t>
            </a:r>
            <a:endParaRPr lang="en-US" sz="750"/>
          </a:p>
        </p:txBody>
      </p:sp>
      <p:sp>
        <p:nvSpPr>
          <p:cNvPr id="1011" name="Text 1011"/>
          <p:cNvSpPr/>
          <p:nvPr/>
        </p:nvSpPr>
        <p:spPr>
          <a:xfrm>
            <a:off x="8211312" y="3017520"/>
            <a:ext cx="3236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>
                <a:solidFill>
                  <a:srgbClr val="1F3D6B"/>
                </a:solidFill>
              </a:rPr>
              <a:t>Actionable Alerts</a:t>
            </a:r>
            <a:endParaRPr lang="en-US" sz="1050"/>
          </a:p>
        </p:txBody>
      </p:sp>
      <p:sp>
        <p:nvSpPr>
          <p:cNvPr id="1012" name="Text 1012"/>
          <p:cNvSpPr/>
          <p:nvPr/>
        </p:nvSpPr>
        <p:spPr>
          <a:xfrm>
            <a:off x="8211312" y="3227832"/>
            <a:ext cx="32369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b="0">
                <a:solidFill>
                  <a:srgbClr val="8A94A6"/>
                </a:solidFill>
              </a:rPr>
              <a:t>New Member % alerts · last 24 hours</a:t>
            </a:r>
            <a:endParaRPr lang="en-US" sz="750"/>
          </a:p>
        </p:txBody>
      </p:sp>
      <p:sp>
        <p:nvSpPr>
          <p:cNvPr id="1013" name="Shape 1013"/>
          <p:cNvSpPr/>
          <p:nvPr/>
        </p:nvSpPr>
        <p:spPr>
          <a:xfrm>
            <a:off x="2395728" y="3191256"/>
            <a:ext cx="475488" cy="19202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CF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4" name="Text 1014"/>
          <p:cNvSpPr/>
          <p:nvPr/>
        </p:nvSpPr>
        <p:spPr>
          <a:xfrm>
            <a:off x="2395728" y="3218688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>
                <a:solidFill>
                  <a:srgbClr val="4A5568"/>
                </a:solidFill>
              </a:rPr>
              <a:t>Daily</a:t>
            </a:r>
            <a:endParaRPr lang="en-US" sz="700"/>
          </a:p>
        </p:txBody>
      </p:sp>
      <p:sp>
        <p:nvSpPr>
          <p:cNvPr id="1015" name="Shape 1015"/>
          <p:cNvSpPr/>
          <p:nvPr/>
        </p:nvSpPr>
        <p:spPr>
          <a:xfrm>
            <a:off x="2898648" y="3191256"/>
            <a:ext cx="548640" cy="19202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CF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6" name="Text 1016"/>
          <p:cNvSpPr/>
          <p:nvPr/>
        </p:nvSpPr>
        <p:spPr>
          <a:xfrm>
            <a:off x="2898648" y="3218688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>
                <a:solidFill>
                  <a:srgbClr val="4A5568"/>
                </a:solidFill>
              </a:rPr>
              <a:t>Weekly</a:t>
            </a:r>
            <a:endParaRPr lang="en-US" sz="700"/>
          </a:p>
        </p:txBody>
      </p:sp>
      <p:sp>
        <p:nvSpPr>
          <p:cNvPr id="1017" name="Shape 1017"/>
          <p:cNvSpPr/>
          <p:nvPr/>
        </p:nvSpPr>
        <p:spPr>
          <a:xfrm>
            <a:off x="3474720" y="3191256"/>
            <a:ext cx="594360" cy="192024"/>
          </a:xfrm>
          <a:prstGeom prst="roundRect">
            <a:avLst>
              <a:gd name="adj" fmla="val 25000"/>
            </a:avLst>
          </a:prstGeom>
          <a:solidFill>
            <a:srgbClr val="2E5FA3"/>
          </a:solidFill>
          <a:ln w="635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8" name="Text 1018"/>
          <p:cNvSpPr/>
          <p:nvPr/>
        </p:nvSpPr>
        <p:spPr>
          <a:xfrm>
            <a:off x="3474720" y="3218688"/>
            <a:ext cx="594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>
                <a:solidFill>
                  <a:srgbClr val="FFFFFF"/>
                </a:solidFill>
              </a:rPr>
              <a:t>Monthly</a:t>
            </a:r>
            <a:endParaRPr lang="en-US" sz="700"/>
          </a:p>
        </p:txBody>
      </p:sp>
      <p:sp>
        <p:nvSpPr>
          <p:cNvPr id="1019" name="Shape 1019"/>
          <p:cNvSpPr/>
          <p:nvPr/>
        </p:nvSpPr>
        <p:spPr>
          <a:xfrm>
            <a:off x="777240" y="3401568"/>
            <a:ext cx="3127248" cy="9326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0" name="Shape 1020"/>
          <p:cNvSpPr/>
          <p:nvPr/>
        </p:nvSpPr>
        <p:spPr>
          <a:xfrm>
            <a:off x="822960" y="3634740"/>
            <a:ext cx="3035808" cy="0"/>
          </a:xfrm>
          <a:prstGeom prst="line">
            <a:avLst/>
          </a:prstGeom>
          <a:noFill/>
          <a:ln w="4445">
            <a:solidFill>
              <a:srgbClr val="EDF1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1" name="Shape 1021"/>
          <p:cNvSpPr/>
          <p:nvPr/>
        </p:nvSpPr>
        <p:spPr>
          <a:xfrm>
            <a:off x="822960" y="3867912"/>
            <a:ext cx="3035808" cy="0"/>
          </a:xfrm>
          <a:prstGeom prst="line">
            <a:avLst/>
          </a:prstGeom>
          <a:noFill/>
          <a:ln w="4445">
            <a:solidFill>
              <a:srgbClr val="EDF1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2" name="Shape 1022"/>
          <p:cNvSpPr/>
          <p:nvPr/>
        </p:nvSpPr>
        <p:spPr>
          <a:xfrm>
            <a:off x="822960" y="4101084"/>
            <a:ext cx="3035808" cy="0"/>
          </a:xfrm>
          <a:prstGeom prst="line">
            <a:avLst/>
          </a:prstGeom>
          <a:noFill/>
          <a:ln w="4445">
            <a:solidFill>
              <a:srgbClr val="EDF1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3" name="Shape 1023"/>
          <p:cNvSpPr/>
          <p:nvPr/>
        </p:nvSpPr>
        <p:spPr>
          <a:xfrm flipV="1">
            <a:off x="941832" y="4040185"/>
            <a:ext cx="559613" cy="13167"/>
          </a:xfrm>
          <a:prstGeom prst="line">
            <a:avLst/>
          </a:prstGeom>
          <a:noFill/>
          <a:ln w="12700">
            <a:solidFill>
              <a:srgbClr val="C3CCD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24" name="Shape 1024"/>
          <p:cNvSpPr/>
          <p:nvPr/>
        </p:nvSpPr>
        <p:spPr>
          <a:xfrm flipV="1">
            <a:off x="1501445" y="4027018"/>
            <a:ext cx="559613" cy="13167"/>
          </a:xfrm>
          <a:prstGeom prst="line">
            <a:avLst/>
          </a:prstGeom>
          <a:noFill/>
          <a:ln w="12700">
            <a:solidFill>
              <a:srgbClr val="C3CCD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25" name="Shape 1025"/>
          <p:cNvSpPr/>
          <p:nvPr/>
        </p:nvSpPr>
        <p:spPr>
          <a:xfrm flipV="1">
            <a:off x="2061058" y="4013850"/>
            <a:ext cx="559613" cy="13167"/>
          </a:xfrm>
          <a:prstGeom prst="line">
            <a:avLst/>
          </a:prstGeom>
          <a:noFill/>
          <a:ln w="12700">
            <a:solidFill>
              <a:srgbClr val="C3CCD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26" name="Shape 1026"/>
          <p:cNvSpPr/>
          <p:nvPr/>
        </p:nvSpPr>
        <p:spPr>
          <a:xfrm flipV="1">
            <a:off x="2620670" y="4000683"/>
            <a:ext cx="559613" cy="13167"/>
          </a:xfrm>
          <a:prstGeom prst="line">
            <a:avLst/>
          </a:prstGeom>
          <a:noFill/>
          <a:ln w="12700">
            <a:solidFill>
              <a:srgbClr val="C3CCD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27" name="Shape 1027"/>
          <p:cNvSpPr/>
          <p:nvPr/>
        </p:nvSpPr>
        <p:spPr>
          <a:xfrm flipV="1">
            <a:off x="3180283" y="3974348"/>
            <a:ext cx="559613" cy="26335"/>
          </a:xfrm>
          <a:prstGeom prst="line">
            <a:avLst/>
          </a:prstGeom>
          <a:noFill/>
          <a:ln w="12700">
            <a:solidFill>
              <a:srgbClr val="C3CCD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28" name="Shape 1028"/>
          <p:cNvSpPr/>
          <p:nvPr/>
        </p:nvSpPr>
        <p:spPr>
          <a:xfrm flipV="1">
            <a:off x="941832" y="3987516"/>
            <a:ext cx="559613" cy="39502"/>
          </a:xfrm>
          <a:prstGeom prst="line">
            <a:avLst/>
          </a:prstGeom>
          <a:noFill/>
          <a:ln w="22225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9" name="Shape 1029"/>
          <p:cNvSpPr/>
          <p:nvPr/>
        </p:nvSpPr>
        <p:spPr>
          <a:xfrm flipV="1">
            <a:off x="1501445" y="3961181"/>
            <a:ext cx="559613" cy="26335"/>
          </a:xfrm>
          <a:prstGeom prst="line">
            <a:avLst/>
          </a:prstGeom>
          <a:noFill/>
          <a:ln w="22225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0" name="Shape 1030"/>
          <p:cNvSpPr/>
          <p:nvPr/>
        </p:nvSpPr>
        <p:spPr>
          <a:xfrm flipV="1">
            <a:off x="2061058" y="3934846"/>
            <a:ext cx="559613" cy="26335"/>
          </a:xfrm>
          <a:prstGeom prst="line">
            <a:avLst/>
          </a:prstGeom>
          <a:noFill/>
          <a:ln w="22225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1" name="Shape 1031"/>
          <p:cNvSpPr/>
          <p:nvPr/>
        </p:nvSpPr>
        <p:spPr>
          <a:xfrm flipV="1">
            <a:off x="2620670" y="3882177"/>
            <a:ext cx="559613" cy="52669"/>
          </a:xfrm>
          <a:prstGeom prst="line">
            <a:avLst/>
          </a:prstGeom>
          <a:noFill/>
          <a:ln w="22225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2" name="Shape 1032"/>
          <p:cNvSpPr/>
          <p:nvPr/>
        </p:nvSpPr>
        <p:spPr>
          <a:xfrm flipV="1">
            <a:off x="3180283" y="3790005"/>
            <a:ext cx="559613" cy="92172"/>
          </a:xfrm>
          <a:prstGeom prst="line">
            <a:avLst/>
          </a:prstGeom>
          <a:noFill/>
          <a:ln w="22225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3" name="Shape 1033"/>
          <p:cNvSpPr/>
          <p:nvPr/>
        </p:nvSpPr>
        <p:spPr>
          <a:xfrm>
            <a:off x="914400" y="3999586"/>
            <a:ext cx="54864" cy="54864"/>
          </a:xfrm>
          <a:prstGeom prst="ellipse">
            <a:avLst/>
          </a:prstGeom>
          <a:solidFill>
            <a:srgbClr val="2E5FA3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4" name="Shape 1034"/>
          <p:cNvSpPr/>
          <p:nvPr/>
        </p:nvSpPr>
        <p:spPr>
          <a:xfrm>
            <a:off x="1474013" y="3960084"/>
            <a:ext cx="54864" cy="54864"/>
          </a:xfrm>
          <a:prstGeom prst="ellipse">
            <a:avLst/>
          </a:prstGeom>
          <a:solidFill>
            <a:srgbClr val="2E5FA3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5" name="Shape 1035"/>
          <p:cNvSpPr/>
          <p:nvPr/>
        </p:nvSpPr>
        <p:spPr>
          <a:xfrm>
            <a:off x="2033626" y="3933749"/>
            <a:ext cx="54864" cy="54864"/>
          </a:xfrm>
          <a:prstGeom prst="ellipse">
            <a:avLst/>
          </a:prstGeom>
          <a:solidFill>
            <a:srgbClr val="2E5FA3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6" name="Shape 1036"/>
          <p:cNvSpPr/>
          <p:nvPr/>
        </p:nvSpPr>
        <p:spPr>
          <a:xfrm>
            <a:off x="2593238" y="3907414"/>
            <a:ext cx="54864" cy="54864"/>
          </a:xfrm>
          <a:prstGeom prst="ellipse">
            <a:avLst/>
          </a:prstGeom>
          <a:solidFill>
            <a:srgbClr val="2E5FA3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7" name="Shape 1037"/>
          <p:cNvSpPr/>
          <p:nvPr/>
        </p:nvSpPr>
        <p:spPr>
          <a:xfrm>
            <a:off x="3152851" y="3854745"/>
            <a:ext cx="54864" cy="54864"/>
          </a:xfrm>
          <a:prstGeom prst="ellipse">
            <a:avLst/>
          </a:prstGeom>
          <a:solidFill>
            <a:srgbClr val="2E5FA3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8" name="Shape 1038"/>
          <p:cNvSpPr/>
          <p:nvPr/>
        </p:nvSpPr>
        <p:spPr>
          <a:xfrm>
            <a:off x="3698748" y="3748857"/>
            <a:ext cx="82296" cy="82296"/>
          </a:xfrm>
          <a:prstGeom prst="ellipse">
            <a:avLst/>
          </a:prstGeom>
          <a:solidFill>
            <a:srgbClr val="D02C8C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9" name="Text 1039"/>
          <p:cNvSpPr/>
          <p:nvPr/>
        </p:nvSpPr>
        <p:spPr>
          <a:xfrm>
            <a:off x="850392" y="3456432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50" b="1">
                <a:solidFill>
                  <a:srgbClr val="1F3D6B"/>
                </a:solidFill>
              </a:rPr>
              <a:t>31%  MoM +2.8pt  YoY +6.4pt</a:t>
            </a:r>
            <a:endParaRPr lang="en-US" sz="650"/>
          </a:p>
        </p:txBody>
      </p:sp>
      <p:sp>
        <p:nvSpPr>
          <p:cNvPr id="1040" name="Text 1040"/>
          <p:cNvSpPr/>
          <p:nvPr/>
        </p:nvSpPr>
        <p:spPr>
          <a:xfrm>
            <a:off x="758952" y="4361688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0">
                <a:solidFill>
                  <a:srgbClr val="8A94A6"/>
                </a:solidFill>
              </a:rPr>
              <a:t>Apr</a:t>
            </a:r>
            <a:endParaRPr lang="en-US" sz="650"/>
          </a:p>
        </p:txBody>
      </p:sp>
      <p:sp>
        <p:nvSpPr>
          <p:cNvPr id="1041" name="Text 1041"/>
          <p:cNvSpPr/>
          <p:nvPr/>
        </p:nvSpPr>
        <p:spPr>
          <a:xfrm>
            <a:off x="1318565" y="4361688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0">
                <a:solidFill>
                  <a:srgbClr val="8A94A6"/>
                </a:solidFill>
              </a:rPr>
              <a:t>May</a:t>
            </a:r>
            <a:endParaRPr lang="en-US" sz="650"/>
          </a:p>
        </p:txBody>
      </p:sp>
      <p:sp>
        <p:nvSpPr>
          <p:cNvPr id="1042" name="Text 1042"/>
          <p:cNvSpPr/>
          <p:nvPr/>
        </p:nvSpPr>
        <p:spPr>
          <a:xfrm>
            <a:off x="1878178" y="4361688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0">
                <a:solidFill>
                  <a:srgbClr val="8A94A6"/>
                </a:solidFill>
              </a:rPr>
              <a:t>Jun</a:t>
            </a:r>
            <a:endParaRPr lang="en-US" sz="650"/>
          </a:p>
        </p:txBody>
      </p:sp>
      <p:sp>
        <p:nvSpPr>
          <p:cNvPr id="1043" name="Text 1043"/>
          <p:cNvSpPr/>
          <p:nvPr/>
        </p:nvSpPr>
        <p:spPr>
          <a:xfrm>
            <a:off x="2437790" y="4361688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0">
                <a:solidFill>
                  <a:srgbClr val="8A94A6"/>
                </a:solidFill>
              </a:rPr>
              <a:t>Jul</a:t>
            </a:r>
            <a:endParaRPr lang="en-US" sz="650"/>
          </a:p>
        </p:txBody>
      </p:sp>
      <p:sp>
        <p:nvSpPr>
          <p:cNvPr id="1044" name="Text 1044"/>
          <p:cNvSpPr/>
          <p:nvPr/>
        </p:nvSpPr>
        <p:spPr>
          <a:xfrm>
            <a:off x="2997403" y="4361688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0">
                <a:solidFill>
                  <a:srgbClr val="8A94A6"/>
                </a:solidFill>
              </a:rPr>
              <a:t>Aug</a:t>
            </a:r>
            <a:endParaRPr lang="en-US" sz="650"/>
          </a:p>
        </p:txBody>
      </p:sp>
      <p:sp>
        <p:nvSpPr>
          <p:cNvPr id="1045" name="Text 1045"/>
          <p:cNvSpPr/>
          <p:nvPr/>
        </p:nvSpPr>
        <p:spPr>
          <a:xfrm>
            <a:off x="3557016" y="4361688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0">
                <a:solidFill>
                  <a:srgbClr val="8A94A6"/>
                </a:solidFill>
              </a:rPr>
              <a:t>Sep</a:t>
            </a:r>
            <a:endParaRPr lang="en-US" sz="650"/>
          </a:p>
        </p:txBody>
      </p:sp>
      <p:sp>
        <p:nvSpPr>
          <p:cNvPr id="1046" name="Shape 1046"/>
          <p:cNvSpPr/>
          <p:nvPr/>
        </p:nvSpPr>
        <p:spPr>
          <a:xfrm>
            <a:off x="777240" y="4553712"/>
            <a:ext cx="566928" cy="164592"/>
          </a:xfrm>
          <a:prstGeom prst="roundRect">
            <a:avLst>
              <a:gd name="adj" fmla="val 25000"/>
            </a:avLst>
          </a:prstGeom>
          <a:solidFill>
            <a:srgbClr val="E8F0FA"/>
          </a:solidFill>
          <a:ln w="12700">
            <a:solidFill>
              <a:srgbClr val="E8F0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7" name="Text 1047"/>
          <p:cNvSpPr/>
          <p:nvPr/>
        </p:nvSpPr>
        <p:spPr>
          <a:xfrm>
            <a:off x="777240" y="4581144"/>
            <a:ext cx="56692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1">
                <a:solidFill>
                  <a:srgbClr val="2E5FA3"/>
                </a:solidFill>
              </a:rPr>
              <a:t>Actual</a:t>
            </a:r>
            <a:endParaRPr lang="en-US" sz="650"/>
          </a:p>
        </p:txBody>
      </p:sp>
      <p:sp>
        <p:nvSpPr>
          <p:cNvPr id="1048" name="Shape 1048"/>
          <p:cNvSpPr/>
          <p:nvPr/>
        </p:nvSpPr>
        <p:spPr>
          <a:xfrm>
            <a:off x="1399032" y="4553712"/>
            <a:ext cx="658368" cy="164592"/>
          </a:xfrm>
          <a:prstGeom prst="roundRect">
            <a:avLst>
              <a:gd name="adj" fmla="val 25000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9" name="Text 1049"/>
          <p:cNvSpPr/>
          <p:nvPr/>
        </p:nvSpPr>
        <p:spPr>
          <a:xfrm>
            <a:off x="1399032" y="4581144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1">
                <a:solidFill>
                  <a:srgbClr val="8A94A6"/>
                </a:solidFill>
              </a:rPr>
              <a:t>Last year</a:t>
            </a:r>
            <a:endParaRPr lang="en-US" sz="650"/>
          </a:p>
        </p:txBody>
      </p:sp>
      <p:sp>
        <p:nvSpPr>
          <p:cNvPr id="1050" name="Text 1050"/>
          <p:cNvSpPr/>
          <p:nvPr/>
        </p:nvSpPr>
        <p:spPr>
          <a:xfrm>
            <a:off x="2148840" y="4553712"/>
            <a:ext cx="1755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50" b="0">
                <a:solidFill>
                  <a:srgbClr val="8A94A6"/>
                </a:solidFill>
              </a:rPr>
              <a:t>Click a point → L2 New Member %</a:t>
            </a:r>
            <a:endParaRPr lang="en-US" sz="650"/>
          </a:p>
        </p:txBody>
      </p:sp>
      <p:sp>
        <p:nvSpPr>
          <p:cNvPr id="1051" name="Text 1051"/>
          <p:cNvSpPr/>
          <p:nvPr/>
        </p:nvSpPr>
        <p:spPr>
          <a:xfrm>
            <a:off x="4462272" y="3401568"/>
            <a:ext cx="1188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00" b="1">
                <a:solidFill>
                  <a:srgbClr val="8A94A6"/>
                </a:solidFill>
              </a:rPr>
              <a:t>SEGMENT</a:t>
            </a:r>
            <a:endParaRPr lang="en-US" sz="600"/>
          </a:p>
        </p:txBody>
      </p:sp>
      <p:sp>
        <p:nvSpPr>
          <p:cNvPr id="1052" name="Text 1052"/>
          <p:cNvSpPr/>
          <p:nvPr/>
        </p:nvSpPr>
        <p:spPr>
          <a:xfrm>
            <a:off x="6995160" y="3401568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00" b="1">
                <a:solidFill>
                  <a:srgbClr val="8A94A6"/>
                </a:solidFill>
              </a:rPr>
              <a:t>MoM pt</a:t>
            </a:r>
            <a:endParaRPr lang="en-US" sz="600"/>
          </a:p>
        </p:txBody>
      </p:sp>
      <p:sp>
        <p:nvSpPr>
          <p:cNvPr id="1053" name="Text 1053"/>
          <p:cNvSpPr/>
          <p:nvPr/>
        </p:nvSpPr>
        <p:spPr>
          <a:xfrm>
            <a:off x="4462272" y="3547872"/>
            <a:ext cx="1234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0">
                <a:solidFill>
                  <a:srgbClr val="1F3D6B"/>
                </a:solidFill>
              </a:rPr>
              <a:t>Age 20-29</a:t>
            </a:r>
            <a:endParaRPr lang="en-US" sz="700"/>
          </a:p>
        </p:txBody>
      </p:sp>
      <p:sp>
        <p:nvSpPr>
          <p:cNvPr id="1054" name="Shape 1054"/>
          <p:cNvSpPr/>
          <p:nvPr/>
        </p:nvSpPr>
        <p:spPr>
          <a:xfrm>
            <a:off x="5504688" y="3557016"/>
            <a:ext cx="1572768" cy="118872"/>
          </a:xfrm>
          <a:prstGeom prst="rect">
            <a:avLst/>
          </a:prstGeom>
          <a:solidFill>
            <a:srgbClr val="EDF1F6"/>
          </a:solidFill>
          <a:ln w="6350">
            <a:solidFill>
              <a:srgbClr val="EDF1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5" name="Shape 1055"/>
          <p:cNvSpPr/>
          <p:nvPr/>
        </p:nvSpPr>
        <p:spPr>
          <a:xfrm>
            <a:off x="5504688" y="3557016"/>
            <a:ext cx="1321125" cy="118872"/>
          </a:xfrm>
          <a:prstGeom prst="rect">
            <a:avLst/>
          </a:prstGeom>
          <a:solidFill>
            <a:srgbClr val="1E8E5A"/>
          </a:solidFill>
          <a:ln w="6350">
            <a:solidFill>
              <a:srgbClr val="1E8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6" name="Text 1056"/>
          <p:cNvSpPr/>
          <p:nvPr/>
        </p:nvSpPr>
        <p:spPr>
          <a:xfrm>
            <a:off x="6995160" y="3547872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b="1">
                <a:solidFill>
                  <a:srgbClr val="1E8E5A"/>
                </a:solidFill>
              </a:rPr>
              <a:t>+4.2pt</a:t>
            </a:r>
            <a:endParaRPr lang="en-US" sz="700"/>
          </a:p>
        </p:txBody>
      </p:sp>
      <p:sp>
        <p:nvSpPr>
          <p:cNvPr id="1057" name="Text 1057"/>
          <p:cNvSpPr/>
          <p:nvPr/>
        </p:nvSpPr>
        <p:spPr>
          <a:xfrm>
            <a:off x="4462272" y="3785616"/>
            <a:ext cx="1234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0">
                <a:solidFill>
                  <a:srgbClr val="1F3D6B"/>
                </a:solidFill>
              </a:rPr>
              <a:t>HCMC province</a:t>
            </a:r>
            <a:endParaRPr lang="en-US" sz="700"/>
          </a:p>
        </p:txBody>
      </p:sp>
      <p:sp>
        <p:nvSpPr>
          <p:cNvPr id="1058" name="Shape 1058"/>
          <p:cNvSpPr/>
          <p:nvPr/>
        </p:nvSpPr>
        <p:spPr>
          <a:xfrm>
            <a:off x="5504688" y="3794760"/>
            <a:ext cx="1572768" cy="118872"/>
          </a:xfrm>
          <a:prstGeom prst="rect">
            <a:avLst/>
          </a:prstGeom>
          <a:solidFill>
            <a:srgbClr val="EDF1F6"/>
          </a:solidFill>
          <a:ln w="6350">
            <a:solidFill>
              <a:srgbClr val="EDF1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9" name="Shape 1059"/>
          <p:cNvSpPr/>
          <p:nvPr/>
        </p:nvSpPr>
        <p:spPr>
          <a:xfrm>
            <a:off x="5504688" y="3794760"/>
            <a:ext cx="975116" cy="118872"/>
          </a:xfrm>
          <a:prstGeom prst="rect">
            <a:avLst/>
          </a:prstGeom>
          <a:solidFill>
            <a:srgbClr val="1E8E5A"/>
          </a:solidFill>
          <a:ln w="6350">
            <a:solidFill>
              <a:srgbClr val="1E8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0" name="Text 1060"/>
          <p:cNvSpPr/>
          <p:nvPr/>
        </p:nvSpPr>
        <p:spPr>
          <a:xfrm>
            <a:off x="6995160" y="378561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b="1">
                <a:solidFill>
                  <a:srgbClr val="1E8E5A"/>
                </a:solidFill>
              </a:rPr>
              <a:t>+3.1pt</a:t>
            </a:r>
            <a:endParaRPr lang="en-US" sz="700"/>
          </a:p>
        </p:txBody>
      </p:sp>
      <p:sp>
        <p:nvSpPr>
          <p:cNvPr id="1061" name="Text 1061"/>
          <p:cNvSpPr/>
          <p:nvPr/>
        </p:nvSpPr>
        <p:spPr>
          <a:xfrm>
            <a:off x="4462272" y="4023360"/>
            <a:ext cx="1234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0">
                <a:solidFill>
                  <a:srgbClr val="1F3D6B"/>
                </a:solidFill>
              </a:rPr>
              <a:t>Online channel</a:t>
            </a:r>
            <a:endParaRPr lang="en-US" sz="700"/>
          </a:p>
        </p:txBody>
      </p:sp>
      <p:sp>
        <p:nvSpPr>
          <p:cNvPr id="1062" name="Shape 1062"/>
          <p:cNvSpPr/>
          <p:nvPr/>
        </p:nvSpPr>
        <p:spPr>
          <a:xfrm>
            <a:off x="5504688" y="4032504"/>
            <a:ext cx="1572768" cy="118872"/>
          </a:xfrm>
          <a:prstGeom prst="rect">
            <a:avLst/>
          </a:prstGeom>
          <a:solidFill>
            <a:srgbClr val="EDF1F6"/>
          </a:solidFill>
          <a:ln w="6350">
            <a:solidFill>
              <a:srgbClr val="EDF1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3" name="Shape 1063"/>
          <p:cNvSpPr/>
          <p:nvPr/>
        </p:nvSpPr>
        <p:spPr>
          <a:xfrm>
            <a:off x="5504688" y="4032504"/>
            <a:ext cx="754929" cy="118872"/>
          </a:xfrm>
          <a:prstGeom prst="rect">
            <a:avLst/>
          </a:prstGeom>
          <a:solidFill>
            <a:srgbClr val="1E8E5A"/>
          </a:solidFill>
          <a:ln w="6350">
            <a:solidFill>
              <a:srgbClr val="1E8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4" name="Text 1064"/>
          <p:cNvSpPr/>
          <p:nvPr/>
        </p:nvSpPr>
        <p:spPr>
          <a:xfrm>
            <a:off x="6995160" y="4023360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b="1">
                <a:solidFill>
                  <a:srgbClr val="1E8E5A"/>
                </a:solidFill>
              </a:rPr>
              <a:t>+2.4pt</a:t>
            </a:r>
            <a:endParaRPr lang="en-US" sz="700"/>
          </a:p>
        </p:txBody>
      </p:sp>
      <p:sp>
        <p:nvSpPr>
          <p:cNvPr id="1065" name="Text 1065"/>
          <p:cNvSpPr/>
          <p:nvPr/>
        </p:nvSpPr>
        <p:spPr>
          <a:xfrm>
            <a:off x="4462272" y="4261104"/>
            <a:ext cx="1234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0">
                <a:solidFill>
                  <a:srgbClr val="4A5568"/>
                </a:solidFill>
              </a:rPr>
              <a:t>Age 50+</a:t>
            </a:r>
            <a:endParaRPr lang="en-US" sz="700"/>
          </a:p>
        </p:txBody>
      </p:sp>
      <p:sp>
        <p:nvSpPr>
          <p:cNvPr id="1066" name="Shape 1066"/>
          <p:cNvSpPr/>
          <p:nvPr/>
        </p:nvSpPr>
        <p:spPr>
          <a:xfrm>
            <a:off x="5504688" y="4270248"/>
            <a:ext cx="1572768" cy="118872"/>
          </a:xfrm>
          <a:prstGeom prst="rect">
            <a:avLst/>
          </a:prstGeom>
          <a:solidFill>
            <a:srgbClr val="EDF1F6"/>
          </a:solidFill>
          <a:ln w="6350">
            <a:solidFill>
              <a:srgbClr val="EDF1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7" name="Shape 1067"/>
          <p:cNvSpPr/>
          <p:nvPr/>
        </p:nvSpPr>
        <p:spPr>
          <a:xfrm>
            <a:off x="6731447" y="4270248"/>
            <a:ext cx="346009" cy="118872"/>
          </a:xfrm>
          <a:prstGeom prst="rect">
            <a:avLst/>
          </a:prstGeom>
          <a:solidFill>
            <a:srgbClr val="C0392B"/>
          </a:solidFill>
          <a:ln w="63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8" name="Text 1068"/>
          <p:cNvSpPr/>
          <p:nvPr/>
        </p:nvSpPr>
        <p:spPr>
          <a:xfrm>
            <a:off x="6995160" y="4261104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b="1">
                <a:solidFill>
                  <a:srgbClr val="C0392B"/>
                </a:solidFill>
              </a:rPr>
              <a:t>-1.1pt</a:t>
            </a:r>
            <a:endParaRPr lang="en-US" sz="700"/>
          </a:p>
        </p:txBody>
      </p:sp>
      <p:sp>
        <p:nvSpPr>
          <p:cNvPr id="1069" name="Text 1069"/>
          <p:cNvSpPr/>
          <p:nvPr/>
        </p:nvSpPr>
        <p:spPr>
          <a:xfrm>
            <a:off x="4462272" y="4498848"/>
            <a:ext cx="1234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0">
                <a:solidFill>
                  <a:srgbClr val="4A5568"/>
                </a:solidFill>
              </a:rPr>
              <a:t>Rural provinces</a:t>
            </a:r>
            <a:endParaRPr lang="en-US" sz="700"/>
          </a:p>
        </p:txBody>
      </p:sp>
      <p:sp>
        <p:nvSpPr>
          <p:cNvPr id="1070" name="Shape 1070"/>
          <p:cNvSpPr/>
          <p:nvPr/>
        </p:nvSpPr>
        <p:spPr>
          <a:xfrm>
            <a:off x="5504688" y="4507992"/>
            <a:ext cx="1572768" cy="118872"/>
          </a:xfrm>
          <a:prstGeom prst="rect">
            <a:avLst/>
          </a:prstGeom>
          <a:solidFill>
            <a:srgbClr val="EDF1F6"/>
          </a:solidFill>
          <a:ln w="6350">
            <a:solidFill>
              <a:srgbClr val="EDF1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1" name="Shape 1071"/>
          <p:cNvSpPr/>
          <p:nvPr/>
        </p:nvSpPr>
        <p:spPr>
          <a:xfrm>
            <a:off x="6511260" y="4507992"/>
            <a:ext cx="566196" cy="118872"/>
          </a:xfrm>
          <a:prstGeom prst="rect">
            <a:avLst/>
          </a:prstGeom>
          <a:solidFill>
            <a:srgbClr val="C0392B"/>
          </a:solidFill>
          <a:ln w="63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2" name="Text 1072"/>
          <p:cNvSpPr/>
          <p:nvPr/>
        </p:nvSpPr>
        <p:spPr>
          <a:xfrm>
            <a:off x="6995160" y="4498848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b="1">
                <a:solidFill>
                  <a:srgbClr val="C0392B"/>
                </a:solidFill>
              </a:rPr>
              <a:t>-1.8pt</a:t>
            </a:r>
            <a:endParaRPr lang="en-US" sz="700"/>
          </a:p>
        </p:txBody>
      </p:sp>
      <p:sp>
        <p:nvSpPr>
          <p:cNvPr id="1073" name="Text 1073"/>
          <p:cNvSpPr/>
          <p:nvPr/>
        </p:nvSpPr>
        <p:spPr>
          <a:xfrm>
            <a:off x="4462272" y="4736592"/>
            <a:ext cx="32369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50" b="0">
                <a:solidFill>
                  <a:srgbClr val="8A94A6"/>
                </a:solidFill>
              </a:rPr>
              <a:t>Click a bar → opens L2 with that segment applied</a:t>
            </a:r>
            <a:endParaRPr lang="en-US" sz="650"/>
          </a:p>
        </p:txBody>
      </p:sp>
      <p:sp>
        <p:nvSpPr>
          <p:cNvPr id="1074" name="Shape 1074"/>
          <p:cNvSpPr/>
          <p:nvPr/>
        </p:nvSpPr>
        <p:spPr>
          <a:xfrm>
            <a:off x="8211312" y="3401568"/>
            <a:ext cx="3236976" cy="384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5" name="Shape 1075"/>
          <p:cNvSpPr/>
          <p:nvPr/>
        </p:nvSpPr>
        <p:spPr>
          <a:xfrm>
            <a:off x="8211312" y="3401568"/>
            <a:ext cx="36576" cy="384048"/>
          </a:xfrm>
          <a:prstGeom prst="rect">
            <a:avLst/>
          </a:prstGeom>
          <a:solidFill>
            <a:srgbClr val="C0392B"/>
          </a:solidFill>
          <a:ln w="63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6" name="Shape 1076"/>
          <p:cNvSpPr/>
          <p:nvPr/>
        </p:nvSpPr>
        <p:spPr>
          <a:xfrm>
            <a:off x="8311896" y="3456432"/>
            <a:ext cx="420624" cy="146304"/>
          </a:xfrm>
          <a:prstGeom prst="roundRect">
            <a:avLst>
              <a:gd name="adj" fmla="val 25000"/>
            </a:avLst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7" name="Text 1077"/>
          <p:cNvSpPr/>
          <p:nvPr/>
        </p:nvSpPr>
        <p:spPr>
          <a:xfrm>
            <a:off x="8311896" y="3474720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00" b="1">
                <a:solidFill>
                  <a:srgbClr val="C0392B"/>
                </a:solidFill>
              </a:rPr>
              <a:t>HIGH</a:t>
            </a:r>
            <a:endParaRPr lang="en-US" sz="600"/>
          </a:p>
        </p:txBody>
      </p:sp>
      <p:sp>
        <p:nvSpPr>
          <p:cNvPr id="1078" name="Text 1078"/>
          <p:cNvSpPr/>
          <p:nvPr/>
        </p:nvSpPr>
        <p:spPr>
          <a:xfrm>
            <a:off x="8787384" y="3447288"/>
            <a:ext cx="2606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>
                <a:solidFill>
                  <a:srgbClr val="1F3D6B"/>
                </a:solidFill>
              </a:rPr>
              <a:t>New member repeat rate 18%</a:t>
            </a:r>
            <a:endParaRPr lang="en-US" sz="750"/>
          </a:p>
        </p:txBody>
      </p:sp>
      <p:sp>
        <p:nvSpPr>
          <p:cNvPr id="1079" name="Text 1079"/>
          <p:cNvSpPr/>
          <p:nvPr/>
        </p:nvSpPr>
        <p:spPr>
          <a:xfrm>
            <a:off x="8787384" y="3611880"/>
            <a:ext cx="2606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50" b="0">
                <a:solidFill>
                  <a:srgbClr val="8A94A6"/>
                </a:solidFill>
              </a:rPr>
              <a:t>Second purchase within 30 days is low</a:t>
            </a:r>
            <a:endParaRPr lang="en-US" sz="650"/>
          </a:p>
        </p:txBody>
      </p:sp>
      <p:sp>
        <p:nvSpPr>
          <p:cNvPr id="1080" name="Shape 1080"/>
          <p:cNvSpPr/>
          <p:nvPr/>
        </p:nvSpPr>
        <p:spPr>
          <a:xfrm>
            <a:off x="8211312" y="3831336"/>
            <a:ext cx="3236976" cy="384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1" name="Shape 1081"/>
          <p:cNvSpPr/>
          <p:nvPr/>
        </p:nvSpPr>
        <p:spPr>
          <a:xfrm>
            <a:off x="8211312" y="3831336"/>
            <a:ext cx="36576" cy="384048"/>
          </a:xfrm>
          <a:prstGeom prst="rect">
            <a:avLst/>
          </a:prstGeom>
          <a:solidFill>
            <a:srgbClr val="C77700"/>
          </a:solidFill>
          <a:ln w="6350">
            <a:solidFill>
              <a:srgbClr val="C77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2" name="Shape 1082"/>
          <p:cNvSpPr/>
          <p:nvPr/>
        </p:nvSpPr>
        <p:spPr>
          <a:xfrm>
            <a:off x="8311896" y="3886200"/>
            <a:ext cx="420624" cy="146304"/>
          </a:xfrm>
          <a:prstGeom prst="roundRect">
            <a:avLst>
              <a:gd name="adj" fmla="val 25000"/>
            </a:avLst>
          </a:prstGeom>
          <a:solidFill>
            <a:srgbClr val="FDF3E3"/>
          </a:solidFill>
          <a:ln w="12700">
            <a:solidFill>
              <a:srgbClr val="FDF3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3" name="Text 1083"/>
          <p:cNvSpPr/>
          <p:nvPr/>
        </p:nvSpPr>
        <p:spPr>
          <a:xfrm>
            <a:off x="8311896" y="3904488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00" b="1">
                <a:solidFill>
                  <a:srgbClr val="C77700"/>
                </a:solidFill>
              </a:rPr>
              <a:t>MED</a:t>
            </a:r>
            <a:endParaRPr lang="en-US" sz="600"/>
          </a:p>
        </p:txBody>
      </p:sp>
      <p:sp>
        <p:nvSpPr>
          <p:cNvPr id="1084" name="Text 1084"/>
          <p:cNvSpPr/>
          <p:nvPr/>
        </p:nvSpPr>
        <p:spPr>
          <a:xfrm>
            <a:off x="8787384" y="3877056"/>
            <a:ext cx="2606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>
                <a:solidFill>
                  <a:srgbClr val="1F3D6B"/>
                </a:solidFill>
              </a:rPr>
              <a:t>New member % +2.8pt</a:t>
            </a:r>
            <a:endParaRPr lang="en-US" sz="750"/>
          </a:p>
        </p:txBody>
      </p:sp>
      <p:sp>
        <p:nvSpPr>
          <p:cNvPr id="1085" name="Text 1085"/>
          <p:cNvSpPr/>
          <p:nvPr/>
        </p:nvSpPr>
        <p:spPr>
          <a:xfrm>
            <a:off x="8787384" y="4041648"/>
            <a:ext cx="2606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50" b="0">
                <a:solidFill>
                  <a:srgbClr val="8A94A6"/>
                </a:solidFill>
              </a:rPr>
              <a:t>Campaign traffic may inflate the ratio</a:t>
            </a:r>
            <a:endParaRPr lang="en-US" sz="650"/>
          </a:p>
        </p:txBody>
      </p:sp>
      <p:sp>
        <p:nvSpPr>
          <p:cNvPr id="1086" name="Shape 1086"/>
          <p:cNvSpPr/>
          <p:nvPr/>
        </p:nvSpPr>
        <p:spPr>
          <a:xfrm>
            <a:off x="8211312" y="4261104"/>
            <a:ext cx="3236976" cy="384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7" name="Shape 1087"/>
          <p:cNvSpPr/>
          <p:nvPr/>
        </p:nvSpPr>
        <p:spPr>
          <a:xfrm>
            <a:off x="8211312" y="4261104"/>
            <a:ext cx="36576" cy="384048"/>
          </a:xfrm>
          <a:prstGeom prst="rect">
            <a:avLst/>
          </a:prstGeom>
          <a:solidFill>
            <a:srgbClr val="2E5FA3"/>
          </a:solidFill>
          <a:ln w="635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8" name="Shape 1088"/>
          <p:cNvSpPr/>
          <p:nvPr/>
        </p:nvSpPr>
        <p:spPr>
          <a:xfrm>
            <a:off x="8311896" y="4315968"/>
            <a:ext cx="420624" cy="146304"/>
          </a:xfrm>
          <a:prstGeom prst="roundRect">
            <a:avLst>
              <a:gd name="adj" fmla="val 25000"/>
            </a:avLst>
          </a:prstGeom>
          <a:solidFill>
            <a:srgbClr val="E8F0FA"/>
          </a:solidFill>
          <a:ln w="12700">
            <a:solidFill>
              <a:srgbClr val="E8F0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9" name="Text 1089"/>
          <p:cNvSpPr/>
          <p:nvPr/>
        </p:nvSpPr>
        <p:spPr>
          <a:xfrm>
            <a:off x="8311896" y="4334256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00" b="1">
                <a:solidFill>
                  <a:srgbClr val="2E5FA3"/>
                </a:solidFill>
              </a:rPr>
              <a:t>INFO</a:t>
            </a:r>
            <a:endParaRPr lang="en-US" sz="600"/>
          </a:p>
        </p:txBody>
      </p:sp>
      <p:sp>
        <p:nvSpPr>
          <p:cNvPr id="1090" name="Text 1090"/>
          <p:cNvSpPr/>
          <p:nvPr/>
        </p:nvSpPr>
        <p:spPr>
          <a:xfrm>
            <a:off x="8787384" y="4306824"/>
            <a:ext cx="2606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>
                <a:solidFill>
                  <a:srgbClr val="1F3D6B"/>
                </a:solidFill>
              </a:rPr>
              <a:t>Online sign-ups +38%</a:t>
            </a:r>
            <a:endParaRPr lang="en-US" sz="750"/>
          </a:p>
        </p:txBody>
      </p:sp>
      <p:sp>
        <p:nvSpPr>
          <p:cNvPr id="1091" name="Text 1091"/>
          <p:cNvSpPr/>
          <p:nvPr/>
        </p:nvSpPr>
        <p:spPr>
          <a:xfrm>
            <a:off x="8787384" y="4471416"/>
            <a:ext cx="2606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50" b="0">
                <a:solidFill>
                  <a:srgbClr val="8A94A6"/>
                </a:solidFill>
              </a:rPr>
              <a:t>App referral is the main source</a:t>
            </a:r>
            <a:endParaRPr lang="en-US" sz="650"/>
          </a:p>
        </p:txBody>
      </p:sp>
      <p:sp>
        <p:nvSpPr>
          <p:cNvPr id="1092" name="Text 1092"/>
          <p:cNvSpPr/>
          <p:nvPr/>
        </p:nvSpPr>
        <p:spPr>
          <a:xfrm>
            <a:off x="8211312" y="4718304"/>
            <a:ext cx="32369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50" b="0">
                <a:solidFill>
                  <a:srgbClr val="8A94A6"/>
                </a:solidFill>
              </a:rPr>
              <a:t>Click an alert → opens L2 with the filter applied</a:t>
            </a:r>
            <a:endParaRPr lang="en-US" sz="650"/>
          </a:p>
        </p:txBody>
      </p:sp>
      <p:sp>
        <p:nvSpPr>
          <p:cNvPr id="1093" name="Shape 1093"/>
          <p:cNvSpPr/>
          <p:nvPr/>
        </p:nvSpPr>
        <p:spPr>
          <a:xfrm>
            <a:off x="8220456" y="1728216"/>
            <a:ext cx="1728216" cy="905256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D02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4" name="Shape 1094"/>
          <p:cNvSpPr/>
          <p:nvPr/>
        </p:nvSpPr>
        <p:spPr>
          <a:xfrm>
            <a:off x="9180576" y="2395728"/>
            <a:ext cx="658368" cy="173736"/>
          </a:xfrm>
          <a:prstGeom prst="roundRect">
            <a:avLst>
              <a:gd name="adj" fmla="val 25000"/>
            </a:avLst>
          </a:prstGeom>
          <a:solidFill>
            <a:srgbClr val="D02C8C"/>
          </a:solidFill>
          <a:ln w="12700">
            <a:solidFill>
              <a:srgbClr val="D02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5" name="Text 1095"/>
          <p:cNvSpPr/>
          <p:nvPr/>
        </p:nvSpPr>
        <p:spPr>
          <a:xfrm>
            <a:off x="9180576" y="2418588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00" b="1">
                <a:solidFill>
                  <a:srgbClr val="FFFFFF"/>
                </a:solidFill>
              </a:rPr>
              <a:t>selected</a:t>
            </a:r>
            <a:endParaRPr lang="en-US" sz="600"/>
          </a:p>
        </p:txBody>
      </p:sp>
      <p:sp>
        <p:nvSpPr>
          <p:cNvPr id="8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8016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794">
                <a:solidFill>
                  <a:srgbClr val="8B95A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  <p:sp>
        <p:nvSpPr>
          <p:cNvPr id="101" name="Shape 101"/>
          <p:cNvSpPr/>
          <p:nvPr/>
        </p:nvSpPr>
        <p:spPr>
          <a:xfrm>
            <a:off x="2002536" y="1806552"/>
            <a:ext cx="182880" cy="182880"/>
          </a:xfrm>
          <a:prstGeom prst="ellipse">
            <a:avLst/>
          </a:prstGeom>
          <a:noFill/>
          <a:ln w="7620">
            <a:solidFill>
              <a:srgbClr val="B4C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 102"/>
          <p:cNvSpPr/>
          <p:nvPr/>
        </p:nvSpPr>
        <p:spPr>
          <a:xfrm>
            <a:off x="2002536" y="1806552"/>
            <a:ext cx="1828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6B7C93"/>
                </a:solidFill>
              </a:rPr>
              <a:t>i</a:t>
            </a:r>
            <a:endParaRPr lang="en-US" sz="900"/>
          </a:p>
        </p:txBody>
      </p:sp>
      <p:sp>
        <p:nvSpPr>
          <p:cNvPr id="103" name="Shape 103"/>
          <p:cNvSpPr/>
          <p:nvPr/>
        </p:nvSpPr>
        <p:spPr>
          <a:xfrm>
            <a:off x="3913632" y="1806552"/>
            <a:ext cx="182880" cy="182880"/>
          </a:xfrm>
          <a:prstGeom prst="ellipse">
            <a:avLst/>
          </a:prstGeom>
          <a:noFill/>
          <a:ln w="7620">
            <a:solidFill>
              <a:srgbClr val="B4C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Text 104"/>
          <p:cNvSpPr/>
          <p:nvPr/>
        </p:nvSpPr>
        <p:spPr>
          <a:xfrm>
            <a:off x="3913632" y="1806552"/>
            <a:ext cx="1828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6B7C93"/>
                </a:solidFill>
              </a:rPr>
              <a:t>i</a:t>
            </a:r>
            <a:endParaRPr lang="en-US" sz="900"/>
          </a:p>
        </p:txBody>
      </p:sp>
      <p:sp>
        <p:nvSpPr>
          <p:cNvPr id="105" name="Shape 105"/>
          <p:cNvSpPr/>
          <p:nvPr/>
        </p:nvSpPr>
        <p:spPr>
          <a:xfrm>
            <a:off x="5824728" y="1806552"/>
            <a:ext cx="182880" cy="182880"/>
          </a:xfrm>
          <a:prstGeom prst="ellipse">
            <a:avLst/>
          </a:prstGeom>
          <a:noFill/>
          <a:ln w="7620">
            <a:solidFill>
              <a:srgbClr val="B4C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Text 106"/>
          <p:cNvSpPr/>
          <p:nvPr/>
        </p:nvSpPr>
        <p:spPr>
          <a:xfrm>
            <a:off x="5824728" y="1806552"/>
            <a:ext cx="1828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6B7C93"/>
                </a:solidFill>
              </a:rPr>
              <a:t>i</a:t>
            </a:r>
            <a:endParaRPr lang="en-US" sz="900"/>
          </a:p>
        </p:txBody>
      </p:sp>
      <p:sp>
        <p:nvSpPr>
          <p:cNvPr id="107" name="Shape 107"/>
          <p:cNvSpPr/>
          <p:nvPr/>
        </p:nvSpPr>
        <p:spPr>
          <a:xfrm>
            <a:off x="7735824" y="1806552"/>
            <a:ext cx="182880" cy="182880"/>
          </a:xfrm>
          <a:prstGeom prst="ellipse">
            <a:avLst/>
          </a:prstGeom>
          <a:noFill/>
          <a:ln w="7620">
            <a:solidFill>
              <a:srgbClr val="B4C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Text 108"/>
          <p:cNvSpPr/>
          <p:nvPr/>
        </p:nvSpPr>
        <p:spPr>
          <a:xfrm>
            <a:off x="7735824" y="1806552"/>
            <a:ext cx="1828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6B7C93"/>
                </a:solidFill>
              </a:rPr>
              <a:t>i</a:t>
            </a:r>
            <a:endParaRPr lang="en-US" sz="900"/>
          </a:p>
        </p:txBody>
      </p:sp>
      <p:sp>
        <p:nvSpPr>
          <p:cNvPr id="109" name="Shape 109"/>
          <p:cNvSpPr/>
          <p:nvPr/>
        </p:nvSpPr>
        <p:spPr>
          <a:xfrm>
            <a:off x="9646920" y="1806552"/>
            <a:ext cx="182880" cy="182880"/>
          </a:xfrm>
          <a:prstGeom prst="ellipse">
            <a:avLst/>
          </a:prstGeom>
          <a:noFill/>
          <a:ln w="7620">
            <a:solidFill>
              <a:srgbClr val="B4C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Text 110"/>
          <p:cNvSpPr/>
          <p:nvPr/>
        </p:nvSpPr>
        <p:spPr>
          <a:xfrm>
            <a:off x="9646920" y="1806552"/>
            <a:ext cx="1828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6B7C93"/>
                </a:solidFill>
              </a:rPr>
              <a:t>i</a:t>
            </a:r>
            <a:endParaRPr lang="en-US" sz="900"/>
          </a:p>
        </p:txBody>
      </p:sp>
      <p:sp>
        <p:nvSpPr>
          <p:cNvPr id="111" name="Shape 111"/>
          <p:cNvSpPr/>
          <p:nvPr/>
        </p:nvSpPr>
        <p:spPr>
          <a:xfrm>
            <a:off x="11558016" y="1806552"/>
            <a:ext cx="182880" cy="182880"/>
          </a:xfrm>
          <a:prstGeom prst="ellipse">
            <a:avLst/>
          </a:prstGeom>
          <a:noFill/>
          <a:ln w="7620">
            <a:solidFill>
              <a:srgbClr val="B4C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Text 112"/>
          <p:cNvSpPr/>
          <p:nvPr/>
        </p:nvSpPr>
        <p:spPr>
          <a:xfrm>
            <a:off x="11558016" y="1806552"/>
            <a:ext cx="1828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6B7C93"/>
                </a:solidFill>
              </a:rPr>
              <a:t>i</a:t>
            </a:r>
            <a:endParaRPr lang="en-US" sz="900"/>
          </a:p>
        </p:txBody>
      </p:sp>
      <p:sp>
        <p:nvSpPr>
          <p:cNvPr id="113" name="Shape 113"/>
          <p:cNvSpPr/>
          <p:nvPr/>
        </p:nvSpPr>
        <p:spPr>
          <a:xfrm>
            <a:off x="594360" y="4980000"/>
            <a:ext cx="11247120" cy="1200000"/>
          </a:xfrm>
          <a:prstGeom prst="roundRect">
            <a:avLst>
              <a:gd name="adj" fmla="val 4000"/>
            </a:avLst>
          </a:prstGeom>
          <a:solidFill>
            <a:srgbClr val="F6F8FB"/>
          </a:solidFill>
          <a:ln w="7620">
            <a:solidFill>
              <a:srgbClr val="D8E1EA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4" name="Shape 114"/>
          <p:cNvSpPr/>
          <p:nvPr/>
        </p:nvSpPr>
        <p:spPr>
          <a:xfrm>
            <a:off x="594360" y="4980000"/>
            <a:ext cx="45720" cy="1200000"/>
          </a:xfrm>
          <a:prstGeom prst="rect">
            <a:avLst/>
          </a:prstGeom>
          <a:solidFill>
            <a:srgbClr val="2E5F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5" name="Text 115"/>
          <p:cNvSpPr/>
          <p:nvPr/>
        </p:nvSpPr>
        <p:spPr>
          <a:xfrm>
            <a:off x="713232" y="5062296"/>
            <a:ext cx="60000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86" b="1">
                <a:solidFill>
                  <a:srgbClr val="1F3D6B"/>
                </a:solidFill>
              </a:rPr>
              <a:t>Hover Tooltip · Metric Definition</a:t>
            </a:r>
            <a:endParaRPr lang="en-US" sz="1286"/>
          </a:p>
        </p:txBody>
      </p:sp>
      <p:sp>
        <p:nvSpPr>
          <p:cNvPr id="116" name="Text 116"/>
          <p:cNvSpPr/>
          <p:nvPr/>
        </p:nvSpPr>
        <p:spPr>
          <a:xfrm>
            <a:off x="713232" y="5300000"/>
            <a:ext cx="10900000" cy="780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31">
                <a:solidFill>
                  <a:srgbClr val="4A5568"/>
                </a:solidFill>
              </a:rPr>
              <a:t>New Member % — Members whose first purchase falls in the selected period.</a:t>
            </a:r>
            <a:endParaRPr lang="en-US" sz="1031"/>
          </a:p>
          <a:p>
            <a:pPr marL="0" indent="0">
              <a:buNone/>
            </a:pPr>
            <a:r>
              <a:rPr lang="en-US" sz="1031">
                <a:solidFill>
                  <a:srgbClr val="4A5568"/>
                </a:solidFill>
              </a:rPr>
              <a:t>Formula: new_member_count ÷ purchasing_members   ·   Source: agg_segment_daily   ·   Updated daily 06:00 ICT</a:t>
            </a:r>
            <a:endParaRPr lang="en-US" sz="1031"/>
          </a:p>
          <a:p>
            <a:pPr marL="0" indent="0">
              <a:buNone/>
            </a:pPr>
            <a:r>
              <a:rPr lang="en-US" sz="1031">
                <a:solidFill>
                  <a:srgbClr val="4A5568"/>
                </a:solidFill>
              </a:rPr>
              <a:t>Every KPI card, chart title, and table column exposes the same definition on hover.</a:t>
            </a:r>
            <a:endParaRPr lang="en-US" sz="103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42" b="1">
                <a:solidFill>
                  <a:srgbClr val="1F3D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L1 · Merchant Insight Overview — Repeat Ratio selected</a:t>
            </a:r>
            <a:endParaRPr lang="en-US" sz="2542"/>
          </a:p>
        </p:txBody>
      </p:sp>
      <p:sp>
        <p:nvSpPr>
          <p:cNvPr id="3" name="Text 1"/>
          <p:cNvSpPr/>
          <p:nvPr/>
        </p:nvSpPr>
        <p:spPr>
          <a:xfrm>
            <a:off x="274320" y="502920"/>
            <a:ext cx="11521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6">
                <a:solidFill>
                  <a:srgbClr val="4A5568"/>
                </a:solidFill>
              </a:rPr>
              <a:t>Clicking the Repeat Ratio KPI card refreshes the whole panel row to the Repeat Ratio context before moving to L2.</a:t>
            </a:r>
            <a:endParaRPr lang="en-US" sz="1076"/>
          </a:p>
        </p:txBody>
      </p:sp>
      <p:sp>
        <p:nvSpPr>
          <p:cNvPr id="5" name="Shape 2"/>
          <p:cNvSpPr/>
          <p:nvPr/>
        </p:nvSpPr>
        <p:spPr>
          <a:xfrm>
            <a:off x="320040" y="1056456"/>
            <a:ext cx="11567160" cy="5349240"/>
          </a:xfrm>
          <a:prstGeom prst="roundRect">
            <a:avLst>
              <a:gd name="adj" fmla="val 1026"/>
            </a:avLst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320040" y="1056456"/>
            <a:ext cx="11567160" cy="411480"/>
          </a:xfrm>
          <a:prstGeom prst="rect">
            <a:avLst/>
          </a:prstGeom>
          <a:solidFill>
            <a:srgbClr val="1F3D6B"/>
          </a:solidFill>
          <a:ln w="12700">
            <a:solidFill>
              <a:srgbClr val="1F3D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02920" y="117532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1" b="1">
                <a:solidFill>
                  <a:srgbClr val="FFFFFF"/>
                </a:solidFill>
              </a:rPr>
              <a:t>Merchant Insight Dashboard · L1 Overview</a:t>
            </a:r>
            <a:endParaRPr lang="en-US" sz="1121"/>
          </a:p>
        </p:txBody>
      </p:sp>
      <p:sp>
        <p:nvSpPr>
          <p:cNvPr id="8" name="Shape 5"/>
          <p:cNvSpPr/>
          <p:nvPr/>
        </p:nvSpPr>
        <p:spPr>
          <a:xfrm>
            <a:off x="3900000" y="1147896"/>
            <a:ext cx="1205000" cy="2286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936576" y="1198188"/>
            <a:ext cx="11318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7" b="1">
                <a:solidFill>
                  <a:srgbClr val="1F3D6B"/>
                </a:solidFill>
              </a:rPr>
              <a:t>Operation Unit</a:t>
            </a:r>
            <a:endParaRPr lang="en-US" sz="837"/>
          </a:p>
        </p:txBody>
      </p:sp>
      <p:sp>
        <p:nvSpPr>
          <p:cNvPr id="10" name="Shape 7"/>
          <p:cNvSpPr/>
          <p:nvPr/>
        </p:nvSpPr>
        <p:spPr>
          <a:xfrm>
            <a:off x="5176000" y="1147896"/>
            <a:ext cx="1205000" cy="2286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212576" y="1198188"/>
            <a:ext cx="11318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7" b="1">
                <a:solidFill>
                  <a:srgbClr val="1F3D6B"/>
                </a:solidFill>
              </a:rPr>
              <a:t>Store</a:t>
            </a:r>
            <a:endParaRPr lang="en-US" sz="837"/>
          </a:p>
        </p:txBody>
      </p:sp>
      <p:sp>
        <p:nvSpPr>
          <p:cNvPr id="12" name="Shape 9"/>
          <p:cNvSpPr/>
          <p:nvPr/>
        </p:nvSpPr>
        <p:spPr>
          <a:xfrm>
            <a:off x="6452000" y="1147896"/>
            <a:ext cx="1205000" cy="2286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488576" y="1198188"/>
            <a:ext cx="11318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7" b="1">
                <a:solidFill>
                  <a:srgbClr val="1F3D6B"/>
                </a:solidFill>
              </a:rPr>
              <a:t>Business Category</a:t>
            </a:r>
            <a:endParaRPr lang="en-US" sz="837"/>
          </a:p>
        </p:txBody>
      </p:sp>
      <p:sp>
        <p:nvSpPr>
          <p:cNvPr id="14" name="Shape 11"/>
          <p:cNvSpPr/>
          <p:nvPr/>
        </p:nvSpPr>
        <p:spPr>
          <a:xfrm>
            <a:off x="7728000" y="1147896"/>
            <a:ext cx="1205000" cy="2286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764576" y="1198188"/>
            <a:ext cx="11318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7" b="1">
                <a:solidFill>
                  <a:srgbClr val="1F3D6B"/>
                </a:solidFill>
              </a:rPr>
              <a:t>Tenant</a:t>
            </a:r>
            <a:endParaRPr lang="en-US" sz="837"/>
          </a:p>
        </p:txBody>
      </p:sp>
      <p:sp>
        <p:nvSpPr>
          <p:cNvPr id="16" name="Shape 13"/>
          <p:cNvSpPr/>
          <p:nvPr/>
        </p:nvSpPr>
        <p:spPr>
          <a:xfrm>
            <a:off x="9004000" y="1147896"/>
            <a:ext cx="1205000" cy="2286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9040576" y="1198188"/>
            <a:ext cx="11318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7" b="1">
                <a:solidFill>
                  <a:srgbClr val="1F3D6B"/>
                </a:solidFill>
              </a:rPr>
              <a:t>Date Range</a:t>
            </a:r>
            <a:endParaRPr lang="en-US" sz="837"/>
          </a:p>
        </p:txBody>
      </p:sp>
      <p:sp>
        <p:nvSpPr>
          <p:cNvPr id="900" name="Shape 900"/>
          <p:cNvSpPr/>
          <p:nvPr/>
        </p:nvSpPr>
        <p:spPr>
          <a:xfrm>
            <a:off x="10280000" y="1147896"/>
            <a:ext cx="1205000" cy="2286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1" name="Text 901"/>
          <p:cNvSpPr/>
          <p:nvPr/>
        </p:nvSpPr>
        <p:spPr>
          <a:xfrm>
            <a:off x="10316576" y="1198188"/>
            <a:ext cx="11318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7" b="1">
                <a:solidFill>
                  <a:srgbClr val="1F3D6B"/>
                </a:solidFill>
              </a:rPr>
              <a:t>Compare With</a:t>
            </a:r>
            <a:endParaRPr lang="en-US" sz="837"/>
          </a:p>
        </p:txBody>
      </p:sp>
      <p:sp>
        <p:nvSpPr>
          <p:cNvPr id="18" name="Shape 15"/>
          <p:cNvSpPr/>
          <p:nvPr/>
        </p:nvSpPr>
        <p:spPr>
          <a:xfrm>
            <a:off x="594360" y="1742256"/>
            <a:ext cx="1691640" cy="868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7620">
            <a:solidFill>
              <a:srgbClr val="DFE6EF"/>
            </a:solidFill>
            <a:prstDash val="solid"/>
          </a:ln>
          <a:effectLst>
            <a:outerShdw blurRad="12700" dist="635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67512" y="1824552"/>
            <a:ext cx="1545336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971" b="1">
                <a:solidFill>
                  <a:srgbClr val="4A5568"/>
                </a:solidFill>
              </a:rPr>
              <a:t>Purchasing Members</a:t>
            </a:r>
            <a:endParaRPr lang="en-US" sz="971"/>
          </a:p>
        </p:txBody>
      </p:sp>
      <p:sp>
        <p:nvSpPr>
          <p:cNvPr id="20" name="Text 17"/>
          <p:cNvSpPr/>
          <p:nvPr/>
        </p:nvSpPr>
        <p:spPr>
          <a:xfrm>
            <a:off x="667512" y="2053152"/>
            <a:ext cx="154533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2093" b="1">
                <a:solidFill>
                  <a:srgbClr val="1F3D6B"/>
                </a:solidFill>
              </a:rPr>
              <a:t>272K</a:t>
            </a:r>
            <a:endParaRPr lang="en-US" sz="2093"/>
          </a:p>
        </p:txBody>
      </p:sp>
      <p:sp>
        <p:nvSpPr>
          <p:cNvPr id="21" name="Text 18"/>
          <p:cNvSpPr/>
          <p:nvPr/>
        </p:nvSpPr>
        <p:spPr>
          <a:xfrm>
            <a:off x="667512" y="2400624"/>
            <a:ext cx="1545336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913">
                <a:solidFill>
                  <a:srgbClr val="2E7D32"/>
                </a:solidFill>
              </a:rPr>
              <a:t>MoM +8.2%</a:t>
            </a:r>
            <a:endParaRPr lang="en-US" sz="913"/>
          </a:p>
        </p:txBody>
      </p:sp>
      <p:sp>
        <p:nvSpPr>
          <p:cNvPr id="22" name="Shape 19"/>
          <p:cNvSpPr/>
          <p:nvPr/>
        </p:nvSpPr>
        <p:spPr>
          <a:xfrm>
            <a:off x="2505456" y="1742256"/>
            <a:ext cx="1691640" cy="868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7620">
            <a:solidFill>
              <a:srgbClr val="DFE6EF"/>
            </a:solidFill>
            <a:prstDash val="solid"/>
          </a:ln>
          <a:effectLst>
            <a:outerShdw blurRad="12700" dist="635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2578608" y="1824552"/>
            <a:ext cx="1545336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971" b="1">
                <a:solidFill>
                  <a:srgbClr val="4A5568"/>
                </a:solidFill>
              </a:rPr>
              <a:t>Net Sales</a:t>
            </a:r>
            <a:endParaRPr lang="en-US" sz="971"/>
          </a:p>
        </p:txBody>
      </p:sp>
      <p:sp>
        <p:nvSpPr>
          <p:cNvPr id="24" name="Text 21"/>
          <p:cNvSpPr/>
          <p:nvPr/>
        </p:nvSpPr>
        <p:spPr>
          <a:xfrm>
            <a:off x="2578608" y="2053152"/>
            <a:ext cx="154533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2093" b="1">
                <a:solidFill>
                  <a:srgbClr val="1F3D6B"/>
                </a:solidFill>
              </a:rPr>
              <a:t>226M</a:t>
            </a:r>
            <a:endParaRPr lang="en-US" sz="2093"/>
          </a:p>
        </p:txBody>
      </p:sp>
      <p:sp>
        <p:nvSpPr>
          <p:cNvPr id="25" name="Text 22"/>
          <p:cNvSpPr/>
          <p:nvPr/>
        </p:nvSpPr>
        <p:spPr>
          <a:xfrm>
            <a:off x="2578608" y="2400624"/>
            <a:ext cx="1545336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913">
                <a:solidFill>
                  <a:srgbClr val="2E7D32"/>
                </a:solidFill>
              </a:rPr>
              <a:t>MoM +5.6%</a:t>
            </a:r>
            <a:endParaRPr lang="en-US" sz="913"/>
          </a:p>
        </p:txBody>
      </p:sp>
      <p:sp>
        <p:nvSpPr>
          <p:cNvPr id="26" name="Shape 23"/>
          <p:cNvSpPr/>
          <p:nvPr/>
        </p:nvSpPr>
        <p:spPr>
          <a:xfrm>
            <a:off x="4416552" y="1742256"/>
            <a:ext cx="1691640" cy="868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7620">
            <a:solidFill>
              <a:srgbClr val="DFE6EF"/>
            </a:solidFill>
            <a:prstDash val="solid"/>
          </a:ln>
          <a:effectLst>
            <a:outerShdw blurRad="12700" dist="635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4489704" y="1824552"/>
            <a:ext cx="1545336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971" b="1">
                <a:solidFill>
                  <a:srgbClr val="4A5568"/>
                </a:solidFill>
              </a:rPr>
              <a:t>Transactions</a:t>
            </a:r>
            <a:endParaRPr lang="en-US" sz="971"/>
          </a:p>
        </p:txBody>
      </p:sp>
      <p:sp>
        <p:nvSpPr>
          <p:cNvPr id="28" name="Text 25"/>
          <p:cNvSpPr/>
          <p:nvPr/>
        </p:nvSpPr>
        <p:spPr>
          <a:xfrm>
            <a:off x="4489704" y="2053152"/>
            <a:ext cx="154533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2093" b="1">
                <a:solidFill>
                  <a:srgbClr val="1F3D6B"/>
                </a:solidFill>
              </a:rPr>
              <a:t>60K</a:t>
            </a:r>
            <a:endParaRPr lang="en-US" sz="2093"/>
          </a:p>
        </p:txBody>
      </p:sp>
      <p:sp>
        <p:nvSpPr>
          <p:cNvPr id="29" name="Text 26"/>
          <p:cNvSpPr/>
          <p:nvPr/>
        </p:nvSpPr>
        <p:spPr>
          <a:xfrm>
            <a:off x="4489704" y="2400624"/>
            <a:ext cx="1545336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913">
                <a:solidFill>
                  <a:srgbClr val="2E7D32"/>
                </a:solidFill>
              </a:rPr>
              <a:t>MoM +10.4%</a:t>
            </a:r>
            <a:endParaRPr lang="en-US" sz="913"/>
          </a:p>
        </p:txBody>
      </p:sp>
      <p:sp>
        <p:nvSpPr>
          <p:cNvPr id="30" name="Shape 27"/>
          <p:cNvSpPr/>
          <p:nvPr/>
        </p:nvSpPr>
        <p:spPr>
          <a:xfrm>
            <a:off x="6327648" y="1742256"/>
            <a:ext cx="1691640" cy="868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7620">
            <a:solidFill>
              <a:srgbClr val="DFE6EF"/>
            </a:solidFill>
            <a:prstDash val="solid"/>
          </a:ln>
          <a:effectLst>
            <a:outerShdw blurRad="12700" dist="635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6400800" y="1824552"/>
            <a:ext cx="1545336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971" b="1">
                <a:solidFill>
                  <a:srgbClr val="4A5568"/>
                </a:solidFill>
              </a:rPr>
              <a:t>AOV</a:t>
            </a:r>
            <a:endParaRPr lang="en-US" sz="971"/>
          </a:p>
        </p:txBody>
      </p:sp>
      <p:sp>
        <p:nvSpPr>
          <p:cNvPr id="32" name="Text 29"/>
          <p:cNvSpPr/>
          <p:nvPr/>
        </p:nvSpPr>
        <p:spPr>
          <a:xfrm>
            <a:off x="6400800" y="2053152"/>
            <a:ext cx="154533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2093" b="1">
                <a:solidFill>
                  <a:srgbClr val="1F3D6B"/>
                </a:solidFill>
              </a:rPr>
              <a:t>375K</a:t>
            </a:r>
            <a:endParaRPr lang="en-US" sz="2093"/>
          </a:p>
        </p:txBody>
      </p:sp>
      <p:sp>
        <p:nvSpPr>
          <p:cNvPr id="33" name="Text 30"/>
          <p:cNvSpPr/>
          <p:nvPr/>
        </p:nvSpPr>
        <p:spPr>
          <a:xfrm>
            <a:off x="6400800" y="2400624"/>
            <a:ext cx="1545336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913">
                <a:solidFill>
                  <a:srgbClr val="C0392B"/>
                </a:solidFill>
              </a:rPr>
              <a:t>MoM -1.2%</a:t>
            </a:r>
            <a:endParaRPr lang="en-US" sz="913"/>
          </a:p>
        </p:txBody>
      </p:sp>
      <p:sp>
        <p:nvSpPr>
          <p:cNvPr id="34" name="Shape 31"/>
          <p:cNvSpPr/>
          <p:nvPr/>
        </p:nvSpPr>
        <p:spPr>
          <a:xfrm>
            <a:off x="8238744" y="1742256"/>
            <a:ext cx="1691640" cy="868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7620">
            <a:solidFill>
              <a:srgbClr val="DFE6EF"/>
            </a:solidFill>
            <a:prstDash val="solid"/>
          </a:ln>
          <a:effectLst>
            <a:outerShdw blurRad="12700" dist="635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8311896" y="1824552"/>
            <a:ext cx="1545336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971" b="1">
                <a:solidFill>
                  <a:srgbClr val="4A5568"/>
                </a:solidFill>
              </a:rPr>
              <a:t>New Member %</a:t>
            </a:r>
            <a:endParaRPr lang="en-US" sz="971"/>
          </a:p>
        </p:txBody>
      </p:sp>
      <p:sp>
        <p:nvSpPr>
          <p:cNvPr id="36" name="Text 33"/>
          <p:cNvSpPr/>
          <p:nvPr/>
        </p:nvSpPr>
        <p:spPr>
          <a:xfrm>
            <a:off x="8311896" y="2053152"/>
            <a:ext cx="154533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2093" b="1">
                <a:solidFill>
                  <a:srgbClr val="1F3D6B"/>
                </a:solidFill>
              </a:rPr>
              <a:t>31%</a:t>
            </a:r>
            <a:endParaRPr lang="en-US" sz="2093"/>
          </a:p>
        </p:txBody>
      </p:sp>
      <p:sp>
        <p:nvSpPr>
          <p:cNvPr id="37" name="Text 34"/>
          <p:cNvSpPr/>
          <p:nvPr/>
        </p:nvSpPr>
        <p:spPr>
          <a:xfrm>
            <a:off x="8311896" y="2400624"/>
            <a:ext cx="1545336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913">
                <a:solidFill>
                  <a:srgbClr val="2E7D32"/>
                </a:solidFill>
              </a:rPr>
              <a:t>MoM +2.8pt</a:t>
            </a:r>
            <a:endParaRPr lang="en-US" sz="913"/>
          </a:p>
        </p:txBody>
      </p:sp>
      <p:sp>
        <p:nvSpPr>
          <p:cNvPr id="38" name="Shape 35"/>
          <p:cNvSpPr/>
          <p:nvPr/>
        </p:nvSpPr>
        <p:spPr>
          <a:xfrm>
            <a:off x="10149840" y="1742256"/>
            <a:ext cx="1691640" cy="868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7620">
            <a:solidFill>
              <a:srgbClr val="DFE6EF"/>
            </a:solidFill>
            <a:prstDash val="solid"/>
          </a:ln>
          <a:effectLst>
            <a:outerShdw blurRad="12700" dist="635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10222992" y="1824552"/>
            <a:ext cx="1545336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971" b="1">
                <a:solidFill>
                  <a:srgbClr val="4A5568"/>
                </a:solidFill>
              </a:rPr>
              <a:t>Repeat Ratio</a:t>
            </a:r>
            <a:endParaRPr lang="en-US" sz="971"/>
          </a:p>
        </p:txBody>
      </p:sp>
      <p:sp>
        <p:nvSpPr>
          <p:cNvPr id="40" name="Text 37"/>
          <p:cNvSpPr/>
          <p:nvPr/>
        </p:nvSpPr>
        <p:spPr>
          <a:xfrm>
            <a:off x="10222992" y="2053152"/>
            <a:ext cx="154533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2093" b="1">
                <a:solidFill>
                  <a:srgbClr val="1F3D6B"/>
                </a:solidFill>
              </a:rPr>
              <a:t>46%</a:t>
            </a:r>
            <a:endParaRPr lang="en-US" sz="2093"/>
          </a:p>
        </p:txBody>
      </p:sp>
      <p:sp>
        <p:nvSpPr>
          <p:cNvPr id="41" name="Text 38"/>
          <p:cNvSpPr/>
          <p:nvPr/>
        </p:nvSpPr>
        <p:spPr>
          <a:xfrm>
            <a:off x="10222992" y="2400624"/>
            <a:ext cx="1545336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913">
                <a:solidFill>
                  <a:srgbClr val="2E7D32"/>
                </a:solidFill>
              </a:rPr>
              <a:t>MoM +1.4pt</a:t>
            </a:r>
            <a:endParaRPr lang="en-US" sz="913"/>
          </a:p>
        </p:txBody>
      </p:sp>
      <p:sp>
        <p:nvSpPr>
          <p:cNvPr id="1001" name="Shape 1001"/>
          <p:cNvSpPr/>
          <p:nvPr/>
        </p:nvSpPr>
        <p:spPr>
          <a:xfrm>
            <a:off x="594360" y="2935224"/>
            <a:ext cx="3474720" cy="1874520"/>
          </a:xfrm>
          <a:prstGeom prst="roundRect">
            <a:avLst>
              <a:gd name="adj" fmla="val 4000"/>
            </a:avLst>
          </a:prstGeom>
          <a:solidFill>
            <a:srgbClr val="F6F8FB"/>
          </a:solidFill>
          <a:ln w="7620">
            <a:solidFill>
              <a:srgbClr val="D8E1EA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02" name="Shape 1002"/>
          <p:cNvSpPr/>
          <p:nvPr/>
        </p:nvSpPr>
        <p:spPr>
          <a:xfrm>
            <a:off x="594360" y="2935224"/>
            <a:ext cx="45720" cy="1874520"/>
          </a:xfrm>
          <a:prstGeom prst="rect">
            <a:avLst/>
          </a:prstGeom>
          <a:solidFill>
            <a:srgbClr val="D02C8C"/>
          </a:solidFill>
          <a:ln w="12700">
            <a:solidFill>
              <a:srgbClr val="D02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3" name="Shape 1003"/>
          <p:cNvSpPr/>
          <p:nvPr/>
        </p:nvSpPr>
        <p:spPr>
          <a:xfrm>
            <a:off x="4343400" y="2935224"/>
            <a:ext cx="3474720" cy="1874520"/>
          </a:xfrm>
          <a:prstGeom prst="roundRect">
            <a:avLst>
              <a:gd name="adj" fmla="val 4000"/>
            </a:avLst>
          </a:prstGeom>
          <a:solidFill>
            <a:srgbClr val="F6F8FB"/>
          </a:solidFill>
          <a:ln w="7620">
            <a:solidFill>
              <a:srgbClr val="D8E1EA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04" name="Shape 1004"/>
          <p:cNvSpPr/>
          <p:nvPr/>
        </p:nvSpPr>
        <p:spPr>
          <a:xfrm>
            <a:off x="4343400" y="2935224"/>
            <a:ext cx="45720" cy="1874520"/>
          </a:xfrm>
          <a:prstGeom prst="rect">
            <a:avLst/>
          </a:prstGeom>
          <a:solidFill>
            <a:srgbClr val="D02C8C"/>
          </a:solidFill>
          <a:ln w="12700">
            <a:solidFill>
              <a:srgbClr val="D02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5" name="Shape 1005"/>
          <p:cNvSpPr/>
          <p:nvPr/>
        </p:nvSpPr>
        <p:spPr>
          <a:xfrm>
            <a:off x="8092440" y="2935224"/>
            <a:ext cx="3474720" cy="1874520"/>
          </a:xfrm>
          <a:prstGeom prst="roundRect">
            <a:avLst>
              <a:gd name="adj" fmla="val 4000"/>
            </a:avLst>
          </a:prstGeom>
          <a:solidFill>
            <a:srgbClr val="F6F8FB"/>
          </a:solidFill>
          <a:ln w="7620">
            <a:solidFill>
              <a:srgbClr val="D8E1EA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06" name="Shape 1006"/>
          <p:cNvSpPr/>
          <p:nvPr/>
        </p:nvSpPr>
        <p:spPr>
          <a:xfrm>
            <a:off x="8092440" y="2935224"/>
            <a:ext cx="45720" cy="1874520"/>
          </a:xfrm>
          <a:prstGeom prst="rect">
            <a:avLst/>
          </a:prstGeom>
          <a:solidFill>
            <a:srgbClr val="D02C8C"/>
          </a:solidFill>
          <a:ln w="12700">
            <a:solidFill>
              <a:srgbClr val="D02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7" name="Text 1007"/>
          <p:cNvSpPr/>
          <p:nvPr/>
        </p:nvSpPr>
        <p:spPr>
          <a:xfrm>
            <a:off x="713232" y="3017520"/>
            <a:ext cx="3236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>
                <a:solidFill>
                  <a:srgbClr val="1F3D6B"/>
                </a:solidFill>
              </a:rPr>
              <a:t>KPI Trend Entry</a:t>
            </a:r>
            <a:endParaRPr lang="en-US" sz="1050"/>
          </a:p>
        </p:txBody>
      </p:sp>
      <p:sp>
        <p:nvSpPr>
          <p:cNvPr id="1008" name="Text 1008"/>
          <p:cNvSpPr/>
          <p:nvPr/>
        </p:nvSpPr>
        <p:spPr>
          <a:xfrm>
            <a:off x="713232" y="3227832"/>
            <a:ext cx="32369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b="0">
                <a:solidFill>
                  <a:srgbClr val="D02C8C"/>
                </a:solidFill>
              </a:rPr>
              <a:t>Repeat Ratio · selected</a:t>
            </a:r>
            <a:endParaRPr lang="en-US" sz="750"/>
          </a:p>
        </p:txBody>
      </p:sp>
      <p:sp>
        <p:nvSpPr>
          <p:cNvPr id="1009" name="Text 1009"/>
          <p:cNvSpPr/>
          <p:nvPr/>
        </p:nvSpPr>
        <p:spPr>
          <a:xfrm>
            <a:off x="4462272" y="3017520"/>
            <a:ext cx="3236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>
                <a:solidFill>
                  <a:srgbClr val="1F3D6B"/>
                </a:solidFill>
              </a:rPr>
              <a:t>Key Movement by Segment</a:t>
            </a:r>
            <a:endParaRPr lang="en-US" sz="1050"/>
          </a:p>
        </p:txBody>
      </p:sp>
      <p:sp>
        <p:nvSpPr>
          <p:cNvPr id="1010" name="Text 1010"/>
          <p:cNvSpPr/>
          <p:nvPr/>
        </p:nvSpPr>
        <p:spPr>
          <a:xfrm>
            <a:off x="4462272" y="3227832"/>
            <a:ext cx="32369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b="0">
                <a:solidFill>
                  <a:srgbClr val="8A94A6"/>
                </a:solidFill>
              </a:rPr>
              <a:t>Repeat Ratio movers · MoM change</a:t>
            </a:r>
            <a:endParaRPr lang="en-US" sz="750"/>
          </a:p>
        </p:txBody>
      </p:sp>
      <p:sp>
        <p:nvSpPr>
          <p:cNvPr id="1011" name="Text 1011"/>
          <p:cNvSpPr/>
          <p:nvPr/>
        </p:nvSpPr>
        <p:spPr>
          <a:xfrm>
            <a:off x="8211312" y="3017520"/>
            <a:ext cx="3236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>
                <a:solidFill>
                  <a:srgbClr val="1F3D6B"/>
                </a:solidFill>
              </a:rPr>
              <a:t>Actionable Alerts</a:t>
            </a:r>
            <a:endParaRPr lang="en-US" sz="1050"/>
          </a:p>
        </p:txBody>
      </p:sp>
      <p:sp>
        <p:nvSpPr>
          <p:cNvPr id="1012" name="Text 1012"/>
          <p:cNvSpPr/>
          <p:nvPr/>
        </p:nvSpPr>
        <p:spPr>
          <a:xfrm>
            <a:off x="8211312" y="3227832"/>
            <a:ext cx="32369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b="0">
                <a:solidFill>
                  <a:srgbClr val="8A94A6"/>
                </a:solidFill>
              </a:rPr>
              <a:t>Repeat Ratio alerts · last 24 hours</a:t>
            </a:r>
            <a:endParaRPr lang="en-US" sz="750"/>
          </a:p>
        </p:txBody>
      </p:sp>
      <p:sp>
        <p:nvSpPr>
          <p:cNvPr id="1013" name="Shape 1013"/>
          <p:cNvSpPr/>
          <p:nvPr/>
        </p:nvSpPr>
        <p:spPr>
          <a:xfrm>
            <a:off x="2395728" y="3191256"/>
            <a:ext cx="475488" cy="19202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CF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4" name="Text 1014"/>
          <p:cNvSpPr/>
          <p:nvPr/>
        </p:nvSpPr>
        <p:spPr>
          <a:xfrm>
            <a:off x="2395728" y="3218688"/>
            <a:ext cx="4754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>
                <a:solidFill>
                  <a:srgbClr val="4A5568"/>
                </a:solidFill>
              </a:rPr>
              <a:t>Daily</a:t>
            </a:r>
            <a:endParaRPr lang="en-US" sz="700"/>
          </a:p>
        </p:txBody>
      </p:sp>
      <p:sp>
        <p:nvSpPr>
          <p:cNvPr id="1015" name="Shape 1015"/>
          <p:cNvSpPr/>
          <p:nvPr/>
        </p:nvSpPr>
        <p:spPr>
          <a:xfrm>
            <a:off x="2898648" y="3191256"/>
            <a:ext cx="548640" cy="19202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CF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6" name="Text 1016"/>
          <p:cNvSpPr/>
          <p:nvPr/>
        </p:nvSpPr>
        <p:spPr>
          <a:xfrm>
            <a:off x="2898648" y="3218688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>
                <a:solidFill>
                  <a:srgbClr val="4A5568"/>
                </a:solidFill>
              </a:rPr>
              <a:t>Weekly</a:t>
            </a:r>
            <a:endParaRPr lang="en-US" sz="700"/>
          </a:p>
        </p:txBody>
      </p:sp>
      <p:sp>
        <p:nvSpPr>
          <p:cNvPr id="1017" name="Shape 1017"/>
          <p:cNvSpPr/>
          <p:nvPr/>
        </p:nvSpPr>
        <p:spPr>
          <a:xfrm>
            <a:off x="3474720" y="3191256"/>
            <a:ext cx="594360" cy="192024"/>
          </a:xfrm>
          <a:prstGeom prst="roundRect">
            <a:avLst>
              <a:gd name="adj" fmla="val 25000"/>
            </a:avLst>
          </a:prstGeom>
          <a:solidFill>
            <a:srgbClr val="2E5FA3"/>
          </a:solidFill>
          <a:ln w="635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8" name="Text 1018"/>
          <p:cNvSpPr/>
          <p:nvPr/>
        </p:nvSpPr>
        <p:spPr>
          <a:xfrm>
            <a:off x="3474720" y="3218688"/>
            <a:ext cx="594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>
                <a:solidFill>
                  <a:srgbClr val="FFFFFF"/>
                </a:solidFill>
              </a:rPr>
              <a:t>Monthly</a:t>
            </a:r>
            <a:endParaRPr lang="en-US" sz="700"/>
          </a:p>
        </p:txBody>
      </p:sp>
      <p:sp>
        <p:nvSpPr>
          <p:cNvPr id="1019" name="Shape 1019"/>
          <p:cNvSpPr/>
          <p:nvPr/>
        </p:nvSpPr>
        <p:spPr>
          <a:xfrm>
            <a:off x="777240" y="3401568"/>
            <a:ext cx="3127248" cy="9326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0" name="Shape 1020"/>
          <p:cNvSpPr/>
          <p:nvPr/>
        </p:nvSpPr>
        <p:spPr>
          <a:xfrm>
            <a:off x="822960" y="3634740"/>
            <a:ext cx="3035808" cy="0"/>
          </a:xfrm>
          <a:prstGeom prst="line">
            <a:avLst/>
          </a:prstGeom>
          <a:noFill/>
          <a:ln w="4445">
            <a:solidFill>
              <a:srgbClr val="EDF1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1" name="Shape 1021"/>
          <p:cNvSpPr/>
          <p:nvPr/>
        </p:nvSpPr>
        <p:spPr>
          <a:xfrm>
            <a:off x="822960" y="3867912"/>
            <a:ext cx="3035808" cy="0"/>
          </a:xfrm>
          <a:prstGeom prst="line">
            <a:avLst/>
          </a:prstGeom>
          <a:noFill/>
          <a:ln w="4445">
            <a:solidFill>
              <a:srgbClr val="EDF1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2" name="Shape 1022"/>
          <p:cNvSpPr/>
          <p:nvPr/>
        </p:nvSpPr>
        <p:spPr>
          <a:xfrm>
            <a:off x="822960" y="4101084"/>
            <a:ext cx="3035808" cy="0"/>
          </a:xfrm>
          <a:prstGeom prst="line">
            <a:avLst/>
          </a:prstGeom>
          <a:noFill/>
          <a:ln w="4445">
            <a:solidFill>
              <a:srgbClr val="EDF1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3" name="Shape 1023"/>
          <p:cNvSpPr/>
          <p:nvPr/>
        </p:nvSpPr>
        <p:spPr>
          <a:xfrm flipV="1">
            <a:off x="941832" y="4013850"/>
            <a:ext cx="559613" cy="13167"/>
          </a:xfrm>
          <a:prstGeom prst="line">
            <a:avLst/>
          </a:prstGeom>
          <a:noFill/>
          <a:ln w="12700">
            <a:solidFill>
              <a:srgbClr val="C3CCD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24" name="Shape 1024"/>
          <p:cNvSpPr/>
          <p:nvPr/>
        </p:nvSpPr>
        <p:spPr>
          <a:xfrm flipV="1">
            <a:off x="1501445" y="4000683"/>
            <a:ext cx="559613" cy="13167"/>
          </a:xfrm>
          <a:prstGeom prst="line">
            <a:avLst/>
          </a:prstGeom>
          <a:noFill/>
          <a:ln w="12700">
            <a:solidFill>
              <a:srgbClr val="C3CCD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25" name="Shape 1025"/>
          <p:cNvSpPr/>
          <p:nvPr/>
        </p:nvSpPr>
        <p:spPr>
          <a:xfrm flipV="1">
            <a:off x="2061058" y="3987516"/>
            <a:ext cx="559613" cy="13167"/>
          </a:xfrm>
          <a:prstGeom prst="line">
            <a:avLst/>
          </a:prstGeom>
          <a:noFill/>
          <a:ln w="12700">
            <a:solidFill>
              <a:srgbClr val="C3CCD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26" name="Shape 1026"/>
          <p:cNvSpPr/>
          <p:nvPr/>
        </p:nvSpPr>
        <p:spPr>
          <a:xfrm flipV="1">
            <a:off x="2620670" y="3974348"/>
            <a:ext cx="559613" cy="13167"/>
          </a:xfrm>
          <a:prstGeom prst="line">
            <a:avLst/>
          </a:prstGeom>
          <a:noFill/>
          <a:ln w="12700">
            <a:solidFill>
              <a:srgbClr val="C3CCD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27" name="Shape 1027"/>
          <p:cNvSpPr/>
          <p:nvPr/>
        </p:nvSpPr>
        <p:spPr>
          <a:xfrm flipV="1">
            <a:off x="3180283" y="3948013"/>
            <a:ext cx="559613" cy="26335"/>
          </a:xfrm>
          <a:prstGeom prst="line">
            <a:avLst/>
          </a:prstGeom>
          <a:noFill/>
          <a:ln w="12700">
            <a:solidFill>
              <a:srgbClr val="C3CCD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28" name="Shape 1028"/>
          <p:cNvSpPr/>
          <p:nvPr/>
        </p:nvSpPr>
        <p:spPr>
          <a:xfrm flipV="1">
            <a:off x="941832" y="3974348"/>
            <a:ext cx="559613" cy="26335"/>
          </a:xfrm>
          <a:prstGeom prst="line">
            <a:avLst/>
          </a:prstGeom>
          <a:noFill/>
          <a:ln w="22225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9" name="Shape 1029"/>
          <p:cNvSpPr/>
          <p:nvPr/>
        </p:nvSpPr>
        <p:spPr>
          <a:xfrm flipV="1">
            <a:off x="1501445" y="3948013"/>
            <a:ext cx="559613" cy="26335"/>
          </a:xfrm>
          <a:prstGeom prst="line">
            <a:avLst/>
          </a:prstGeom>
          <a:noFill/>
          <a:ln w="22225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0" name="Shape 1030"/>
          <p:cNvSpPr/>
          <p:nvPr/>
        </p:nvSpPr>
        <p:spPr>
          <a:xfrm flipV="1">
            <a:off x="2061058" y="3921679"/>
            <a:ext cx="559613" cy="26335"/>
          </a:xfrm>
          <a:prstGeom prst="line">
            <a:avLst/>
          </a:prstGeom>
          <a:noFill/>
          <a:ln w="22225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1" name="Shape 1031"/>
          <p:cNvSpPr/>
          <p:nvPr/>
        </p:nvSpPr>
        <p:spPr>
          <a:xfrm flipV="1">
            <a:off x="2620670" y="3882177"/>
            <a:ext cx="559613" cy="39502"/>
          </a:xfrm>
          <a:prstGeom prst="line">
            <a:avLst/>
          </a:prstGeom>
          <a:noFill/>
          <a:ln w="22225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2" name="Shape 1032"/>
          <p:cNvSpPr/>
          <p:nvPr/>
        </p:nvSpPr>
        <p:spPr>
          <a:xfrm flipV="1">
            <a:off x="3180283" y="3829507"/>
            <a:ext cx="559613" cy="52669"/>
          </a:xfrm>
          <a:prstGeom prst="line">
            <a:avLst/>
          </a:prstGeom>
          <a:noFill/>
          <a:ln w="22225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3" name="Shape 1033"/>
          <p:cNvSpPr/>
          <p:nvPr/>
        </p:nvSpPr>
        <p:spPr>
          <a:xfrm>
            <a:off x="914400" y="3973251"/>
            <a:ext cx="54864" cy="54864"/>
          </a:xfrm>
          <a:prstGeom prst="ellipse">
            <a:avLst/>
          </a:prstGeom>
          <a:solidFill>
            <a:srgbClr val="2E5FA3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4" name="Shape 1034"/>
          <p:cNvSpPr/>
          <p:nvPr/>
        </p:nvSpPr>
        <p:spPr>
          <a:xfrm>
            <a:off x="1474013" y="3946916"/>
            <a:ext cx="54864" cy="54864"/>
          </a:xfrm>
          <a:prstGeom prst="ellipse">
            <a:avLst/>
          </a:prstGeom>
          <a:solidFill>
            <a:srgbClr val="2E5FA3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5" name="Shape 1035"/>
          <p:cNvSpPr/>
          <p:nvPr/>
        </p:nvSpPr>
        <p:spPr>
          <a:xfrm>
            <a:off x="2033626" y="3920581"/>
            <a:ext cx="54864" cy="54864"/>
          </a:xfrm>
          <a:prstGeom prst="ellipse">
            <a:avLst/>
          </a:prstGeom>
          <a:solidFill>
            <a:srgbClr val="2E5FA3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6" name="Shape 1036"/>
          <p:cNvSpPr/>
          <p:nvPr/>
        </p:nvSpPr>
        <p:spPr>
          <a:xfrm>
            <a:off x="2593238" y="3894247"/>
            <a:ext cx="54864" cy="54864"/>
          </a:xfrm>
          <a:prstGeom prst="ellipse">
            <a:avLst/>
          </a:prstGeom>
          <a:solidFill>
            <a:srgbClr val="2E5FA3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7" name="Shape 1037"/>
          <p:cNvSpPr/>
          <p:nvPr/>
        </p:nvSpPr>
        <p:spPr>
          <a:xfrm>
            <a:off x="3152851" y="3854745"/>
            <a:ext cx="54864" cy="54864"/>
          </a:xfrm>
          <a:prstGeom prst="ellipse">
            <a:avLst/>
          </a:prstGeom>
          <a:solidFill>
            <a:srgbClr val="2E5FA3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8" name="Shape 1038"/>
          <p:cNvSpPr/>
          <p:nvPr/>
        </p:nvSpPr>
        <p:spPr>
          <a:xfrm>
            <a:off x="3698748" y="3788359"/>
            <a:ext cx="82296" cy="82296"/>
          </a:xfrm>
          <a:prstGeom prst="ellipse">
            <a:avLst/>
          </a:prstGeom>
          <a:solidFill>
            <a:srgbClr val="D02C8C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9" name="Text 1039"/>
          <p:cNvSpPr/>
          <p:nvPr/>
        </p:nvSpPr>
        <p:spPr>
          <a:xfrm>
            <a:off x="850392" y="3456432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50" b="1">
                <a:solidFill>
                  <a:srgbClr val="1F3D6B"/>
                </a:solidFill>
              </a:rPr>
              <a:t>46%  MoM +1.4pt  YoY +3.2pt</a:t>
            </a:r>
            <a:endParaRPr lang="en-US" sz="650"/>
          </a:p>
        </p:txBody>
      </p:sp>
      <p:sp>
        <p:nvSpPr>
          <p:cNvPr id="1040" name="Text 1040"/>
          <p:cNvSpPr/>
          <p:nvPr/>
        </p:nvSpPr>
        <p:spPr>
          <a:xfrm>
            <a:off x="758952" y="4361688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0">
                <a:solidFill>
                  <a:srgbClr val="8A94A6"/>
                </a:solidFill>
              </a:rPr>
              <a:t>Apr</a:t>
            </a:r>
            <a:endParaRPr lang="en-US" sz="650"/>
          </a:p>
        </p:txBody>
      </p:sp>
      <p:sp>
        <p:nvSpPr>
          <p:cNvPr id="1041" name="Text 1041"/>
          <p:cNvSpPr/>
          <p:nvPr/>
        </p:nvSpPr>
        <p:spPr>
          <a:xfrm>
            <a:off x="1318565" y="4361688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0">
                <a:solidFill>
                  <a:srgbClr val="8A94A6"/>
                </a:solidFill>
              </a:rPr>
              <a:t>May</a:t>
            </a:r>
            <a:endParaRPr lang="en-US" sz="650"/>
          </a:p>
        </p:txBody>
      </p:sp>
      <p:sp>
        <p:nvSpPr>
          <p:cNvPr id="1042" name="Text 1042"/>
          <p:cNvSpPr/>
          <p:nvPr/>
        </p:nvSpPr>
        <p:spPr>
          <a:xfrm>
            <a:off x="1878178" y="4361688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0">
                <a:solidFill>
                  <a:srgbClr val="8A94A6"/>
                </a:solidFill>
              </a:rPr>
              <a:t>Jun</a:t>
            </a:r>
            <a:endParaRPr lang="en-US" sz="650"/>
          </a:p>
        </p:txBody>
      </p:sp>
      <p:sp>
        <p:nvSpPr>
          <p:cNvPr id="1043" name="Text 1043"/>
          <p:cNvSpPr/>
          <p:nvPr/>
        </p:nvSpPr>
        <p:spPr>
          <a:xfrm>
            <a:off x="2437790" y="4361688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0">
                <a:solidFill>
                  <a:srgbClr val="8A94A6"/>
                </a:solidFill>
              </a:rPr>
              <a:t>Jul</a:t>
            </a:r>
            <a:endParaRPr lang="en-US" sz="650"/>
          </a:p>
        </p:txBody>
      </p:sp>
      <p:sp>
        <p:nvSpPr>
          <p:cNvPr id="1044" name="Text 1044"/>
          <p:cNvSpPr/>
          <p:nvPr/>
        </p:nvSpPr>
        <p:spPr>
          <a:xfrm>
            <a:off x="2997403" y="4361688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0">
                <a:solidFill>
                  <a:srgbClr val="8A94A6"/>
                </a:solidFill>
              </a:rPr>
              <a:t>Aug</a:t>
            </a:r>
            <a:endParaRPr lang="en-US" sz="650"/>
          </a:p>
        </p:txBody>
      </p:sp>
      <p:sp>
        <p:nvSpPr>
          <p:cNvPr id="1045" name="Text 1045"/>
          <p:cNvSpPr/>
          <p:nvPr/>
        </p:nvSpPr>
        <p:spPr>
          <a:xfrm>
            <a:off x="3557016" y="4361688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0">
                <a:solidFill>
                  <a:srgbClr val="8A94A6"/>
                </a:solidFill>
              </a:rPr>
              <a:t>Sep</a:t>
            </a:r>
            <a:endParaRPr lang="en-US" sz="650"/>
          </a:p>
        </p:txBody>
      </p:sp>
      <p:sp>
        <p:nvSpPr>
          <p:cNvPr id="1046" name="Shape 1046"/>
          <p:cNvSpPr/>
          <p:nvPr/>
        </p:nvSpPr>
        <p:spPr>
          <a:xfrm>
            <a:off x="777240" y="4553712"/>
            <a:ext cx="566928" cy="164592"/>
          </a:xfrm>
          <a:prstGeom prst="roundRect">
            <a:avLst>
              <a:gd name="adj" fmla="val 25000"/>
            </a:avLst>
          </a:prstGeom>
          <a:solidFill>
            <a:srgbClr val="E8F0FA"/>
          </a:solidFill>
          <a:ln w="12700">
            <a:solidFill>
              <a:srgbClr val="E8F0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7" name="Text 1047"/>
          <p:cNvSpPr/>
          <p:nvPr/>
        </p:nvSpPr>
        <p:spPr>
          <a:xfrm>
            <a:off x="777240" y="4581144"/>
            <a:ext cx="56692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1">
                <a:solidFill>
                  <a:srgbClr val="2E5FA3"/>
                </a:solidFill>
              </a:rPr>
              <a:t>Actual</a:t>
            </a:r>
            <a:endParaRPr lang="en-US" sz="650"/>
          </a:p>
        </p:txBody>
      </p:sp>
      <p:sp>
        <p:nvSpPr>
          <p:cNvPr id="1048" name="Shape 1048"/>
          <p:cNvSpPr/>
          <p:nvPr/>
        </p:nvSpPr>
        <p:spPr>
          <a:xfrm>
            <a:off x="1399032" y="4553712"/>
            <a:ext cx="658368" cy="164592"/>
          </a:xfrm>
          <a:prstGeom prst="roundRect">
            <a:avLst>
              <a:gd name="adj" fmla="val 25000"/>
            </a:avLst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9" name="Text 1049"/>
          <p:cNvSpPr/>
          <p:nvPr/>
        </p:nvSpPr>
        <p:spPr>
          <a:xfrm>
            <a:off x="1399032" y="4581144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1">
                <a:solidFill>
                  <a:srgbClr val="8A94A6"/>
                </a:solidFill>
              </a:rPr>
              <a:t>Last year</a:t>
            </a:r>
            <a:endParaRPr lang="en-US" sz="650"/>
          </a:p>
        </p:txBody>
      </p:sp>
      <p:sp>
        <p:nvSpPr>
          <p:cNvPr id="1050" name="Text 1050"/>
          <p:cNvSpPr/>
          <p:nvPr/>
        </p:nvSpPr>
        <p:spPr>
          <a:xfrm>
            <a:off x="2148840" y="4553712"/>
            <a:ext cx="1755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50" b="0">
                <a:solidFill>
                  <a:srgbClr val="8A94A6"/>
                </a:solidFill>
              </a:rPr>
              <a:t>Click a point → L2 Repeat Ratio</a:t>
            </a:r>
            <a:endParaRPr lang="en-US" sz="650"/>
          </a:p>
        </p:txBody>
      </p:sp>
      <p:sp>
        <p:nvSpPr>
          <p:cNvPr id="1051" name="Text 1051"/>
          <p:cNvSpPr/>
          <p:nvPr/>
        </p:nvSpPr>
        <p:spPr>
          <a:xfrm>
            <a:off x="4462272" y="3401568"/>
            <a:ext cx="1188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00" b="1">
                <a:solidFill>
                  <a:srgbClr val="8A94A6"/>
                </a:solidFill>
              </a:rPr>
              <a:t>SEGMENT</a:t>
            </a:r>
            <a:endParaRPr lang="en-US" sz="600"/>
          </a:p>
        </p:txBody>
      </p:sp>
      <p:sp>
        <p:nvSpPr>
          <p:cNvPr id="1052" name="Text 1052"/>
          <p:cNvSpPr/>
          <p:nvPr/>
        </p:nvSpPr>
        <p:spPr>
          <a:xfrm>
            <a:off x="6995160" y="3401568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00" b="1">
                <a:solidFill>
                  <a:srgbClr val="8A94A6"/>
                </a:solidFill>
              </a:rPr>
              <a:t>MoM pt</a:t>
            </a:r>
            <a:endParaRPr lang="en-US" sz="600"/>
          </a:p>
        </p:txBody>
      </p:sp>
      <p:sp>
        <p:nvSpPr>
          <p:cNvPr id="1053" name="Text 1053"/>
          <p:cNvSpPr/>
          <p:nvPr/>
        </p:nvSpPr>
        <p:spPr>
          <a:xfrm>
            <a:off x="4462272" y="3547872"/>
            <a:ext cx="1234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0">
                <a:solidFill>
                  <a:srgbClr val="1F3D6B"/>
                </a:solidFill>
              </a:rPr>
              <a:t>Age 30-39</a:t>
            </a:r>
            <a:endParaRPr lang="en-US" sz="700"/>
          </a:p>
        </p:txBody>
      </p:sp>
      <p:sp>
        <p:nvSpPr>
          <p:cNvPr id="1054" name="Shape 1054"/>
          <p:cNvSpPr/>
          <p:nvPr/>
        </p:nvSpPr>
        <p:spPr>
          <a:xfrm>
            <a:off x="5504688" y="3557016"/>
            <a:ext cx="1572768" cy="118872"/>
          </a:xfrm>
          <a:prstGeom prst="rect">
            <a:avLst/>
          </a:prstGeom>
          <a:solidFill>
            <a:srgbClr val="EDF1F6"/>
          </a:solidFill>
          <a:ln w="6350">
            <a:solidFill>
              <a:srgbClr val="EDF1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5" name="Shape 1055"/>
          <p:cNvSpPr/>
          <p:nvPr/>
        </p:nvSpPr>
        <p:spPr>
          <a:xfrm>
            <a:off x="5504688" y="3557016"/>
            <a:ext cx="1415491" cy="118872"/>
          </a:xfrm>
          <a:prstGeom prst="rect">
            <a:avLst/>
          </a:prstGeom>
          <a:solidFill>
            <a:srgbClr val="1E8E5A"/>
          </a:solidFill>
          <a:ln w="6350">
            <a:solidFill>
              <a:srgbClr val="1E8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6" name="Text 1056"/>
          <p:cNvSpPr/>
          <p:nvPr/>
        </p:nvSpPr>
        <p:spPr>
          <a:xfrm>
            <a:off x="6995160" y="3547872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b="1">
                <a:solidFill>
                  <a:srgbClr val="1E8E5A"/>
                </a:solidFill>
              </a:rPr>
              <a:t>+3.6pt</a:t>
            </a:r>
            <a:endParaRPr lang="en-US" sz="700"/>
          </a:p>
        </p:txBody>
      </p:sp>
      <p:sp>
        <p:nvSpPr>
          <p:cNvPr id="1057" name="Text 1057"/>
          <p:cNvSpPr/>
          <p:nvPr/>
        </p:nvSpPr>
        <p:spPr>
          <a:xfrm>
            <a:off x="4462272" y="3785616"/>
            <a:ext cx="1234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0">
                <a:solidFill>
                  <a:srgbClr val="1F3D6B"/>
                </a:solidFill>
              </a:rPr>
              <a:t>App users</a:t>
            </a:r>
            <a:endParaRPr lang="en-US" sz="700"/>
          </a:p>
        </p:txBody>
      </p:sp>
      <p:sp>
        <p:nvSpPr>
          <p:cNvPr id="1058" name="Shape 1058"/>
          <p:cNvSpPr/>
          <p:nvPr/>
        </p:nvSpPr>
        <p:spPr>
          <a:xfrm>
            <a:off x="5504688" y="3794760"/>
            <a:ext cx="1572768" cy="118872"/>
          </a:xfrm>
          <a:prstGeom prst="rect">
            <a:avLst/>
          </a:prstGeom>
          <a:solidFill>
            <a:srgbClr val="EDF1F6"/>
          </a:solidFill>
          <a:ln w="6350">
            <a:solidFill>
              <a:srgbClr val="EDF1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9" name="Shape 1059"/>
          <p:cNvSpPr/>
          <p:nvPr/>
        </p:nvSpPr>
        <p:spPr>
          <a:xfrm>
            <a:off x="5504688" y="3794760"/>
            <a:ext cx="1140257" cy="118872"/>
          </a:xfrm>
          <a:prstGeom prst="rect">
            <a:avLst/>
          </a:prstGeom>
          <a:solidFill>
            <a:srgbClr val="1E8E5A"/>
          </a:solidFill>
          <a:ln w="6350">
            <a:solidFill>
              <a:srgbClr val="1E8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0" name="Text 1060"/>
          <p:cNvSpPr/>
          <p:nvPr/>
        </p:nvSpPr>
        <p:spPr>
          <a:xfrm>
            <a:off x="6995160" y="3785616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b="1">
                <a:solidFill>
                  <a:srgbClr val="1E8E5A"/>
                </a:solidFill>
              </a:rPr>
              <a:t>+2.9pt</a:t>
            </a:r>
            <a:endParaRPr lang="en-US" sz="700"/>
          </a:p>
        </p:txBody>
      </p:sp>
      <p:sp>
        <p:nvSpPr>
          <p:cNvPr id="1061" name="Text 1061"/>
          <p:cNvSpPr/>
          <p:nvPr/>
        </p:nvSpPr>
        <p:spPr>
          <a:xfrm>
            <a:off x="4462272" y="4023360"/>
            <a:ext cx="1234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0">
                <a:solidFill>
                  <a:srgbClr val="1F3D6B"/>
                </a:solidFill>
              </a:rPr>
              <a:t>Food category</a:t>
            </a:r>
            <a:endParaRPr lang="en-US" sz="700"/>
          </a:p>
        </p:txBody>
      </p:sp>
      <p:sp>
        <p:nvSpPr>
          <p:cNvPr id="1062" name="Shape 1062"/>
          <p:cNvSpPr/>
          <p:nvPr/>
        </p:nvSpPr>
        <p:spPr>
          <a:xfrm>
            <a:off x="5504688" y="4032504"/>
            <a:ext cx="1572768" cy="118872"/>
          </a:xfrm>
          <a:prstGeom prst="rect">
            <a:avLst/>
          </a:prstGeom>
          <a:solidFill>
            <a:srgbClr val="EDF1F6"/>
          </a:solidFill>
          <a:ln w="6350">
            <a:solidFill>
              <a:srgbClr val="EDF1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3" name="Shape 1063"/>
          <p:cNvSpPr/>
          <p:nvPr/>
        </p:nvSpPr>
        <p:spPr>
          <a:xfrm>
            <a:off x="5504688" y="4032504"/>
            <a:ext cx="865022" cy="118872"/>
          </a:xfrm>
          <a:prstGeom prst="rect">
            <a:avLst/>
          </a:prstGeom>
          <a:solidFill>
            <a:srgbClr val="1E8E5A"/>
          </a:solidFill>
          <a:ln w="6350">
            <a:solidFill>
              <a:srgbClr val="1E8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4" name="Text 1064"/>
          <p:cNvSpPr/>
          <p:nvPr/>
        </p:nvSpPr>
        <p:spPr>
          <a:xfrm>
            <a:off x="6995160" y="4023360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b="1">
                <a:solidFill>
                  <a:srgbClr val="1E8E5A"/>
                </a:solidFill>
              </a:rPr>
              <a:t>+2.2pt</a:t>
            </a:r>
            <a:endParaRPr lang="en-US" sz="700"/>
          </a:p>
        </p:txBody>
      </p:sp>
      <p:sp>
        <p:nvSpPr>
          <p:cNvPr id="1065" name="Text 1065"/>
          <p:cNvSpPr/>
          <p:nvPr/>
        </p:nvSpPr>
        <p:spPr>
          <a:xfrm>
            <a:off x="4462272" y="4261104"/>
            <a:ext cx="1234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0">
                <a:solidFill>
                  <a:srgbClr val="4A5568"/>
                </a:solidFill>
              </a:rPr>
              <a:t>Age 50+</a:t>
            </a:r>
            <a:endParaRPr lang="en-US" sz="700"/>
          </a:p>
        </p:txBody>
      </p:sp>
      <p:sp>
        <p:nvSpPr>
          <p:cNvPr id="1066" name="Shape 1066"/>
          <p:cNvSpPr/>
          <p:nvPr/>
        </p:nvSpPr>
        <p:spPr>
          <a:xfrm>
            <a:off x="5504688" y="4270248"/>
            <a:ext cx="1572768" cy="118872"/>
          </a:xfrm>
          <a:prstGeom prst="rect">
            <a:avLst/>
          </a:prstGeom>
          <a:solidFill>
            <a:srgbClr val="EDF1F6"/>
          </a:solidFill>
          <a:ln w="6350">
            <a:solidFill>
              <a:srgbClr val="EDF1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7" name="Shape 1067"/>
          <p:cNvSpPr/>
          <p:nvPr/>
        </p:nvSpPr>
        <p:spPr>
          <a:xfrm>
            <a:off x="6723583" y="4270248"/>
            <a:ext cx="353873" cy="118872"/>
          </a:xfrm>
          <a:prstGeom prst="rect">
            <a:avLst/>
          </a:prstGeom>
          <a:solidFill>
            <a:srgbClr val="C0392B"/>
          </a:solidFill>
          <a:ln w="63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8" name="Text 1068"/>
          <p:cNvSpPr/>
          <p:nvPr/>
        </p:nvSpPr>
        <p:spPr>
          <a:xfrm>
            <a:off x="6995160" y="4261104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b="1">
                <a:solidFill>
                  <a:srgbClr val="C0392B"/>
                </a:solidFill>
              </a:rPr>
              <a:t>-0.9pt</a:t>
            </a:r>
            <a:endParaRPr lang="en-US" sz="700"/>
          </a:p>
        </p:txBody>
      </p:sp>
      <p:sp>
        <p:nvSpPr>
          <p:cNvPr id="1069" name="Text 1069"/>
          <p:cNvSpPr/>
          <p:nvPr/>
        </p:nvSpPr>
        <p:spPr>
          <a:xfrm>
            <a:off x="4462272" y="4498848"/>
            <a:ext cx="1234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0">
                <a:solidFill>
                  <a:srgbClr val="4A5568"/>
                </a:solidFill>
              </a:rPr>
              <a:t>Da Nang</a:t>
            </a:r>
            <a:endParaRPr lang="en-US" sz="700"/>
          </a:p>
        </p:txBody>
      </p:sp>
      <p:sp>
        <p:nvSpPr>
          <p:cNvPr id="1070" name="Shape 1070"/>
          <p:cNvSpPr/>
          <p:nvPr/>
        </p:nvSpPr>
        <p:spPr>
          <a:xfrm>
            <a:off x="5504688" y="4507992"/>
            <a:ext cx="1572768" cy="118872"/>
          </a:xfrm>
          <a:prstGeom prst="rect">
            <a:avLst/>
          </a:prstGeom>
          <a:solidFill>
            <a:srgbClr val="EDF1F6"/>
          </a:solidFill>
          <a:ln w="6350">
            <a:solidFill>
              <a:srgbClr val="EDF1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1" name="Shape 1071"/>
          <p:cNvSpPr/>
          <p:nvPr/>
        </p:nvSpPr>
        <p:spPr>
          <a:xfrm>
            <a:off x="6487668" y="4507992"/>
            <a:ext cx="589788" cy="118872"/>
          </a:xfrm>
          <a:prstGeom prst="rect">
            <a:avLst/>
          </a:prstGeom>
          <a:solidFill>
            <a:srgbClr val="C0392B"/>
          </a:solidFill>
          <a:ln w="63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2" name="Text 1072"/>
          <p:cNvSpPr/>
          <p:nvPr/>
        </p:nvSpPr>
        <p:spPr>
          <a:xfrm>
            <a:off x="6995160" y="4498848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b="1">
                <a:solidFill>
                  <a:srgbClr val="C0392B"/>
                </a:solidFill>
              </a:rPr>
              <a:t>-1.5pt</a:t>
            </a:r>
            <a:endParaRPr lang="en-US" sz="700"/>
          </a:p>
        </p:txBody>
      </p:sp>
      <p:sp>
        <p:nvSpPr>
          <p:cNvPr id="1073" name="Text 1073"/>
          <p:cNvSpPr/>
          <p:nvPr/>
        </p:nvSpPr>
        <p:spPr>
          <a:xfrm>
            <a:off x="4462272" y="4736592"/>
            <a:ext cx="32369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50" b="0">
                <a:solidFill>
                  <a:srgbClr val="8A94A6"/>
                </a:solidFill>
              </a:rPr>
              <a:t>Click a bar → opens L2 with that segment applied</a:t>
            </a:r>
            <a:endParaRPr lang="en-US" sz="650"/>
          </a:p>
        </p:txBody>
      </p:sp>
      <p:sp>
        <p:nvSpPr>
          <p:cNvPr id="1074" name="Shape 1074"/>
          <p:cNvSpPr/>
          <p:nvPr/>
        </p:nvSpPr>
        <p:spPr>
          <a:xfrm>
            <a:off x="8211312" y="3401568"/>
            <a:ext cx="3236976" cy="384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5" name="Shape 1075"/>
          <p:cNvSpPr/>
          <p:nvPr/>
        </p:nvSpPr>
        <p:spPr>
          <a:xfrm>
            <a:off x="8211312" y="3401568"/>
            <a:ext cx="36576" cy="384048"/>
          </a:xfrm>
          <a:prstGeom prst="rect">
            <a:avLst/>
          </a:prstGeom>
          <a:solidFill>
            <a:srgbClr val="C0392B"/>
          </a:solidFill>
          <a:ln w="63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6" name="Shape 1076"/>
          <p:cNvSpPr/>
          <p:nvPr/>
        </p:nvSpPr>
        <p:spPr>
          <a:xfrm>
            <a:off x="8311896" y="3456432"/>
            <a:ext cx="420624" cy="146304"/>
          </a:xfrm>
          <a:prstGeom prst="roundRect">
            <a:avLst>
              <a:gd name="adj" fmla="val 25000"/>
            </a:avLst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7" name="Text 1077"/>
          <p:cNvSpPr/>
          <p:nvPr/>
        </p:nvSpPr>
        <p:spPr>
          <a:xfrm>
            <a:off x="8311896" y="3474720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00" b="1">
                <a:solidFill>
                  <a:srgbClr val="C0392B"/>
                </a:solidFill>
              </a:rPr>
              <a:t>HIGH</a:t>
            </a:r>
            <a:endParaRPr lang="en-US" sz="600"/>
          </a:p>
        </p:txBody>
      </p:sp>
      <p:sp>
        <p:nvSpPr>
          <p:cNvPr id="1078" name="Text 1078"/>
          <p:cNvSpPr/>
          <p:nvPr/>
        </p:nvSpPr>
        <p:spPr>
          <a:xfrm>
            <a:off x="8787384" y="3447288"/>
            <a:ext cx="2606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>
                <a:solidFill>
                  <a:srgbClr val="1F3D6B"/>
                </a:solidFill>
              </a:rPr>
              <a:t>Da Nang repeat -1.5pt</a:t>
            </a:r>
            <a:endParaRPr lang="en-US" sz="750"/>
          </a:p>
        </p:txBody>
      </p:sp>
      <p:sp>
        <p:nvSpPr>
          <p:cNvPr id="1079" name="Text 1079"/>
          <p:cNvSpPr/>
          <p:nvPr/>
        </p:nvSpPr>
        <p:spPr>
          <a:xfrm>
            <a:off x="8787384" y="3611880"/>
            <a:ext cx="2606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50" b="0">
                <a:solidFill>
                  <a:srgbClr val="8A94A6"/>
                </a:solidFill>
              </a:rPr>
              <a:t>Third consecutive month of decline</a:t>
            </a:r>
            <a:endParaRPr lang="en-US" sz="650"/>
          </a:p>
        </p:txBody>
      </p:sp>
      <p:sp>
        <p:nvSpPr>
          <p:cNvPr id="1080" name="Shape 1080"/>
          <p:cNvSpPr/>
          <p:nvPr/>
        </p:nvSpPr>
        <p:spPr>
          <a:xfrm>
            <a:off x="8211312" y="3831336"/>
            <a:ext cx="3236976" cy="384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1" name="Shape 1081"/>
          <p:cNvSpPr/>
          <p:nvPr/>
        </p:nvSpPr>
        <p:spPr>
          <a:xfrm>
            <a:off x="8211312" y="3831336"/>
            <a:ext cx="36576" cy="384048"/>
          </a:xfrm>
          <a:prstGeom prst="rect">
            <a:avLst/>
          </a:prstGeom>
          <a:solidFill>
            <a:srgbClr val="C77700"/>
          </a:solidFill>
          <a:ln w="6350">
            <a:solidFill>
              <a:srgbClr val="C77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2" name="Shape 1082"/>
          <p:cNvSpPr/>
          <p:nvPr/>
        </p:nvSpPr>
        <p:spPr>
          <a:xfrm>
            <a:off x="8311896" y="3886200"/>
            <a:ext cx="420624" cy="146304"/>
          </a:xfrm>
          <a:prstGeom prst="roundRect">
            <a:avLst>
              <a:gd name="adj" fmla="val 25000"/>
            </a:avLst>
          </a:prstGeom>
          <a:solidFill>
            <a:srgbClr val="FDF3E3"/>
          </a:solidFill>
          <a:ln w="12700">
            <a:solidFill>
              <a:srgbClr val="FDF3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3" name="Text 1083"/>
          <p:cNvSpPr/>
          <p:nvPr/>
        </p:nvSpPr>
        <p:spPr>
          <a:xfrm>
            <a:off x="8311896" y="3904488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00" b="1">
                <a:solidFill>
                  <a:srgbClr val="C77700"/>
                </a:solidFill>
              </a:rPr>
              <a:t>MED</a:t>
            </a:r>
            <a:endParaRPr lang="en-US" sz="600"/>
          </a:p>
        </p:txBody>
      </p:sp>
      <p:sp>
        <p:nvSpPr>
          <p:cNvPr id="1084" name="Text 1084"/>
          <p:cNvSpPr/>
          <p:nvPr/>
        </p:nvSpPr>
        <p:spPr>
          <a:xfrm>
            <a:off x="8787384" y="3877056"/>
            <a:ext cx="2606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>
                <a:solidFill>
                  <a:srgbClr val="1F3D6B"/>
                </a:solidFill>
              </a:rPr>
              <a:t>Age 50+ repeat -0.9pt</a:t>
            </a:r>
            <a:endParaRPr lang="en-US" sz="750"/>
          </a:p>
        </p:txBody>
      </p:sp>
      <p:sp>
        <p:nvSpPr>
          <p:cNvPr id="1085" name="Text 1085"/>
          <p:cNvSpPr/>
          <p:nvPr/>
        </p:nvSpPr>
        <p:spPr>
          <a:xfrm>
            <a:off x="8787384" y="4041648"/>
            <a:ext cx="2606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50" b="0">
                <a:solidFill>
                  <a:srgbClr val="8A94A6"/>
                </a:solidFill>
              </a:rPr>
              <a:t>Review communication frequency</a:t>
            </a:r>
            <a:endParaRPr lang="en-US" sz="650"/>
          </a:p>
        </p:txBody>
      </p:sp>
      <p:sp>
        <p:nvSpPr>
          <p:cNvPr id="1086" name="Shape 1086"/>
          <p:cNvSpPr/>
          <p:nvPr/>
        </p:nvSpPr>
        <p:spPr>
          <a:xfrm>
            <a:off x="8211312" y="4261104"/>
            <a:ext cx="3236976" cy="384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7" name="Shape 1087"/>
          <p:cNvSpPr/>
          <p:nvPr/>
        </p:nvSpPr>
        <p:spPr>
          <a:xfrm>
            <a:off x="8211312" y="4261104"/>
            <a:ext cx="36576" cy="384048"/>
          </a:xfrm>
          <a:prstGeom prst="rect">
            <a:avLst/>
          </a:prstGeom>
          <a:solidFill>
            <a:srgbClr val="2E5FA3"/>
          </a:solidFill>
          <a:ln w="635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8" name="Shape 1088"/>
          <p:cNvSpPr/>
          <p:nvPr/>
        </p:nvSpPr>
        <p:spPr>
          <a:xfrm>
            <a:off x="8311896" y="4315968"/>
            <a:ext cx="420624" cy="146304"/>
          </a:xfrm>
          <a:prstGeom prst="roundRect">
            <a:avLst>
              <a:gd name="adj" fmla="val 25000"/>
            </a:avLst>
          </a:prstGeom>
          <a:solidFill>
            <a:srgbClr val="E8F0FA"/>
          </a:solidFill>
          <a:ln w="12700">
            <a:solidFill>
              <a:srgbClr val="E8F0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9" name="Text 1089"/>
          <p:cNvSpPr/>
          <p:nvPr/>
        </p:nvSpPr>
        <p:spPr>
          <a:xfrm>
            <a:off x="8311896" y="4334256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00" b="1">
                <a:solidFill>
                  <a:srgbClr val="2E5FA3"/>
                </a:solidFill>
              </a:rPr>
              <a:t>INFO</a:t>
            </a:r>
            <a:endParaRPr lang="en-US" sz="600"/>
          </a:p>
        </p:txBody>
      </p:sp>
      <p:sp>
        <p:nvSpPr>
          <p:cNvPr id="1090" name="Text 1090"/>
          <p:cNvSpPr/>
          <p:nvPr/>
        </p:nvSpPr>
        <p:spPr>
          <a:xfrm>
            <a:off x="8787384" y="4306824"/>
            <a:ext cx="2606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>
                <a:solidFill>
                  <a:srgbClr val="1F3D6B"/>
                </a:solidFill>
              </a:rPr>
              <a:t>Repeat ratio +1.4pt</a:t>
            </a:r>
            <a:endParaRPr lang="en-US" sz="750"/>
          </a:p>
        </p:txBody>
      </p:sp>
      <p:sp>
        <p:nvSpPr>
          <p:cNvPr id="1091" name="Text 1091"/>
          <p:cNvSpPr/>
          <p:nvPr/>
        </p:nvSpPr>
        <p:spPr>
          <a:xfrm>
            <a:off x="8787384" y="4471416"/>
            <a:ext cx="2606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50" b="0">
                <a:solidFill>
                  <a:srgbClr val="8A94A6"/>
                </a:solidFill>
              </a:rPr>
              <a:t>Loyal member base expanding steadily</a:t>
            </a:r>
            <a:endParaRPr lang="en-US" sz="650"/>
          </a:p>
        </p:txBody>
      </p:sp>
      <p:sp>
        <p:nvSpPr>
          <p:cNvPr id="1092" name="Text 1092"/>
          <p:cNvSpPr/>
          <p:nvPr/>
        </p:nvSpPr>
        <p:spPr>
          <a:xfrm>
            <a:off x="8211312" y="4718304"/>
            <a:ext cx="32369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50" b="0">
                <a:solidFill>
                  <a:srgbClr val="8A94A6"/>
                </a:solidFill>
              </a:rPr>
              <a:t>Click an alert → opens L2 with the filter applied</a:t>
            </a:r>
            <a:endParaRPr lang="en-US" sz="650"/>
          </a:p>
        </p:txBody>
      </p:sp>
      <p:sp>
        <p:nvSpPr>
          <p:cNvPr id="1093" name="Shape 1093"/>
          <p:cNvSpPr/>
          <p:nvPr/>
        </p:nvSpPr>
        <p:spPr>
          <a:xfrm>
            <a:off x="10131552" y="1728216"/>
            <a:ext cx="1728216" cy="905256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D02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4" name="Shape 1094"/>
          <p:cNvSpPr/>
          <p:nvPr/>
        </p:nvSpPr>
        <p:spPr>
          <a:xfrm>
            <a:off x="11091672" y="2395728"/>
            <a:ext cx="658368" cy="173736"/>
          </a:xfrm>
          <a:prstGeom prst="roundRect">
            <a:avLst>
              <a:gd name="adj" fmla="val 25000"/>
            </a:avLst>
          </a:prstGeom>
          <a:solidFill>
            <a:srgbClr val="D02C8C"/>
          </a:solidFill>
          <a:ln w="12700">
            <a:solidFill>
              <a:srgbClr val="D02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5" name="Text 1095"/>
          <p:cNvSpPr/>
          <p:nvPr/>
        </p:nvSpPr>
        <p:spPr>
          <a:xfrm>
            <a:off x="11091672" y="2418588"/>
            <a:ext cx="6583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00" b="1">
                <a:solidFill>
                  <a:srgbClr val="FFFFFF"/>
                </a:solidFill>
              </a:rPr>
              <a:t>selected</a:t>
            </a:r>
            <a:endParaRPr lang="en-US" sz="600"/>
          </a:p>
        </p:txBody>
      </p:sp>
      <p:sp>
        <p:nvSpPr>
          <p:cNvPr id="8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8016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794">
                <a:solidFill>
                  <a:srgbClr val="8B95A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  <p:sp>
        <p:nvSpPr>
          <p:cNvPr id="101" name="Shape 101"/>
          <p:cNvSpPr/>
          <p:nvPr/>
        </p:nvSpPr>
        <p:spPr>
          <a:xfrm>
            <a:off x="2002536" y="1806552"/>
            <a:ext cx="182880" cy="182880"/>
          </a:xfrm>
          <a:prstGeom prst="ellipse">
            <a:avLst/>
          </a:prstGeom>
          <a:noFill/>
          <a:ln w="7620">
            <a:solidFill>
              <a:srgbClr val="B4C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 102"/>
          <p:cNvSpPr/>
          <p:nvPr/>
        </p:nvSpPr>
        <p:spPr>
          <a:xfrm>
            <a:off x="2002536" y="1806552"/>
            <a:ext cx="1828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6B7C93"/>
                </a:solidFill>
              </a:rPr>
              <a:t>i</a:t>
            </a:r>
            <a:endParaRPr lang="en-US" sz="900"/>
          </a:p>
        </p:txBody>
      </p:sp>
      <p:sp>
        <p:nvSpPr>
          <p:cNvPr id="103" name="Shape 103"/>
          <p:cNvSpPr/>
          <p:nvPr/>
        </p:nvSpPr>
        <p:spPr>
          <a:xfrm>
            <a:off x="3913632" y="1806552"/>
            <a:ext cx="182880" cy="182880"/>
          </a:xfrm>
          <a:prstGeom prst="ellipse">
            <a:avLst/>
          </a:prstGeom>
          <a:noFill/>
          <a:ln w="7620">
            <a:solidFill>
              <a:srgbClr val="B4C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Text 104"/>
          <p:cNvSpPr/>
          <p:nvPr/>
        </p:nvSpPr>
        <p:spPr>
          <a:xfrm>
            <a:off x="3913632" y="1806552"/>
            <a:ext cx="1828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6B7C93"/>
                </a:solidFill>
              </a:rPr>
              <a:t>i</a:t>
            </a:r>
            <a:endParaRPr lang="en-US" sz="900"/>
          </a:p>
        </p:txBody>
      </p:sp>
      <p:sp>
        <p:nvSpPr>
          <p:cNvPr id="105" name="Shape 105"/>
          <p:cNvSpPr/>
          <p:nvPr/>
        </p:nvSpPr>
        <p:spPr>
          <a:xfrm>
            <a:off x="5824728" y="1806552"/>
            <a:ext cx="182880" cy="182880"/>
          </a:xfrm>
          <a:prstGeom prst="ellipse">
            <a:avLst/>
          </a:prstGeom>
          <a:noFill/>
          <a:ln w="7620">
            <a:solidFill>
              <a:srgbClr val="B4C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Text 106"/>
          <p:cNvSpPr/>
          <p:nvPr/>
        </p:nvSpPr>
        <p:spPr>
          <a:xfrm>
            <a:off x="5824728" y="1806552"/>
            <a:ext cx="1828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6B7C93"/>
                </a:solidFill>
              </a:rPr>
              <a:t>i</a:t>
            </a:r>
            <a:endParaRPr lang="en-US" sz="900"/>
          </a:p>
        </p:txBody>
      </p:sp>
      <p:sp>
        <p:nvSpPr>
          <p:cNvPr id="107" name="Shape 107"/>
          <p:cNvSpPr/>
          <p:nvPr/>
        </p:nvSpPr>
        <p:spPr>
          <a:xfrm>
            <a:off x="7735824" y="1806552"/>
            <a:ext cx="182880" cy="182880"/>
          </a:xfrm>
          <a:prstGeom prst="ellipse">
            <a:avLst/>
          </a:prstGeom>
          <a:noFill/>
          <a:ln w="7620">
            <a:solidFill>
              <a:srgbClr val="B4C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Text 108"/>
          <p:cNvSpPr/>
          <p:nvPr/>
        </p:nvSpPr>
        <p:spPr>
          <a:xfrm>
            <a:off x="7735824" y="1806552"/>
            <a:ext cx="1828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6B7C93"/>
                </a:solidFill>
              </a:rPr>
              <a:t>i</a:t>
            </a:r>
            <a:endParaRPr lang="en-US" sz="900"/>
          </a:p>
        </p:txBody>
      </p:sp>
      <p:sp>
        <p:nvSpPr>
          <p:cNvPr id="109" name="Shape 109"/>
          <p:cNvSpPr/>
          <p:nvPr/>
        </p:nvSpPr>
        <p:spPr>
          <a:xfrm>
            <a:off x="9646920" y="1806552"/>
            <a:ext cx="182880" cy="182880"/>
          </a:xfrm>
          <a:prstGeom prst="ellipse">
            <a:avLst/>
          </a:prstGeom>
          <a:noFill/>
          <a:ln w="7620">
            <a:solidFill>
              <a:srgbClr val="B4C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Text 110"/>
          <p:cNvSpPr/>
          <p:nvPr/>
        </p:nvSpPr>
        <p:spPr>
          <a:xfrm>
            <a:off x="9646920" y="1806552"/>
            <a:ext cx="1828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6B7C93"/>
                </a:solidFill>
              </a:rPr>
              <a:t>i</a:t>
            </a:r>
            <a:endParaRPr lang="en-US" sz="900"/>
          </a:p>
        </p:txBody>
      </p:sp>
      <p:sp>
        <p:nvSpPr>
          <p:cNvPr id="111" name="Shape 111"/>
          <p:cNvSpPr/>
          <p:nvPr/>
        </p:nvSpPr>
        <p:spPr>
          <a:xfrm>
            <a:off x="11558016" y="1806552"/>
            <a:ext cx="182880" cy="182880"/>
          </a:xfrm>
          <a:prstGeom prst="ellipse">
            <a:avLst/>
          </a:prstGeom>
          <a:noFill/>
          <a:ln w="7620">
            <a:solidFill>
              <a:srgbClr val="B4C4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Text 112"/>
          <p:cNvSpPr/>
          <p:nvPr/>
        </p:nvSpPr>
        <p:spPr>
          <a:xfrm>
            <a:off x="11558016" y="1806552"/>
            <a:ext cx="1828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6B7C93"/>
                </a:solidFill>
              </a:rPr>
              <a:t>i</a:t>
            </a:r>
            <a:endParaRPr lang="en-US" sz="900"/>
          </a:p>
        </p:txBody>
      </p:sp>
      <p:sp>
        <p:nvSpPr>
          <p:cNvPr id="113" name="Shape 113"/>
          <p:cNvSpPr/>
          <p:nvPr/>
        </p:nvSpPr>
        <p:spPr>
          <a:xfrm>
            <a:off x="594360" y="4980000"/>
            <a:ext cx="11247120" cy="1200000"/>
          </a:xfrm>
          <a:prstGeom prst="roundRect">
            <a:avLst>
              <a:gd name="adj" fmla="val 4000"/>
            </a:avLst>
          </a:prstGeom>
          <a:solidFill>
            <a:srgbClr val="F6F8FB"/>
          </a:solidFill>
          <a:ln w="7620">
            <a:solidFill>
              <a:srgbClr val="D8E1EA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4" name="Shape 114"/>
          <p:cNvSpPr/>
          <p:nvPr/>
        </p:nvSpPr>
        <p:spPr>
          <a:xfrm>
            <a:off x="594360" y="4980000"/>
            <a:ext cx="45720" cy="1200000"/>
          </a:xfrm>
          <a:prstGeom prst="rect">
            <a:avLst/>
          </a:prstGeom>
          <a:solidFill>
            <a:srgbClr val="2E5FA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5" name="Text 115"/>
          <p:cNvSpPr/>
          <p:nvPr/>
        </p:nvSpPr>
        <p:spPr>
          <a:xfrm>
            <a:off x="713232" y="5062296"/>
            <a:ext cx="60000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86" b="1">
                <a:solidFill>
                  <a:srgbClr val="1F3D6B"/>
                </a:solidFill>
              </a:rPr>
              <a:t>Hover Tooltip · Metric Definition</a:t>
            </a:r>
            <a:endParaRPr lang="en-US" sz="1286"/>
          </a:p>
        </p:txBody>
      </p:sp>
      <p:sp>
        <p:nvSpPr>
          <p:cNvPr id="116" name="Text 116"/>
          <p:cNvSpPr/>
          <p:nvPr/>
        </p:nvSpPr>
        <p:spPr>
          <a:xfrm>
            <a:off x="713232" y="5300000"/>
            <a:ext cx="10900000" cy="780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31">
                <a:solidFill>
                  <a:srgbClr val="4A5568"/>
                </a:solidFill>
              </a:rPr>
              <a:t>Repeat Ratio — Members with two or more purchases in the selected period.</a:t>
            </a:r>
            <a:endParaRPr lang="en-US" sz="1031"/>
          </a:p>
          <a:p>
            <a:pPr marL="0" indent="0">
              <a:buNone/>
            </a:pPr>
            <a:r>
              <a:rPr lang="en-US" sz="1031">
                <a:solidFill>
                  <a:srgbClr val="4A5568"/>
                </a:solidFill>
              </a:rPr>
              <a:t>Formula: repeat_member_count ÷ purchasing_members   ·   Source: agg_segment_daily   ·   Updated daily 06:00 ICT</a:t>
            </a:r>
            <a:endParaRPr lang="en-US" sz="1031"/>
          </a:p>
          <a:p>
            <a:pPr marL="0" indent="0">
              <a:buNone/>
            </a:pPr>
            <a:r>
              <a:rPr lang="en-US" sz="1031">
                <a:solidFill>
                  <a:srgbClr val="4A5568"/>
                </a:solidFill>
              </a:rPr>
              <a:t>Every KPI card, chart title, and table column exposes the same definition on hover.</a:t>
            </a:r>
            <a:endParaRPr lang="en-US" sz="103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02A999-1CA8-E967-B295-177B89E92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F17CBF1-EA82-CBC7-D5F7-9A1C1B15DEEC}"/>
              </a:ext>
            </a:extLst>
          </p:cNvPr>
          <p:cNvSpPr/>
          <p:nvPr/>
        </p:nvSpPr>
        <p:spPr>
          <a:xfrm>
            <a:off x="274320" y="10972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42" b="1">
                <a:solidFill>
                  <a:srgbClr val="1F3D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L2 · Demographic Analysis</a:t>
            </a:r>
            <a:endParaRPr lang="en-US" sz="2542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8B03011-13BF-6A8D-6FFF-44AAC1302EDE}"/>
              </a:ext>
            </a:extLst>
          </p:cNvPr>
          <p:cNvSpPr/>
          <p:nvPr/>
        </p:nvSpPr>
        <p:spPr>
          <a:xfrm>
            <a:off x="274320" y="502920"/>
            <a:ext cx="11521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6">
                <a:solidFill>
                  <a:srgbClr val="4A5568"/>
                </a:solidFill>
              </a:rPr>
              <a:t>Distribution alone hides historical shifts, so age composition becomes time-aware with count and share switching.</a:t>
            </a:r>
            <a:endParaRPr lang="en-US" sz="1076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D929DC09-03B2-A3FE-E2F8-65CB279FC308}"/>
              </a:ext>
            </a:extLst>
          </p:cNvPr>
          <p:cNvSpPr/>
          <p:nvPr/>
        </p:nvSpPr>
        <p:spPr>
          <a:xfrm>
            <a:off x="320040" y="1056456"/>
            <a:ext cx="11567160" cy="5349240"/>
          </a:xfrm>
          <a:prstGeom prst="roundRect">
            <a:avLst>
              <a:gd name="adj" fmla="val 1026"/>
            </a:avLst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4D1211C8-C903-2A9E-9E78-04554ECF0635}"/>
              </a:ext>
            </a:extLst>
          </p:cNvPr>
          <p:cNvSpPr/>
          <p:nvPr/>
        </p:nvSpPr>
        <p:spPr>
          <a:xfrm>
            <a:off x="320040" y="1056456"/>
            <a:ext cx="11567160" cy="411480"/>
          </a:xfrm>
          <a:prstGeom prst="rect">
            <a:avLst/>
          </a:prstGeom>
          <a:solidFill>
            <a:srgbClr val="1F3D6B"/>
          </a:solidFill>
          <a:ln w="12700">
            <a:solidFill>
              <a:srgbClr val="1F3D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3060C8D8-56FF-B33A-666C-E9A00C31C7D9}"/>
              </a:ext>
            </a:extLst>
          </p:cNvPr>
          <p:cNvSpPr/>
          <p:nvPr/>
        </p:nvSpPr>
        <p:spPr>
          <a:xfrm>
            <a:off x="502920" y="117532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1" b="1">
                <a:solidFill>
                  <a:srgbClr val="FFFFFF"/>
                </a:solidFill>
              </a:rPr>
              <a:t>Merchant Insight Dashboard · L2 Demographic</a:t>
            </a:r>
            <a:endParaRPr lang="en-US" sz="1121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E3C376F0-E40E-C2AD-F0C9-DF4176C37516}"/>
              </a:ext>
            </a:extLst>
          </p:cNvPr>
          <p:cNvSpPr/>
          <p:nvPr/>
        </p:nvSpPr>
        <p:spPr>
          <a:xfrm>
            <a:off x="3900000" y="1147896"/>
            <a:ext cx="1205000" cy="2286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1F6D1F5B-AC1F-B61F-D06A-121C26029F43}"/>
              </a:ext>
            </a:extLst>
          </p:cNvPr>
          <p:cNvSpPr/>
          <p:nvPr/>
        </p:nvSpPr>
        <p:spPr>
          <a:xfrm>
            <a:off x="3936576" y="1198188"/>
            <a:ext cx="11318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7" b="1">
                <a:solidFill>
                  <a:srgbClr val="1F3D6B"/>
                </a:solidFill>
              </a:rPr>
              <a:t>Operation Unit</a:t>
            </a:r>
            <a:endParaRPr lang="en-US" sz="837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958B54BB-DB0B-FD7C-8460-9AC9B765759D}"/>
              </a:ext>
            </a:extLst>
          </p:cNvPr>
          <p:cNvSpPr/>
          <p:nvPr/>
        </p:nvSpPr>
        <p:spPr>
          <a:xfrm>
            <a:off x="5176000" y="1147896"/>
            <a:ext cx="1205000" cy="2286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E4FC8A6C-4930-41B8-99A0-34F17AE7AC29}"/>
              </a:ext>
            </a:extLst>
          </p:cNvPr>
          <p:cNvSpPr/>
          <p:nvPr/>
        </p:nvSpPr>
        <p:spPr>
          <a:xfrm>
            <a:off x="5212576" y="1198188"/>
            <a:ext cx="11318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7" b="1">
                <a:solidFill>
                  <a:srgbClr val="1F3D6B"/>
                </a:solidFill>
              </a:rPr>
              <a:t>Store</a:t>
            </a:r>
            <a:endParaRPr lang="en-US" sz="837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AF6DBF2D-A3C3-49AB-6EAE-48B9760E9982}"/>
              </a:ext>
            </a:extLst>
          </p:cNvPr>
          <p:cNvSpPr/>
          <p:nvPr/>
        </p:nvSpPr>
        <p:spPr>
          <a:xfrm>
            <a:off x="6452000" y="1147896"/>
            <a:ext cx="1205000" cy="2286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439471ED-638B-892A-9C35-F21CACFB997C}"/>
              </a:ext>
            </a:extLst>
          </p:cNvPr>
          <p:cNvSpPr/>
          <p:nvPr/>
        </p:nvSpPr>
        <p:spPr>
          <a:xfrm>
            <a:off x="6488576" y="1198188"/>
            <a:ext cx="11318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7" b="1">
                <a:solidFill>
                  <a:srgbClr val="1F3D6B"/>
                </a:solidFill>
              </a:rPr>
              <a:t>Business Category</a:t>
            </a:r>
            <a:endParaRPr lang="en-US" sz="837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74E9552D-5C31-0560-F510-EB368A138FEF}"/>
              </a:ext>
            </a:extLst>
          </p:cNvPr>
          <p:cNvSpPr/>
          <p:nvPr/>
        </p:nvSpPr>
        <p:spPr>
          <a:xfrm>
            <a:off x="7728000" y="1147896"/>
            <a:ext cx="1205000" cy="2286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DAFFF9D9-9475-B1DB-542E-1FCC4C8A603D}"/>
              </a:ext>
            </a:extLst>
          </p:cNvPr>
          <p:cNvSpPr/>
          <p:nvPr/>
        </p:nvSpPr>
        <p:spPr>
          <a:xfrm>
            <a:off x="7764576" y="1198188"/>
            <a:ext cx="11318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7" b="1">
                <a:solidFill>
                  <a:srgbClr val="1F3D6B"/>
                </a:solidFill>
              </a:rPr>
              <a:t>Tenant</a:t>
            </a:r>
            <a:endParaRPr lang="en-US" sz="837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A4F355E9-3F5D-F03C-ED3B-93DE52A06B16}"/>
              </a:ext>
            </a:extLst>
          </p:cNvPr>
          <p:cNvSpPr/>
          <p:nvPr/>
        </p:nvSpPr>
        <p:spPr>
          <a:xfrm>
            <a:off x="9004000" y="1147896"/>
            <a:ext cx="1205000" cy="2286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591E24DE-4A2D-80DB-C731-FFB670A6F756}"/>
              </a:ext>
            </a:extLst>
          </p:cNvPr>
          <p:cNvSpPr/>
          <p:nvPr/>
        </p:nvSpPr>
        <p:spPr>
          <a:xfrm>
            <a:off x="9040576" y="1198188"/>
            <a:ext cx="11318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7" b="1">
                <a:solidFill>
                  <a:srgbClr val="1F3D6B"/>
                </a:solidFill>
              </a:rPr>
              <a:t>Date Range</a:t>
            </a:r>
            <a:endParaRPr lang="en-US" sz="837"/>
          </a:p>
        </p:txBody>
      </p:sp>
      <p:sp>
        <p:nvSpPr>
          <p:cNvPr id="900" name="Shape 900"/>
          <p:cNvSpPr/>
          <p:nvPr/>
        </p:nvSpPr>
        <p:spPr>
          <a:xfrm>
            <a:off x="10280000" y="1147896"/>
            <a:ext cx="1205000" cy="2286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1" name="Text 901"/>
          <p:cNvSpPr/>
          <p:nvPr/>
        </p:nvSpPr>
        <p:spPr>
          <a:xfrm>
            <a:off x="10316576" y="1198188"/>
            <a:ext cx="11318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7" b="1">
                <a:solidFill>
                  <a:srgbClr val="1F3D6B"/>
                </a:solidFill>
              </a:rPr>
              <a:t>Compare With</a:t>
            </a:r>
            <a:endParaRPr lang="en-US" sz="837"/>
          </a:p>
        </p:txBody>
      </p:sp>
      <p:sp>
        <p:nvSpPr>
          <p:cNvPr id="1001" name="Text 1001"/>
          <p:cNvSpPr/>
          <p:nvPr/>
        </p:nvSpPr>
        <p:spPr>
          <a:xfrm>
            <a:off x="594360" y="1609344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>
                <a:solidFill>
                  <a:srgbClr val="2E5FA3"/>
                </a:solidFill>
              </a:rPr>
              <a:t>L1 Overview  ›  Demographic Analysis</a:t>
            </a:r>
            <a:endParaRPr lang="en-US" sz="800"/>
          </a:p>
        </p:txBody>
      </p:sp>
      <p:sp>
        <p:nvSpPr>
          <p:cNvPr id="1002" name="Text 1002"/>
          <p:cNvSpPr/>
          <p:nvPr/>
        </p:nvSpPr>
        <p:spPr>
          <a:xfrm>
            <a:off x="5532120" y="162763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50" b="1">
                <a:solidFill>
                  <a:srgbClr val="8A94A6"/>
                </a:solidFill>
              </a:rPr>
              <a:t>METRIC MODE</a:t>
            </a:r>
            <a:endParaRPr lang="en-US" sz="650"/>
          </a:p>
        </p:txBody>
      </p:sp>
      <p:sp>
        <p:nvSpPr>
          <p:cNvPr id="1003" name="Shape 1003"/>
          <p:cNvSpPr/>
          <p:nvPr/>
        </p:nvSpPr>
        <p:spPr>
          <a:xfrm>
            <a:off x="7086600" y="1600200"/>
            <a:ext cx="868680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CF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4" name="Text 1004"/>
          <p:cNvSpPr/>
          <p:nvPr/>
        </p:nvSpPr>
        <p:spPr>
          <a:xfrm>
            <a:off x="7086600" y="1636776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>
                <a:solidFill>
                  <a:srgbClr val="4A5568"/>
                </a:solidFill>
              </a:rPr>
              <a:t>Count</a:t>
            </a:r>
            <a:endParaRPr lang="en-US" sz="700"/>
          </a:p>
        </p:txBody>
      </p:sp>
      <p:sp>
        <p:nvSpPr>
          <p:cNvPr id="1005" name="Shape 1005"/>
          <p:cNvSpPr/>
          <p:nvPr/>
        </p:nvSpPr>
        <p:spPr>
          <a:xfrm>
            <a:off x="8028432" y="1600200"/>
            <a:ext cx="868680" cy="219456"/>
          </a:xfrm>
          <a:prstGeom prst="roundRect">
            <a:avLst>
              <a:gd name="adj" fmla="val 25000"/>
            </a:avLst>
          </a:prstGeom>
          <a:solidFill>
            <a:srgbClr val="2E5FA3"/>
          </a:solidFill>
          <a:ln w="635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6" name="Text 1006"/>
          <p:cNvSpPr/>
          <p:nvPr/>
        </p:nvSpPr>
        <p:spPr>
          <a:xfrm>
            <a:off x="8028432" y="1636776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>
                <a:solidFill>
                  <a:srgbClr val="FFFFFF"/>
                </a:solidFill>
              </a:rPr>
              <a:t>Share %</a:t>
            </a:r>
            <a:endParaRPr lang="en-US" sz="700"/>
          </a:p>
        </p:txBody>
      </p:sp>
      <p:sp>
        <p:nvSpPr>
          <p:cNvPr id="1007" name="Shape 1007"/>
          <p:cNvSpPr/>
          <p:nvPr/>
        </p:nvSpPr>
        <p:spPr>
          <a:xfrm>
            <a:off x="8970264" y="1600200"/>
            <a:ext cx="960120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CF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8" name="Text 1008"/>
          <p:cNvSpPr/>
          <p:nvPr/>
        </p:nvSpPr>
        <p:spPr>
          <a:xfrm>
            <a:off x="8970264" y="1636776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>
                <a:solidFill>
                  <a:srgbClr val="4A5568"/>
                </a:solidFill>
              </a:rPr>
              <a:t>Growth %</a:t>
            </a:r>
            <a:endParaRPr lang="en-US" sz="700"/>
          </a:p>
        </p:txBody>
      </p:sp>
      <p:sp>
        <p:nvSpPr>
          <p:cNvPr id="1009" name="Shape 1009"/>
          <p:cNvSpPr/>
          <p:nvPr/>
        </p:nvSpPr>
        <p:spPr>
          <a:xfrm>
            <a:off x="10003536" y="1600200"/>
            <a:ext cx="777240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CF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0" name="Text 1010"/>
          <p:cNvSpPr/>
          <p:nvPr/>
        </p:nvSpPr>
        <p:spPr>
          <a:xfrm>
            <a:off x="10003536" y="1636776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>
                <a:solidFill>
                  <a:srgbClr val="4A5568"/>
                </a:solidFill>
              </a:rPr>
              <a:t>Index</a:t>
            </a:r>
            <a:endParaRPr lang="en-US" sz="700"/>
          </a:p>
        </p:txBody>
      </p:sp>
      <p:sp>
        <p:nvSpPr>
          <p:cNvPr id="1011" name="Shape 1011"/>
          <p:cNvSpPr/>
          <p:nvPr/>
        </p:nvSpPr>
        <p:spPr>
          <a:xfrm>
            <a:off x="10853928" y="1600200"/>
            <a:ext cx="987552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CF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2" name="Text 1012"/>
          <p:cNvSpPr/>
          <p:nvPr/>
        </p:nvSpPr>
        <p:spPr>
          <a:xfrm>
            <a:off x="10853928" y="1636776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>
                <a:solidFill>
                  <a:srgbClr val="4A5568"/>
                </a:solidFill>
              </a:rPr>
              <a:t>Export</a:t>
            </a:r>
            <a:endParaRPr lang="en-US" sz="700"/>
          </a:p>
        </p:txBody>
      </p:sp>
      <p:sp>
        <p:nvSpPr>
          <p:cNvPr id="1013" name="Shape 1013"/>
          <p:cNvSpPr/>
          <p:nvPr/>
        </p:nvSpPr>
        <p:spPr>
          <a:xfrm>
            <a:off x="3063240" y="1627632"/>
            <a:ext cx="1325880" cy="182880"/>
          </a:xfrm>
          <a:prstGeom prst="roundRect">
            <a:avLst>
              <a:gd name="adj" fmla="val 25000"/>
            </a:avLst>
          </a:prstGeom>
          <a:solidFill>
            <a:srgbClr val="FCE7F3"/>
          </a:solidFill>
          <a:ln w="12700">
            <a:solidFill>
              <a:srgbClr val="FCE7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4" name="Text 1014"/>
          <p:cNvSpPr/>
          <p:nvPr/>
        </p:nvSpPr>
        <p:spPr>
          <a:xfrm>
            <a:off x="3063240" y="1645920"/>
            <a:ext cx="1325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1">
                <a:solidFill>
                  <a:srgbClr val="D02C8C"/>
                </a:solidFill>
              </a:rPr>
              <a:t>Age × Gender view</a:t>
            </a:r>
            <a:endParaRPr lang="en-US" sz="650"/>
          </a:p>
        </p:txBody>
      </p:sp>
      <p:sp>
        <p:nvSpPr>
          <p:cNvPr id="1015" name="Shape 1015"/>
          <p:cNvSpPr/>
          <p:nvPr/>
        </p:nvSpPr>
        <p:spPr>
          <a:xfrm>
            <a:off x="594360" y="1938528"/>
            <a:ext cx="7818120" cy="2212848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7620">
            <a:solidFill>
              <a:srgbClr val="D8E1EA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16" name="Shape 1016"/>
          <p:cNvSpPr/>
          <p:nvPr/>
        </p:nvSpPr>
        <p:spPr>
          <a:xfrm>
            <a:off x="594360" y="1938528"/>
            <a:ext cx="45720" cy="2212848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7" name="Text 1017"/>
          <p:cNvSpPr/>
          <p:nvPr/>
        </p:nvSpPr>
        <p:spPr>
          <a:xfrm>
            <a:off x="722376" y="2020824"/>
            <a:ext cx="7562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>
                <a:solidFill>
                  <a:srgbClr val="1F3D6B"/>
                </a:solidFill>
              </a:rPr>
              <a:t>Age Segment Composition Trend</a:t>
            </a:r>
            <a:endParaRPr lang="en-US" sz="1000"/>
          </a:p>
        </p:txBody>
      </p:sp>
      <p:sp>
        <p:nvSpPr>
          <p:cNvPr id="1018" name="Text 1018"/>
          <p:cNvSpPr/>
          <p:nvPr/>
        </p:nvSpPr>
        <p:spPr>
          <a:xfrm>
            <a:off x="722376" y="2221992"/>
            <a:ext cx="75620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0">
                <a:solidFill>
                  <a:srgbClr val="8A94A6"/>
                </a:solidFill>
              </a:rPr>
              <a:t>Share of purchasing members by age group · 12 months</a:t>
            </a:r>
            <a:endParaRPr lang="en-US" sz="700"/>
          </a:p>
        </p:txBody>
      </p:sp>
      <p:sp>
        <p:nvSpPr>
          <p:cNvPr id="1019" name="Shape 1019"/>
          <p:cNvSpPr/>
          <p:nvPr/>
        </p:nvSpPr>
        <p:spPr>
          <a:xfrm>
            <a:off x="5760720" y="2039112"/>
            <a:ext cx="566928" cy="192024"/>
          </a:xfrm>
          <a:prstGeom prst="roundRect">
            <a:avLst>
              <a:gd name="adj" fmla="val 25000"/>
            </a:avLst>
          </a:prstGeom>
          <a:solidFill>
            <a:srgbClr val="2E5FA3"/>
          </a:solidFill>
          <a:ln w="635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0" name="Text 1020"/>
          <p:cNvSpPr/>
          <p:nvPr/>
        </p:nvSpPr>
        <p:spPr>
          <a:xfrm>
            <a:off x="5760720" y="2066544"/>
            <a:ext cx="5669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1">
                <a:solidFill>
                  <a:srgbClr val="FFFFFF"/>
                </a:solidFill>
              </a:rPr>
              <a:t>Age</a:t>
            </a:r>
            <a:endParaRPr lang="en-US" sz="650"/>
          </a:p>
        </p:txBody>
      </p:sp>
      <p:sp>
        <p:nvSpPr>
          <p:cNvPr id="1021" name="Shape 1021"/>
          <p:cNvSpPr/>
          <p:nvPr/>
        </p:nvSpPr>
        <p:spPr>
          <a:xfrm>
            <a:off x="6373368" y="2039112"/>
            <a:ext cx="640080" cy="19202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CF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2" name="Text 1022"/>
          <p:cNvSpPr/>
          <p:nvPr/>
        </p:nvSpPr>
        <p:spPr>
          <a:xfrm>
            <a:off x="6373368" y="2066544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1">
                <a:solidFill>
                  <a:srgbClr val="4A5568"/>
                </a:solidFill>
              </a:rPr>
              <a:t>Gender</a:t>
            </a:r>
            <a:endParaRPr lang="en-US" sz="650"/>
          </a:p>
        </p:txBody>
      </p:sp>
      <p:sp>
        <p:nvSpPr>
          <p:cNvPr id="1023" name="Shape 1023"/>
          <p:cNvSpPr/>
          <p:nvPr/>
        </p:nvSpPr>
        <p:spPr>
          <a:xfrm>
            <a:off x="7059168" y="2039112"/>
            <a:ext cx="1005840" cy="19202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CF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4" name="Text 1024"/>
          <p:cNvSpPr/>
          <p:nvPr/>
        </p:nvSpPr>
        <p:spPr>
          <a:xfrm>
            <a:off x="7059168" y="2066544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1">
                <a:solidFill>
                  <a:srgbClr val="4A5568"/>
                </a:solidFill>
              </a:rPr>
              <a:t>New/Existing</a:t>
            </a:r>
            <a:endParaRPr lang="en-US" sz="650"/>
          </a:p>
        </p:txBody>
      </p:sp>
      <p:sp>
        <p:nvSpPr>
          <p:cNvPr id="1025" name="Shape 1025"/>
          <p:cNvSpPr/>
          <p:nvPr/>
        </p:nvSpPr>
        <p:spPr>
          <a:xfrm>
            <a:off x="1207008" y="2395728"/>
            <a:ext cx="6967728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6" name="Shape 1026"/>
          <p:cNvSpPr/>
          <p:nvPr/>
        </p:nvSpPr>
        <p:spPr>
          <a:xfrm>
            <a:off x="1207008" y="2715768"/>
            <a:ext cx="6967728" cy="0"/>
          </a:xfrm>
          <a:prstGeom prst="line">
            <a:avLst/>
          </a:prstGeom>
          <a:noFill/>
          <a:ln w="4445">
            <a:solidFill>
              <a:srgbClr val="EDF1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7" name="Text 1027"/>
          <p:cNvSpPr/>
          <p:nvPr/>
        </p:nvSpPr>
        <p:spPr>
          <a:xfrm>
            <a:off x="640080" y="2651760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00" b="0">
                <a:solidFill>
                  <a:srgbClr val="8A94A6"/>
                </a:solidFill>
              </a:rPr>
              <a:t>75%</a:t>
            </a:r>
            <a:endParaRPr lang="en-US" sz="600"/>
          </a:p>
        </p:txBody>
      </p:sp>
      <p:sp>
        <p:nvSpPr>
          <p:cNvPr id="1028" name="Shape 1028"/>
          <p:cNvSpPr/>
          <p:nvPr/>
        </p:nvSpPr>
        <p:spPr>
          <a:xfrm>
            <a:off x="1207008" y="3035808"/>
            <a:ext cx="6967728" cy="0"/>
          </a:xfrm>
          <a:prstGeom prst="line">
            <a:avLst/>
          </a:prstGeom>
          <a:noFill/>
          <a:ln w="4445">
            <a:solidFill>
              <a:srgbClr val="EDF1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9" name="Text 1029"/>
          <p:cNvSpPr/>
          <p:nvPr/>
        </p:nvSpPr>
        <p:spPr>
          <a:xfrm>
            <a:off x="640080" y="2971800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00" b="0">
                <a:solidFill>
                  <a:srgbClr val="8A94A6"/>
                </a:solidFill>
              </a:rPr>
              <a:t>50%</a:t>
            </a:r>
            <a:endParaRPr lang="en-US" sz="600"/>
          </a:p>
        </p:txBody>
      </p:sp>
      <p:sp>
        <p:nvSpPr>
          <p:cNvPr id="1030" name="Shape 1030"/>
          <p:cNvSpPr/>
          <p:nvPr/>
        </p:nvSpPr>
        <p:spPr>
          <a:xfrm>
            <a:off x="1207008" y="3355848"/>
            <a:ext cx="6967728" cy="0"/>
          </a:xfrm>
          <a:prstGeom prst="line">
            <a:avLst/>
          </a:prstGeom>
          <a:noFill/>
          <a:ln w="4445">
            <a:solidFill>
              <a:srgbClr val="EDF1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1" name="Text 1031"/>
          <p:cNvSpPr/>
          <p:nvPr/>
        </p:nvSpPr>
        <p:spPr>
          <a:xfrm>
            <a:off x="640080" y="3291840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00" b="0">
                <a:solidFill>
                  <a:srgbClr val="8A94A6"/>
                </a:solidFill>
              </a:rPr>
              <a:t>25%</a:t>
            </a:r>
            <a:endParaRPr lang="en-US" sz="600"/>
          </a:p>
        </p:txBody>
      </p:sp>
      <p:sp>
        <p:nvSpPr>
          <p:cNvPr id="1032" name="Shape 1032"/>
          <p:cNvSpPr/>
          <p:nvPr/>
        </p:nvSpPr>
        <p:spPr>
          <a:xfrm>
            <a:off x="1317330" y="3394253"/>
            <a:ext cx="359999" cy="281635"/>
          </a:xfrm>
          <a:prstGeom prst="rect">
            <a:avLst/>
          </a:prstGeom>
          <a:solidFill>
            <a:srgbClr val="1F3D6B"/>
          </a:solidFill>
          <a:ln w="6350">
            <a:solidFill>
              <a:srgbClr val="1F3D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3" name="Shape 1033"/>
          <p:cNvSpPr/>
          <p:nvPr/>
        </p:nvSpPr>
        <p:spPr>
          <a:xfrm>
            <a:off x="1317330" y="3061411"/>
            <a:ext cx="359999" cy="332842"/>
          </a:xfrm>
          <a:prstGeom prst="rect">
            <a:avLst/>
          </a:prstGeom>
          <a:solidFill>
            <a:srgbClr val="2E5FA3"/>
          </a:solidFill>
          <a:ln w="635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4" name="Shape 1034"/>
          <p:cNvSpPr/>
          <p:nvPr/>
        </p:nvSpPr>
        <p:spPr>
          <a:xfrm>
            <a:off x="1317330" y="2779776"/>
            <a:ext cx="359999" cy="281635"/>
          </a:xfrm>
          <a:prstGeom prst="rect">
            <a:avLst/>
          </a:prstGeom>
          <a:solidFill>
            <a:srgbClr val="4F84C4"/>
          </a:solidFill>
          <a:ln w="6350">
            <a:solidFill>
              <a:srgbClr val="4F84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5" name="Shape 1035"/>
          <p:cNvSpPr/>
          <p:nvPr/>
        </p:nvSpPr>
        <p:spPr>
          <a:xfrm>
            <a:off x="1317330" y="2549347"/>
            <a:ext cx="359999" cy="230429"/>
          </a:xfrm>
          <a:prstGeom prst="rect">
            <a:avLst/>
          </a:prstGeom>
          <a:solidFill>
            <a:srgbClr val="8FB3DE"/>
          </a:solidFill>
          <a:ln w="6350">
            <a:solidFill>
              <a:srgbClr val="8FB3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6" name="Shape 1036"/>
          <p:cNvSpPr/>
          <p:nvPr/>
        </p:nvSpPr>
        <p:spPr>
          <a:xfrm>
            <a:off x="1317330" y="2395728"/>
            <a:ext cx="359999" cy="153619"/>
          </a:xfrm>
          <a:prstGeom prst="rect">
            <a:avLst/>
          </a:prstGeom>
          <a:solidFill>
            <a:srgbClr val="C9D9EF"/>
          </a:solidFill>
          <a:ln w="6350">
            <a:solidFill>
              <a:srgbClr val="C9D9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7" name="Text 1037"/>
          <p:cNvSpPr/>
          <p:nvPr/>
        </p:nvSpPr>
        <p:spPr>
          <a:xfrm>
            <a:off x="1207008" y="3712464"/>
            <a:ext cx="5806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00" b="0">
                <a:solidFill>
                  <a:srgbClr val="8A94A6"/>
                </a:solidFill>
              </a:rPr>
              <a:t>Oct</a:t>
            </a:r>
            <a:endParaRPr lang="en-US" sz="600"/>
          </a:p>
        </p:txBody>
      </p:sp>
      <p:sp>
        <p:nvSpPr>
          <p:cNvPr id="1038" name="Shape 1038"/>
          <p:cNvSpPr/>
          <p:nvPr/>
        </p:nvSpPr>
        <p:spPr>
          <a:xfrm>
            <a:off x="1897974" y="3387270"/>
            <a:ext cx="359999" cy="288618"/>
          </a:xfrm>
          <a:prstGeom prst="rect">
            <a:avLst/>
          </a:prstGeom>
          <a:solidFill>
            <a:srgbClr val="1F3D6B"/>
          </a:solidFill>
          <a:ln w="6350">
            <a:solidFill>
              <a:srgbClr val="1F3D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9" name="Shape 1039"/>
          <p:cNvSpPr/>
          <p:nvPr/>
        </p:nvSpPr>
        <p:spPr>
          <a:xfrm>
            <a:off x="1897974" y="3053265"/>
            <a:ext cx="359999" cy="334005"/>
          </a:xfrm>
          <a:prstGeom prst="rect">
            <a:avLst/>
          </a:prstGeom>
          <a:solidFill>
            <a:srgbClr val="2E5FA3"/>
          </a:solidFill>
          <a:ln w="635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0" name="Shape 1040"/>
          <p:cNvSpPr/>
          <p:nvPr/>
        </p:nvSpPr>
        <p:spPr>
          <a:xfrm>
            <a:off x="1897974" y="2772793"/>
            <a:ext cx="359999" cy="280471"/>
          </a:xfrm>
          <a:prstGeom prst="rect">
            <a:avLst/>
          </a:prstGeom>
          <a:solidFill>
            <a:srgbClr val="4F84C4"/>
          </a:solidFill>
          <a:ln w="6350">
            <a:solidFill>
              <a:srgbClr val="4F84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1" name="Shape 1041"/>
          <p:cNvSpPr/>
          <p:nvPr/>
        </p:nvSpPr>
        <p:spPr>
          <a:xfrm>
            <a:off x="1897974" y="2545856"/>
            <a:ext cx="359999" cy="226937"/>
          </a:xfrm>
          <a:prstGeom prst="rect">
            <a:avLst/>
          </a:prstGeom>
          <a:solidFill>
            <a:srgbClr val="8FB3DE"/>
          </a:solidFill>
          <a:ln w="6350">
            <a:solidFill>
              <a:srgbClr val="8FB3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2" name="Shape 1042"/>
          <p:cNvSpPr/>
          <p:nvPr/>
        </p:nvSpPr>
        <p:spPr>
          <a:xfrm>
            <a:off x="1897974" y="2395728"/>
            <a:ext cx="359999" cy="150128"/>
          </a:xfrm>
          <a:prstGeom prst="rect">
            <a:avLst/>
          </a:prstGeom>
          <a:solidFill>
            <a:srgbClr val="C9D9EF"/>
          </a:solidFill>
          <a:ln w="6350">
            <a:solidFill>
              <a:srgbClr val="C9D9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3" name="Text 1043"/>
          <p:cNvSpPr/>
          <p:nvPr/>
        </p:nvSpPr>
        <p:spPr>
          <a:xfrm>
            <a:off x="1787652" y="3712464"/>
            <a:ext cx="5806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00" b="0">
                <a:solidFill>
                  <a:srgbClr val="8A94A6"/>
                </a:solidFill>
              </a:rPr>
              <a:t>Nov</a:t>
            </a:r>
            <a:endParaRPr lang="en-US" sz="600"/>
          </a:p>
        </p:txBody>
      </p:sp>
      <p:sp>
        <p:nvSpPr>
          <p:cNvPr id="1044" name="Shape 1044"/>
          <p:cNvSpPr/>
          <p:nvPr/>
        </p:nvSpPr>
        <p:spPr>
          <a:xfrm>
            <a:off x="2478618" y="3380287"/>
            <a:ext cx="359999" cy="295601"/>
          </a:xfrm>
          <a:prstGeom prst="rect">
            <a:avLst/>
          </a:prstGeom>
          <a:solidFill>
            <a:srgbClr val="1F3D6B"/>
          </a:solidFill>
          <a:ln w="6350">
            <a:solidFill>
              <a:srgbClr val="1F3D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5" name="Shape 1045"/>
          <p:cNvSpPr/>
          <p:nvPr/>
        </p:nvSpPr>
        <p:spPr>
          <a:xfrm>
            <a:off x="2478618" y="3045118"/>
            <a:ext cx="359999" cy="335169"/>
          </a:xfrm>
          <a:prstGeom prst="rect">
            <a:avLst/>
          </a:prstGeom>
          <a:solidFill>
            <a:srgbClr val="2E5FA3"/>
          </a:solidFill>
          <a:ln w="635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6" name="Shape 1046"/>
          <p:cNvSpPr/>
          <p:nvPr/>
        </p:nvSpPr>
        <p:spPr>
          <a:xfrm>
            <a:off x="2478618" y="2765811"/>
            <a:ext cx="359999" cy="279308"/>
          </a:xfrm>
          <a:prstGeom prst="rect">
            <a:avLst/>
          </a:prstGeom>
          <a:solidFill>
            <a:srgbClr val="4F84C4"/>
          </a:solidFill>
          <a:ln w="6350">
            <a:solidFill>
              <a:srgbClr val="4F84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7" name="Shape 1047"/>
          <p:cNvSpPr/>
          <p:nvPr/>
        </p:nvSpPr>
        <p:spPr>
          <a:xfrm>
            <a:off x="2478618" y="2542365"/>
            <a:ext cx="359999" cy="223446"/>
          </a:xfrm>
          <a:prstGeom prst="rect">
            <a:avLst/>
          </a:prstGeom>
          <a:solidFill>
            <a:srgbClr val="8FB3DE"/>
          </a:solidFill>
          <a:ln w="6350">
            <a:solidFill>
              <a:srgbClr val="8FB3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8" name="Shape 1048"/>
          <p:cNvSpPr/>
          <p:nvPr/>
        </p:nvSpPr>
        <p:spPr>
          <a:xfrm>
            <a:off x="2478618" y="2395728"/>
            <a:ext cx="359999" cy="146637"/>
          </a:xfrm>
          <a:prstGeom prst="rect">
            <a:avLst/>
          </a:prstGeom>
          <a:solidFill>
            <a:srgbClr val="C9D9EF"/>
          </a:solidFill>
          <a:ln w="6350">
            <a:solidFill>
              <a:srgbClr val="C9D9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9" name="Text 1049"/>
          <p:cNvSpPr/>
          <p:nvPr/>
        </p:nvSpPr>
        <p:spPr>
          <a:xfrm>
            <a:off x="2368296" y="3712464"/>
            <a:ext cx="5806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00" b="0">
                <a:solidFill>
                  <a:srgbClr val="8A94A6"/>
                </a:solidFill>
              </a:rPr>
              <a:t>Dec</a:t>
            </a:r>
            <a:endParaRPr lang="en-US" sz="600"/>
          </a:p>
        </p:txBody>
      </p:sp>
      <p:sp>
        <p:nvSpPr>
          <p:cNvPr id="1050" name="Shape 1050"/>
          <p:cNvSpPr/>
          <p:nvPr/>
        </p:nvSpPr>
        <p:spPr>
          <a:xfrm>
            <a:off x="3059262" y="3373305"/>
            <a:ext cx="359999" cy="302583"/>
          </a:xfrm>
          <a:prstGeom prst="rect">
            <a:avLst/>
          </a:prstGeom>
          <a:solidFill>
            <a:srgbClr val="1F3D6B"/>
          </a:solidFill>
          <a:ln w="6350">
            <a:solidFill>
              <a:srgbClr val="1F3D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1" name="Shape 1051"/>
          <p:cNvSpPr/>
          <p:nvPr/>
        </p:nvSpPr>
        <p:spPr>
          <a:xfrm>
            <a:off x="3059262" y="3036972"/>
            <a:ext cx="359999" cy="336333"/>
          </a:xfrm>
          <a:prstGeom prst="rect">
            <a:avLst/>
          </a:prstGeom>
          <a:solidFill>
            <a:srgbClr val="2E5FA3"/>
          </a:solidFill>
          <a:ln w="635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2" name="Shape 1052"/>
          <p:cNvSpPr/>
          <p:nvPr/>
        </p:nvSpPr>
        <p:spPr>
          <a:xfrm>
            <a:off x="3059262" y="2758828"/>
            <a:ext cx="359999" cy="278144"/>
          </a:xfrm>
          <a:prstGeom prst="rect">
            <a:avLst/>
          </a:prstGeom>
          <a:solidFill>
            <a:srgbClr val="4F84C4"/>
          </a:solidFill>
          <a:ln w="6350">
            <a:solidFill>
              <a:srgbClr val="4F84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3" name="Shape 1053"/>
          <p:cNvSpPr/>
          <p:nvPr/>
        </p:nvSpPr>
        <p:spPr>
          <a:xfrm>
            <a:off x="3059262" y="2538873"/>
            <a:ext cx="359999" cy="219955"/>
          </a:xfrm>
          <a:prstGeom prst="rect">
            <a:avLst/>
          </a:prstGeom>
          <a:solidFill>
            <a:srgbClr val="8FB3DE"/>
          </a:solidFill>
          <a:ln w="6350">
            <a:solidFill>
              <a:srgbClr val="8FB3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4" name="Shape 1054"/>
          <p:cNvSpPr/>
          <p:nvPr/>
        </p:nvSpPr>
        <p:spPr>
          <a:xfrm>
            <a:off x="3059262" y="2395728"/>
            <a:ext cx="359999" cy="143145"/>
          </a:xfrm>
          <a:prstGeom prst="rect">
            <a:avLst/>
          </a:prstGeom>
          <a:solidFill>
            <a:srgbClr val="C9D9EF"/>
          </a:solidFill>
          <a:ln w="6350">
            <a:solidFill>
              <a:srgbClr val="C9D9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5" name="Text 1055"/>
          <p:cNvSpPr/>
          <p:nvPr/>
        </p:nvSpPr>
        <p:spPr>
          <a:xfrm>
            <a:off x="2948940" y="3712464"/>
            <a:ext cx="5806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00" b="0">
                <a:solidFill>
                  <a:srgbClr val="8A94A6"/>
                </a:solidFill>
              </a:rPr>
              <a:t>Jan</a:t>
            </a:r>
            <a:endParaRPr lang="en-US" sz="600"/>
          </a:p>
        </p:txBody>
      </p:sp>
      <p:sp>
        <p:nvSpPr>
          <p:cNvPr id="1056" name="Shape 1056"/>
          <p:cNvSpPr/>
          <p:nvPr/>
        </p:nvSpPr>
        <p:spPr>
          <a:xfrm>
            <a:off x="3639906" y="3366322"/>
            <a:ext cx="359999" cy="309566"/>
          </a:xfrm>
          <a:prstGeom prst="rect">
            <a:avLst/>
          </a:prstGeom>
          <a:solidFill>
            <a:srgbClr val="1F3D6B"/>
          </a:solidFill>
          <a:ln w="6350">
            <a:solidFill>
              <a:srgbClr val="1F3D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7" name="Shape 1057"/>
          <p:cNvSpPr/>
          <p:nvPr/>
        </p:nvSpPr>
        <p:spPr>
          <a:xfrm>
            <a:off x="3639906" y="3028825"/>
            <a:ext cx="359999" cy="337497"/>
          </a:xfrm>
          <a:prstGeom prst="rect">
            <a:avLst/>
          </a:prstGeom>
          <a:solidFill>
            <a:srgbClr val="2E5FA3"/>
          </a:solidFill>
          <a:ln w="635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8" name="Shape 1058"/>
          <p:cNvSpPr/>
          <p:nvPr/>
        </p:nvSpPr>
        <p:spPr>
          <a:xfrm>
            <a:off x="3639906" y="2751845"/>
            <a:ext cx="359999" cy="276980"/>
          </a:xfrm>
          <a:prstGeom prst="rect">
            <a:avLst/>
          </a:prstGeom>
          <a:solidFill>
            <a:srgbClr val="4F84C4"/>
          </a:solidFill>
          <a:ln w="6350">
            <a:solidFill>
              <a:srgbClr val="4F84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9" name="Shape 1059"/>
          <p:cNvSpPr/>
          <p:nvPr/>
        </p:nvSpPr>
        <p:spPr>
          <a:xfrm>
            <a:off x="3639906" y="2535382"/>
            <a:ext cx="359999" cy="216463"/>
          </a:xfrm>
          <a:prstGeom prst="rect">
            <a:avLst/>
          </a:prstGeom>
          <a:solidFill>
            <a:srgbClr val="8FB3DE"/>
          </a:solidFill>
          <a:ln w="6350">
            <a:solidFill>
              <a:srgbClr val="8FB3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0" name="Shape 1060"/>
          <p:cNvSpPr/>
          <p:nvPr/>
        </p:nvSpPr>
        <p:spPr>
          <a:xfrm>
            <a:off x="3639906" y="2395728"/>
            <a:ext cx="359999" cy="139654"/>
          </a:xfrm>
          <a:prstGeom prst="rect">
            <a:avLst/>
          </a:prstGeom>
          <a:solidFill>
            <a:srgbClr val="C9D9EF"/>
          </a:solidFill>
          <a:ln w="6350">
            <a:solidFill>
              <a:srgbClr val="C9D9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1" name="Text 1061"/>
          <p:cNvSpPr/>
          <p:nvPr/>
        </p:nvSpPr>
        <p:spPr>
          <a:xfrm>
            <a:off x="3529584" y="3712464"/>
            <a:ext cx="5806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00" b="0">
                <a:solidFill>
                  <a:srgbClr val="8A94A6"/>
                </a:solidFill>
              </a:rPr>
              <a:t>Feb</a:t>
            </a:r>
            <a:endParaRPr lang="en-US" sz="600"/>
          </a:p>
        </p:txBody>
      </p:sp>
      <p:sp>
        <p:nvSpPr>
          <p:cNvPr id="1062" name="Shape 1062"/>
          <p:cNvSpPr/>
          <p:nvPr/>
        </p:nvSpPr>
        <p:spPr>
          <a:xfrm>
            <a:off x="4220550" y="3359339"/>
            <a:ext cx="359999" cy="316549"/>
          </a:xfrm>
          <a:prstGeom prst="rect">
            <a:avLst/>
          </a:prstGeom>
          <a:solidFill>
            <a:srgbClr val="1F3D6B"/>
          </a:solidFill>
          <a:ln w="6350">
            <a:solidFill>
              <a:srgbClr val="1F3D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3" name="Shape 1063"/>
          <p:cNvSpPr/>
          <p:nvPr/>
        </p:nvSpPr>
        <p:spPr>
          <a:xfrm>
            <a:off x="4220550" y="3020679"/>
            <a:ext cx="359999" cy="338661"/>
          </a:xfrm>
          <a:prstGeom prst="rect">
            <a:avLst/>
          </a:prstGeom>
          <a:solidFill>
            <a:srgbClr val="2E5FA3"/>
          </a:solidFill>
          <a:ln w="635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4" name="Shape 1064"/>
          <p:cNvSpPr/>
          <p:nvPr/>
        </p:nvSpPr>
        <p:spPr>
          <a:xfrm>
            <a:off x="4220550" y="2744863"/>
            <a:ext cx="359999" cy="275816"/>
          </a:xfrm>
          <a:prstGeom prst="rect">
            <a:avLst/>
          </a:prstGeom>
          <a:solidFill>
            <a:srgbClr val="4F84C4"/>
          </a:solidFill>
          <a:ln w="6350">
            <a:solidFill>
              <a:srgbClr val="4F84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5" name="Shape 1065"/>
          <p:cNvSpPr/>
          <p:nvPr/>
        </p:nvSpPr>
        <p:spPr>
          <a:xfrm>
            <a:off x="4220550" y="2531890"/>
            <a:ext cx="359999" cy="212972"/>
          </a:xfrm>
          <a:prstGeom prst="rect">
            <a:avLst/>
          </a:prstGeom>
          <a:solidFill>
            <a:srgbClr val="8FB3DE"/>
          </a:solidFill>
          <a:ln w="6350">
            <a:solidFill>
              <a:srgbClr val="8FB3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6" name="Shape 1066"/>
          <p:cNvSpPr/>
          <p:nvPr/>
        </p:nvSpPr>
        <p:spPr>
          <a:xfrm>
            <a:off x="4220550" y="2395728"/>
            <a:ext cx="359999" cy="136162"/>
          </a:xfrm>
          <a:prstGeom prst="rect">
            <a:avLst/>
          </a:prstGeom>
          <a:solidFill>
            <a:srgbClr val="C9D9EF"/>
          </a:solidFill>
          <a:ln w="6350">
            <a:solidFill>
              <a:srgbClr val="C9D9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7" name="Text 1067"/>
          <p:cNvSpPr/>
          <p:nvPr/>
        </p:nvSpPr>
        <p:spPr>
          <a:xfrm>
            <a:off x="4110228" y="3712464"/>
            <a:ext cx="5806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00" b="0">
                <a:solidFill>
                  <a:srgbClr val="8A94A6"/>
                </a:solidFill>
              </a:rPr>
              <a:t>Mar</a:t>
            </a:r>
            <a:endParaRPr lang="en-US" sz="600"/>
          </a:p>
        </p:txBody>
      </p:sp>
      <p:sp>
        <p:nvSpPr>
          <p:cNvPr id="1068" name="Shape 1068"/>
          <p:cNvSpPr/>
          <p:nvPr/>
        </p:nvSpPr>
        <p:spPr>
          <a:xfrm>
            <a:off x="4801194" y="3352357"/>
            <a:ext cx="359999" cy="323531"/>
          </a:xfrm>
          <a:prstGeom prst="rect">
            <a:avLst/>
          </a:prstGeom>
          <a:solidFill>
            <a:srgbClr val="1F3D6B"/>
          </a:solidFill>
          <a:ln w="6350">
            <a:solidFill>
              <a:srgbClr val="1F3D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9" name="Shape 1069"/>
          <p:cNvSpPr/>
          <p:nvPr/>
        </p:nvSpPr>
        <p:spPr>
          <a:xfrm>
            <a:off x="4801194" y="3012532"/>
            <a:ext cx="359999" cy="339824"/>
          </a:xfrm>
          <a:prstGeom prst="rect">
            <a:avLst/>
          </a:prstGeom>
          <a:solidFill>
            <a:srgbClr val="2E5FA3"/>
          </a:solidFill>
          <a:ln w="635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0" name="Shape 1070"/>
          <p:cNvSpPr/>
          <p:nvPr/>
        </p:nvSpPr>
        <p:spPr>
          <a:xfrm>
            <a:off x="4801194" y="2737880"/>
            <a:ext cx="359999" cy="274653"/>
          </a:xfrm>
          <a:prstGeom prst="rect">
            <a:avLst/>
          </a:prstGeom>
          <a:solidFill>
            <a:srgbClr val="4F84C4"/>
          </a:solidFill>
          <a:ln w="6350">
            <a:solidFill>
              <a:srgbClr val="4F84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1" name="Shape 1071"/>
          <p:cNvSpPr/>
          <p:nvPr/>
        </p:nvSpPr>
        <p:spPr>
          <a:xfrm>
            <a:off x="4801194" y="2528399"/>
            <a:ext cx="359999" cy="209481"/>
          </a:xfrm>
          <a:prstGeom prst="rect">
            <a:avLst/>
          </a:prstGeom>
          <a:solidFill>
            <a:srgbClr val="8FB3DE"/>
          </a:solidFill>
          <a:ln w="6350">
            <a:solidFill>
              <a:srgbClr val="8FB3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2" name="Shape 1072"/>
          <p:cNvSpPr/>
          <p:nvPr/>
        </p:nvSpPr>
        <p:spPr>
          <a:xfrm>
            <a:off x="4801194" y="2395728"/>
            <a:ext cx="359999" cy="132671"/>
          </a:xfrm>
          <a:prstGeom prst="rect">
            <a:avLst/>
          </a:prstGeom>
          <a:solidFill>
            <a:srgbClr val="C9D9EF"/>
          </a:solidFill>
          <a:ln w="6350">
            <a:solidFill>
              <a:srgbClr val="C9D9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3" name="Text 1073"/>
          <p:cNvSpPr/>
          <p:nvPr/>
        </p:nvSpPr>
        <p:spPr>
          <a:xfrm>
            <a:off x="4690872" y="3712464"/>
            <a:ext cx="5806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00" b="0">
                <a:solidFill>
                  <a:srgbClr val="8A94A6"/>
                </a:solidFill>
              </a:rPr>
              <a:t>Apr</a:t>
            </a:r>
            <a:endParaRPr lang="en-US" sz="600"/>
          </a:p>
        </p:txBody>
      </p:sp>
      <p:sp>
        <p:nvSpPr>
          <p:cNvPr id="1074" name="Shape 1074"/>
          <p:cNvSpPr/>
          <p:nvPr/>
        </p:nvSpPr>
        <p:spPr>
          <a:xfrm>
            <a:off x="5381838" y="3345374"/>
            <a:ext cx="359999" cy="330514"/>
          </a:xfrm>
          <a:prstGeom prst="rect">
            <a:avLst/>
          </a:prstGeom>
          <a:solidFill>
            <a:srgbClr val="1F3D6B"/>
          </a:solidFill>
          <a:ln w="6350">
            <a:solidFill>
              <a:srgbClr val="1F3D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5" name="Shape 1075"/>
          <p:cNvSpPr/>
          <p:nvPr/>
        </p:nvSpPr>
        <p:spPr>
          <a:xfrm>
            <a:off x="5381838" y="3004386"/>
            <a:ext cx="359999" cy="340988"/>
          </a:xfrm>
          <a:prstGeom prst="rect">
            <a:avLst/>
          </a:prstGeom>
          <a:solidFill>
            <a:srgbClr val="2E5FA3"/>
          </a:solidFill>
          <a:ln w="635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6" name="Shape 1076"/>
          <p:cNvSpPr/>
          <p:nvPr/>
        </p:nvSpPr>
        <p:spPr>
          <a:xfrm>
            <a:off x="5381838" y="2730897"/>
            <a:ext cx="359999" cy="273489"/>
          </a:xfrm>
          <a:prstGeom prst="rect">
            <a:avLst/>
          </a:prstGeom>
          <a:solidFill>
            <a:srgbClr val="4F84C4"/>
          </a:solidFill>
          <a:ln w="6350">
            <a:solidFill>
              <a:srgbClr val="4F84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7" name="Shape 1077"/>
          <p:cNvSpPr/>
          <p:nvPr/>
        </p:nvSpPr>
        <p:spPr>
          <a:xfrm>
            <a:off x="5381838" y="2524908"/>
            <a:ext cx="359999" cy="205989"/>
          </a:xfrm>
          <a:prstGeom prst="rect">
            <a:avLst/>
          </a:prstGeom>
          <a:solidFill>
            <a:srgbClr val="8FB3DE"/>
          </a:solidFill>
          <a:ln w="6350">
            <a:solidFill>
              <a:srgbClr val="8FB3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8" name="Shape 1078"/>
          <p:cNvSpPr/>
          <p:nvPr/>
        </p:nvSpPr>
        <p:spPr>
          <a:xfrm>
            <a:off x="5381838" y="2395728"/>
            <a:ext cx="359999" cy="129180"/>
          </a:xfrm>
          <a:prstGeom prst="rect">
            <a:avLst/>
          </a:prstGeom>
          <a:solidFill>
            <a:srgbClr val="C9D9EF"/>
          </a:solidFill>
          <a:ln w="6350">
            <a:solidFill>
              <a:srgbClr val="C9D9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9" name="Text 1079"/>
          <p:cNvSpPr/>
          <p:nvPr/>
        </p:nvSpPr>
        <p:spPr>
          <a:xfrm>
            <a:off x="5271516" y="3712464"/>
            <a:ext cx="5806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00" b="0">
                <a:solidFill>
                  <a:srgbClr val="8A94A6"/>
                </a:solidFill>
              </a:rPr>
              <a:t>May</a:t>
            </a:r>
            <a:endParaRPr lang="en-US" sz="600"/>
          </a:p>
        </p:txBody>
      </p:sp>
      <p:sp>
        <p:nvSpPr>
          <p:cNvPr id="1080" name="Shape 1080"/>
          <p:cNvSpPr/>
          <p:nvPr/>
        </p:nvSpPr>
        <p:spPr>
          <a:xfrm>
            <a:off x="5962482" y="3338391"/>
            <a:ext cx="359999" cy="337497"/>
          </a:xfrm>
          <a:prstGeom prst="rect">
            <a:avLst/>
          </a:prstGeom>
          <a:solidFill>
            <a:srgbClr val="1F3D6B"/>
          </a:solidFill>
          <a:ln w="6350">
            <a:solidFill>
              <a:srgbClr val="1F3D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1" name="Shape 1081"/>
          <p:cNvSpPr/>
          <p:nvPr/>
        </p:nvSpPr>
        <p:spPr>
          <a:xfrm>
            <a:off x="5962482" y="2996239"/>
            <a:ext cx="359999" cy="342152"/>
          </a:xfrm>
          <a:prstGeom prst="rect">
            <a:avLst/>
          </a:prstGeom>
          <a:solidFill>
            <a:srgbClr val="2E5FA3"/>
          </a:solidFill>
          <a:ln w="635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2" name="Shape 1082"/>
          <p:cNvSpPr/>
          <p:nvPr/>
        </p:nvSpPr>
        <p:spPr>
          <a:xfrm>
            <a:off x="5962482" y="2723914"/>
            <a:ext cx="359999" cy="272325"/>
          </a:xfrm>
          <a:prstGeom prst="rect">
            <a:avLst/>
          </a:prstGeom>
          <a:solidFill>
            <a:srgbClr val="4F84C4"/>
          </a:solidFill>
          <a:ln w="6350">
            <a:solidFill>
              <a:srgbClr val="4F84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3" name="Shape 1083"/>
          <p:cNvSpPr/>
          <p:nvPr/>
        </p:nvSpPr>
        <p:spPr>
          <a:xfrm>
            <a:off x="5962482" y="2521416"/>
            <a:ext cx="359999" cy="202498"/>
          </a:xfrm>
          <a:prstGeom prst="rect">
            <a:avLst/>
          </a:prstGeom>
          <a:solidFill>
            <a:srgbClr val="8FB3DE"/>
          </a:solidFill>
          <a:ln w="6350">
            <a:solidFill>
              <a:srgbClr val="8FB3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4" name="Shape 1084"/>
          <p:cNvSpPr/>
          <p:nvPr/>
        </p:nvSpPr>
        <p:spPr>
          <a:xfrm>
            <a:off x="5962482" y="2395728"/>
            <a:ext cx="359999" cy="125688"/>
          </a:xfrm>
          <a:prstGeom prst="rect">
            <a:avLst/>
          </a:prstGeom>
          <a:solidFill>
            <a:srgbClr val="C9D9EF"/>
          </a:solidFill>
          <a:ln w="6350">
            <a:solidFill>
              <a:srgbClr val="C9D9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5" name="Text 1085"/>
          <p:cNvSpPr/>
          <p:nvPr/>
        </p:nvSpPr>
        <p:spPr>
          <a:xfrm>
            <a:off x="5852160" y="3712464"/>
            <a:ext cx="5806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00" b="0">
                <a:solidFill>
                  <a:srgbClr val="8A94A6"/>
                </a:solidFill>
              </a:rPr>
              <a:t>Jun</a:t>
            </a:r>
            <a:endParaRPr lang="en-US" sz="600"/>
          </a:p>
        </p:txBody>
      </p:sp>
      <p:sp>
        <p:nvSpPr>
          <p:cNvPr id="1086" name="Shape 1086"/>
          <p:cNvSpPr/>
          <p:nvPr/>
        </p:nvSpPr>
        <p:spPr>
          <a:xfrm>
            <a:off x="6543126" y="3331409"/>
            <a:ext cx="359999" cy="344479"/>
          </a:xfrm>
          <a:prstGeom prst="rect">
            <a:avLst/>
          </a:prstGeom>
          <a:solidFill>
            <a:srgbClr val="1F3D6B"/>
          </a:solidFill>
          <a:ln w="6350">
            <a:solidFill>
              <a:srgbClr val="1F3D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7" name="Shape 1087"/>
          <p:cNvSpPr/>
          <p:nvPr/>
        </p:nvSpPr>
        <p:spPr>
          <a:xfrm>
            <a:off x="6543126" y="2988093"/>
            <a:ext cx="359999" cy="343316"/>
          </a:xfrm>
          <a:prstGeom prst="rect">
            <a:avLst/>
          </a:prstGeom>
          <a:solidFill>
            <a:srgbClr val="2E5FA3"/>
          </a:solidFill>
          <a:ln w="635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8" name="Shape 1088"/>
          <p:cNvSpPr/>
          <p:nvPr/>
        </p:nvSpPr>
        <p:spPr>
          <a:xfrm>
            <a:off x="6543126" y="2716932"/>
            <a:ext cx="359999" cy="271161"/>
          </a:xfrm>
          <a:prstGeom prst="rect">
            <a:avLst/>
          </a:prstGeom>
          <a:solidFill>
            <a:srgbClr val="4F84C4"/>
          </a:solidFill>
          <a:ln w="6350">
            <a:solidFill>
              <a:srgbClr val="4F84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9" name="Shape 1089"/>
          <p:cNvSpPr/>
          <p:nvPr/>
        </p:nvSpPr>
        <p:spPr>
          <a:xfrm>
            <a:off x="6543126" y="2517925"/>
            <a:ext cx="359999" cy="199007"/>
          </a:xfrm>
          <a:prstGeom prst="rect">
            <a:avLst/>
          </a:prstGeom>
          <a:solidFill>
            <a:srgbClr val="8FB3DE"/>
          </a:solidFill>
          <a:ln w="6350">
            <a:solidFill>
              <a:srgbClr val="8FB3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0" name="Shape 1090"/>
          <p:cNvSpPr/>
          <p:nvPr/>
        </p:nvSpPr>
        <p:spPr>
          <a:xfrm>
            <a:off x="6543126" y="2395728"/>
            <a:ext cx="359999" cy="122197"/>
          </a:xfrm>
          <a:prstGeom prst="rect">
            <a:avLst/>
          </a:prstGeom>
          <a:solidFill>
            <a:srgbClr val="C9D9EF"/>
          </a:solidFill>
          <a:ln w="6350">
            <a:solidFill>
              <a:srgbClr val="C9D9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1" name="Text 1091"/>
          <p:cNvSpPr/>
          <p:nvPr/>
        </p:nvSpPr>
        <p:spPr>
          <a:xfrm>
            <a:off x="6432804" y="3712464"/>
            <a:ext cx="5806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00" b="0">
                <a:solidFill>
                  <a:srgbClr val="8A94A6"/>
                </a:solidFill>
              </a:rPr>
              <a:t>Jul</a:t>
            </a:r>
            <a:endParaRPr lang="en-US" sz="600"/>
          </a:p>
        </p:txBody>
      </p:sp>
      <p:sp>
        <p:nvSpPr>
          <p:cNvPr id="1092" name="Shape 1092"/>
          <p:cNvSpPr/>
          <p:nvPr/>
        </p:nvSpPr>
        <p:spPr>
          <a:xfrm>
            <a:off x="7123770" y="3324426"/>
            <a:ext cx="359999" cy="351462"/>
          </a:xfrm>
          <a:prstGeom prst="rect">
            <a:avLst/>
          </a:prstGeom>
          <a:solidFill>
            <a:srgbClr val="1F3D6B"/>
          </a:solidFill>
          <a:ln w="6350">
            <a:solidFill>
              <a:srgbClr val="1F3D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3" name="Shape 1093"/>
          <p:cNvSpPr/>
          <p:nvPr/>
        </p:nvSpPr>
        <p:spPr>
          <a:xfrm>
            <a:off x="7123770" y="2979946"/>
            <a:ext cx="359999" cy="344479"/>
          </a:xfrm>
          <a:prstGeom prst="rect">
            <a:avLst/>
          </a:prstGeom>
          <a:solidFill>
            <a:srgbClr val="2E5FA3"/>
          </a:solidFill>
          <a:ln w="635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4" name="Shape 1094"/>
          <p:cNvSpPr/>
          <p:nvPr/>
        </p:nvSpPr>
        <p:spPr>
          <a:xfrm>
            <a:off x="7123770" y="2709949"/>
            <a:ext cx="359999" cy="269997"/>
          </a:xfrm>
          <a:prstGeom prst="rect">
            <a:avLst/>
          </a:prstGeom>
          <a:solidFill>
            <a:srgbClr val="4F84C4"/>
          </a:solidFill>
          <a:ln w="6350">
            <a:solidFill>
              <a:srgbClr val="4F84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5" name="Shape 1095"/>
          <p:cNvSpPr/>
          <p:nvPr/>
        </p:nvSpPr>
        <p:spPr>
          <a:xfrm>
            <a:off x="7123770" y="2514434"/>
            <a:ext cx="359999" cy="195515"/>
          </a:xfrm>
          <a:prstGeom prst="rect">
            <a:avLst/>
          </a:prstGeom>
          <a:solidFill>
            <a:srgbClr val="8FB3DE"/>
          </a:solidFill>
          <a:ln w="6350">
            <a:solidFill>
              <a:srgbClr val="8FB3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6" name="Shape 1096"/>
          <p:cNvSpPr/>
          <p:nvPr/>
        </p:nvSpPr>
        <p:spPr>
          <a:xfrm>
            <a:off x="7123770" y="2395728"/>
            <a:ext cx="359999" cy="118706"/>
          </a:xfrm>
          <a:prstGeom prst="rect">
            <a:avLst/>
          </a:prstGeom>
          <a:solidFill>
            <a:srgbClr val="C9D9EF"/>
          </a:solidFill>
          <a:ln w="6350">
            <a:solidFill>
              <a:srgbClr val="C9D9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7" name="Text 1097"/>
          <p:cNvSpPr/>
          <p:nvPr/>
        </p:nvSpPr>
        <p:spPr>
          <a:xfrm>
            <a:off x="7013448" y="3712464"/>
            <a:ext cx="5806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00" b="0">
                <a:solidFill>
                  <a:srgbClr val="8A94A6"/>
                </a:solidFill>
              </a:rPr>
              <a:t>Aug</a:t>
            </a:r>
            <a:endParaRPr lang="en-US" sz="600"/>
          </a:p>
        </p:txBody>
      </p:sp>
      <p:sp>
        <p:nvSpPr>
          <p:cNvPr id="1098" name="Shape 1098"/>
          <p:cNvSpPr/>
          <p:nvPr/>
        </p:nvSpPr>
        <p:spPr>
          <a:xfrm>
            <a:off x="7704414" y="3317443"/>
            <a:ext cx="359999" cy="358445"/>
          </a:xfrm>
          <a:prstGeom prst="rect">
            <a:avLst/>
          </a:prstGeom>
          <a:solidFill>
            <a:srgbClr val="1F3D6B"/>
          </a:solidFill>
          <a:ln w="6350">
            <a:solidFill>
              <a:srgbClr val="1F3D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9" name="Shape 1099"/>
          <p:cNvSpPr/>
          <p:nvPr/>
        </p:nvSpPr>
        <p:spPr>
          <a:xfrm>
            <a:off x="7704414" y="2971800"/>
            <a:ext cx="359999" cy="345643"/>
          </a:xfrm>
          <a:prstGeom prst="rect">
            <a:avLst/>
          </a:prstGeom>
          <a:solidFill>
            <a:srgbClr val="2E5FA3"/>
          </a:solidFill>
          <a:ln w="635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0" name="Shape 1100"/>
          <p:cNvSpPr/>
          <p:nvPr/>
        </p:nvSpPr>
        <p:spPr>
          <a:xfrm>
            <a:off x="7704414" y="2702966"/>
            <a:ext cx="359999" cy="268834"/>
          </a:xfrm>
          <a:prstGeom prst="rect">
            <a:avLst/>
          </a:prstGeom>
          <a:solidFill>
            <a:srgbClr val="4F84C4"/>
          </a:solidFill>
          <a:ln w="6350">
            <a:solidFill>
              <a:srgbClr val="4F84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1" name="Shape 1101"/>
          <p:cNvSpPr/>
          <p:nvPr/>
        </p:nvSpPr>
        <p:spPr>
          <a:xfrm>
            <a:off x="7704414" y="2510942"/>
            <a:ext cx="359999" cy="192024"/>
          </a:xfrm>
          <a:prstGeom prst="rect">
            <a:avLst/>
          </a:prstGeom>
          <a:solidFill>
            <a:srgbClr val="8FB3DE"/>
          </a:solidFill>
          <a:ln w="6350">
            <a:solidFill>
              <a:srgbClr val="8FB3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2" name="Shape 1102"/>
          <p:cNvSpPr/>
          <p:nvPr/>
        </p:nvSpPr>
        <p:spPr>
          <a:xfrm>
            <a:off x="7704414" y="2395728"/>
            <a:ext cx="359999" cy="115214"/>
          </a:xfrm>
          <a:prstGeom prst="rect">
            <a:avLst/>
          </a:prstGeom>
          <a:solidFill>
            <a:srgbClr val="C9D9EF"/>
          </a:solidFill>
          <a:ln w="6350">
            <a:solidFill>
              <a:srgbClr val="C9D9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3" name="Text 1103"/>
          <p:cNvSpPr/>
          <p:nvPr/>
        </p:nvSpPr>
        <p:spPr>
          <a:xfrm>
            <a:off x="7594092" y="3712464"/>
            <a:ext cx="5806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00" b="0">
                <a:solidFill>
                  <a:srgbClr val="8A94A6"/>
                </a:solidFill>
              </a:rPr>
              <a:t>Sep</a:t>
            </a:r>
            <a:endParaRPr lang="en-US" sz="600"/>
          </a:p>
        </p:txBody>
      </p:sp>
      <p:sp>
        <p:nvSpPr>
          <p:cNvPr id="1104" name="Shape 1104"/>
          <p:cNvSpPr/>
          <p:nvPr/>
        </p:nvSpPr>
        <p:spPr>
          <a:xfrm>
            <a:off x="1207008" y="3877056"/>
            <a:ext cx="118872" cy="118872"/>
          </a:xfrm>
          <a:prstGeom prst="rect">
            <a:avLst/>
          </a:prstGeom>
          <a:solidFill>
            <a:srgbClr val="1F3D6B"/>
          </a:solidFill>
          <a:ln w="6350">
            <a:solidFill>
              <a:srgbClr val="1F3D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5" name="Text 1105"/>
          <p:cNvSpPr/>
          <p:nvPr/>
        </p:nvSpPr>
        <p:spPr>
          <a:xfrm>
            <a:off x="1371600" y="3867912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20" b="0">
                <a:solidFill>
                  <a:srgbClr val="4A5568"/>
                </a:solidFill>
              </a:rPr>
              <a:t>20s</a:t>
            </a:r>
            <a:endParaRPr lang="en-US" sz="620"/>
          </a:p>
        </p:txBody>
      </p:sp>
      <p:sp>
        <p:nvSpPr>
          <p:cNvPr id="1106" name="Shape 1106"/>
          <p:cNvSpPr/>
          <p:nvPr/>
        </p:nvSpPr>
        <p:spPr>
          <a:xfrm>
            <a:off x="1773936" y="3877056"/>
            <a:ext cx="118872" cy="118872"/>
          </a:xfrm>
          <a:prstGeom prst="rect">
            <a:avLst/>
          </a:prstGeom>
          <a:solidFill>
            <a:srgbClr val="2E5FA3"/>
          </a:solidFill>
          <a:ln w="635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7" name="Text 1107"/>
          <p:cNvSpPr/>
          <p:nvPr/>
        </p:nvSpPr>
        <p:spPr>
          <a:xfrm>
            <a:off x="1938528" y="3867912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20" b="0">
                <a:solidFill>
                  <a:srgbClr val="4A5568"/>
                </a:solidFill>
              </a:rPr>
              <a:t>30s</a:t>
            </a:r>
            <a:endParaRPr lang="en-US" sz="620"/>
          </a:p>
        </p:txBody>
      </p:sp>
      <p:sp>
        <p:nvSpPr>
          <p:cNvPr id="1108" name="Shape 1108"/>
          <p:cNvSpPr/>
          <p:nvPr/>
        </p:nvSpPr>
        <p:spPr>
          <a:xfrm>
            <a:off x="2340864" y="3877056"/>
            <a:ext cx="118872" cy="118872"/>
          </a:xfrm>
          <a:prstGeom prst="rect">
            <a:avLst/>
          </a:prstGeom>
          <a:solidFill>
            <a:srgbClr val="4F84C4"/>
          </a:solidFill>
          <a:ln w="6350">
            <a:solidFill>
              <a:srgbClr val="4F84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9" name="Text 1109"/>
          <p:cNvSpPr/>
          <p:nvPr/>
        </p:nvSpPr>
        <p:spPr>
          <a:xfrm>
            <a:off x="2505456" y="3867912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20" b="0">
                <a:solidFill>
                  <a:srgbClr val="4A5568"/>
                </a:solidFill>
              </a:rPr>
              <a:t>40s</a:t>
            </a:r>
            <a:endParaRPr lang="en-US" sz="620"/>
          </a:p>
        </p:txBody>
      </p:sp>
      <p:sp>
        <p:nvSpPr>
          <p:cNvPr id="1110" name="Shape 1110"/>
          <p:cNvSpPr/>
          <p:nvPr/>
        </p:nvSpPr>
        <p:spPr>
          <a:xfrm>
            <a:off x="2907792" y="3877056"/>
            <a:ext cx="118872" cy="118872"/>
          </a:xfrm>
          <a:prstGeom prst="rect">
            <a:avLst/>
          </a:prstGeom>
          <a:solidFill>
            <a:srgbClr val="8FB3DE"/>
          </a:solidFill>
          <a:ln w="6350">
            <a:solidFill>
              <a:srgbClr val="8FB3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1" name="Text 1111"/>
          <p:cNvSpPr/>
          <p:nvPr/>
        </p:nvSpPr>
        <p:spPr>
          <a:xfrm>
            <a:off x="3072384" y="3867912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20" b="0">
                <a:solidFill>
                  <a:srgbClr val="4A5568"/>
                </a:solidFill>
              </a:rPr>
              <a:t>50s</a:t>
            </a:r>
            <a:endParaRPr lang="en-US" sz="620"/>
          </a:p>
        </p:txBody>
      </p:sp>
      <p:sp>
        <p:nvSpPr>
          <p:cNvPr id="1112" name="Shape 1112"/>
          <p:cNvSpPr/>
          <p:nvPr/>
        </p:nvSpPr>
        <p:spPr>
          <a:xfrm>
            <a:off x="3474720" y="3877056"/>
            <a:ext cx="118872" cy="118872"/>
          </a:xfrm>
          <a:prstGeom prst="rect">
            <a:avLst/>
          </a:prstGeom>
          <a:solidFill>
            <a:srgbClr val="C9D9EF"/>
          </a:solidFill>
          <a:ln w="6350">
            <a:solidFill>
              <a:srgbClr val="C9D9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3" name="Text 1113"/>
          <p:cNvSpPr/>
          <p:nvPr/>
        </p:nvSpPr>
        <p:spPr>
          <a:xfrm>
            <a:off x="3639312" y="3867912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20" b="0">
                <a:solidFill>
                  <a:srgbClr val="4A5568"/>
                </a:solidFill>
              </a:rPr>
              <a:t>60+</a:t>
            </a:r>
            <a:endParaRPr lang="en-US" sz="620"/>
          </a:p>
        </p:txBody>
      </p:sp>
      <p:sp>
        <p:nvSpPr>
          <p:cNvPr id="1114" name="Text 1114"/>
          <p:cNvSpPr/>
          <p:nvPr/>
        </p:nvSpPr>
        <p:spPr>
          <a:xfrm>
            <a:off x="2578608" y="3877056"/>
            <a:ext cx="5577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50" b="0">
                <a:solidFill>
                  <a:srgbClr val="8A94A6"/>
                </a:solidFill>
              </a:rPr>
              <a:t>Click a band → filter this screen to that age segment  ·  Switch to Count</a:t>
            </a:r>
            <a:endParaRPr lang="en-US" sz="650"/>
          </a:p>
        </p:txBody>
      </p:sp>
      <p:sp>
        <p:nvSpPr>
          <p:cNvPr id="1115" name="Shape 1115"/>
          <p:cNvSpPr/>
          <p:nvPr/>
        </p:nvSpPr>
        <p:spPr>
          <a:xfrm>
            <a:off x="8595360" y="1938528"/>
            <a:ext cx="3246120" cy="2212848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7620">
            <a:solidFill>
              <a:srgbClr val="D8E1EA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16" name="Shape 1116"/>
          <p:cNvSpPr/>
          <p:nvPr/>
        </p:nvSpPr>
        <p:spPr>
          <a:xfrm>
            <a:off x="8595360" y="1938528"/>
            <a:ext cx="45720" cy="2212848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7" name="Text 1117"/>
          <p:cNvSpPr/>
          <p:nvPr/>
        </p:nvSpPr>
        <p:spPr>
          <a:xfrm>
            <a:off x="8723376" y="2020824"/>
            <a:ext cx="2990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>
                <a:solidFill>
                  <a:srgbClr val="1F3D6B"/>
                </a:solidFill>
              </a:rPr>
              <a:t>Segment Snapshot</a:t>
            </a:r>
            <a:endParaRPr lang="en-US" sz="1000"/>
          </a:p>
        </p:txBody>
      </p:sp>
      <p:sp>
        <p:nvSpPr>
          <p:cNvPr id="1118" name="Text 1118"/>
          <p:cNvSpPr/>
          <p:nvPr/>
        </p:nvSpPr>
        <p:spPr>
          <a:xfrm>
            <a:off x="8723376" y="2221992"/>
            <a:ext cx="29900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0">
                <a:solidFill>
                  <a:srgbClr val="8A94A6"/>
                </a:solidFill>
              </a:rPr>
              <a:t>Selected period · Sep 2026</a:t>
            </a:r>
            <a:endParaRPr lang="en-US" sz="700"/>
          </a:p>
        </p:txBody>
      </p:sp>
      <p:sp>
        <p:nvSpPr>
          <p:cNvPr id="1119" name="Text 1119"/>
          <p:cNvSpPr/>
          <p:nvPr/>
        </p:nvSpPr>
        <p:spPr>
          <a:xfrm>
            <a:off x="8741664" y="2450592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0">
                <a:solidFill>
                  <a:srgbClr val="1F3D6B"/>
                </a:solidFill>
              </a:rPr>
              <a:t>Female</a:t>
            </a:r>
            <a:endParaRPr lang="en-US" sz="700"/>
          </a:p>
        </p:txBody>
      </p:sp>
      <p:sp>
        <p:nvSpPr>
          <p:cNvPr id="1120" name="Shape 1120"/>
          <p:cNvSpPr/>
          <p:nvPr/>
        </p:nvSpPr>
        <p:spPr>
          <a:xfrm>
            <a:off x="9692640" y="2459736"/>
            <a:ext cx="1417320" cy="118872"/>
          </a:xfrm>
          <a:prstGeom prst="rect">
            <a:avLst/>
          </a:prstGeom>
          <a:solidFill>
            <a:srgbClr val="EDF1F6"/>
          </a:solidFill>
          <a:ln w="6350">
            <a:solidFill>
              <a:srgbClr val="EDF1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1" name="Shape 1121"/>
          <p:cNvSpPr/>
          <p:nvPr/>
        </p:nvSpPr>
        <p:spPr>
          <a:xfrm>
            <a:off x="9692640" y="2459736"/>
            <a:ext cx="822046" cy="118872"/>
          </a:xfrm>
          <a:prstGeom prst="rect">
            <a:avLst/>
          </a:prstGeom>
          <a:solidFill>
            <a:srgbClr val="D02C8C"/>
          </a:solidFill>
          <a:ln w="6350">
            <a:solidFill>
              <a:srgbClr val="D02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2" name="Text 1122"/>
          <p:cNvSpPr/>
          <p:nvPr/>
        </p:nvSpPr>
        <p:spPr>
          <a:xfrm>
            <a:off x="11173968" y="2450592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b="1">
                <a:solidFill>
                  <a:srgbClr val="D02C8C"/>
                </a:solidFill>
              </a:rPr>
              <a:t>58%</a:t>
            </a:r>
            <a:endParaRPr lang="en-US" sz="700"/>
          </a:p>
        </p:txBody>
      </p:sp>
      <p:sp>
        <p:nvSpPr>
          <p:cNvPr id="1123" name="Text 1123"/>
          <p:cNvSpPr/>
          <p:nvPr/>
        </p:nvSpPr>
        <p:spPr>
          <a:xfrm>
            <a:off x="8741664" y="2724912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0">
                <a:solidFill>
                  <a:srgbClr val="1F3D6B"/>
                </a:solidFill>
              </a:rPr>
              <a:t>Male</a:t>
            </a:r>
            <a:endParaRPr lang="en-US" sz="700"/>
          </a:p>
        </p:txBody>
      </p:sp>
      <p:sp>
        <p:nvSpPr>
          <p:cNvPr id="1124" name="Shape 1124"/>
          <p:cNvSpPr/>
          <p:nvPr/>
        </p:nvSpPr>
        <p:spPr>
          <a:xfrm>
            <a:off x="9692640" y="2734056"/>
            <a:ext cx="1417320" cy="118872"/>
          </a:xfrm>
          <a:prstGeom prst="rect">
            <a:avLst/>
          </a:prstGeom>
          <a:solidFill>
            <a:srgbClr val="EDF1F6"/>
          </a:solidFill>
          <a:ln w="6350">
            <a:solidFill>
              <a:srgbClr val="EDF1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5" name="Shape 1125"/>
          <p:cNvSpPr/>
          <p:nvPr/>
        </p:nvSpPr>
        <p:spPr>
          <a:xfrm>
            <a:off x="9692640" y="2734056"/>
            <a:ext cx="595274" cy="118872"/>
          </a:xfrm>
          <a:prstGeom prst="rect">
            <a:avLst/>
          </a:prstGeom>
          <a:solidFill>
            <a:srgbClr val="2E5FA3"/>
          </a:solidFill>
          <a:ln w="635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6" name="Text 1126"/>
          <p:cNvSpPr/>
          <p:nvPr/>
        </p:nvSpPr>
        <p:spPr>
          <a:xfrm>
            <a:off x="11173968" y="2724912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b="1">
                <a:solidFill>
                  <a:srgbClr val="2E5FA3"/>
                </a:solidFill>
              </a:rPr>
              <a:t>42%</a:t>
            </a:r>
            <a:endParaRPr lang="en-US" sz="700"/>
          </a:p>
        </p:txBody>
      </p:sp>
      <p:sp>
        <p:nvSpPr>
          <p:cNvPr id="1127" name="Text 1127"/>
          <p:cNvSpPr/>
          <p:nvPr/>
        </p:nvSpPr>
        <p:spPr>
          <a:xfrm>
            <a:off x="8741664" y="2999232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0">
                <a:solidFill>
                  <a:srgbClr val="1F3D6B"/>
                </a:solidFill>
              </a:rPr>
              <a:t>New member</a:t>
            </a:r>
            <a:endParaRPr lang="en-US" sz="700"/>
          </a:p>
        </p:txBody>
      </p:sp>
      <p:sp>
        <p:nvSpPr>
          <p:cNvPr id="1128" name="Shape 1128"/>
          <p:cNvSpPr/>
          <p:nvPr/>
        </p:nvSpPr>
        <p:spPr>
          <a:xfrm>
            <a:off x="9692640" y="3008376"/>
            <a:ext cx="1417320" cy="118872"/>
          </a:xfrm>
          <a:prstGeom prst="rect">
            <a:avLst/>
          </a:prstGeom>
          <a:solidFill>
            <a:srgbClr val="EDF1F6"/>
          </a:solidFill>
          <a:ln w="6350">
            <a:solidFill>
              <a:srgbClr val="EDF1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9" name="Shape 1129"/>
          <p:cNvSpPr/>
          <p:nvPr/>
        </p:nvSpPr>
        <p:spPr>
          <a:xfrm>
            <a:off x="9692640" y="3008376"/>
            <a:ext cx="439369" cy="118872"/>
          </a:xfrm>
          <a:prstGeom prst="rect">
            <a:avLst/>
          </a:prstGeom>
          <a:solidFill>
            <a:srgbClr val="1E8E5A"/>
          </a:solidFill>
          <a:ln w="6350">
            <a:solidFill>
              <a:srgbClr val="1E8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0" name="Text 1130"/>
          <p:cNvSpPr/>
          <p:nvPr/>
        </p:nvSpPr>
        <p:spPr>
          <a:xfrm>
            <a:off x="11173968" y="2999232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b="1">
                <a:solidFill>
                  <a:srgbClr val="1E8E5A"/>
                </a:solidFill>
              </a:rPr>
              <a:t>31%</a:t>
            </a:r>
            <a:endParaRPr lang="en-US" sz="700"/>
          </a:p>
        </p:txBody>
      </p:sp>
      <p:sp>
        <p:nvSpPr>
          <p:cNvPr id="1131" name="Text 1131"/>
          <p:cNvSpPr/>
          <p:nvPr/>
        </p:nvSpPr>
        <p:spPr>
          <a:xfrm>
            <a:off x="8741664" y="3273552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0">
                <a:solidFill>
                  <a:srgbClr val="1F3D6B"/>
                </a:solidFill>
              </a:rPr>
              <a:t>Existing</a:t>
            </a:r>
            <a:endParaRPr lang="en-US" sz="700"/>
          </a:p>
        </p:txBody>
      </p:sp>
      <p:sp>
        <p:nvSpPr>
          <p:cNvPr id="1132" name="Shape 1132"/>
          <p:cNvSpPr/>
          <p:nvPr/>
        </p:nvSpPr>
        <p:spPr>
          <a:xfrm>
            <a:off x="9692640" y="3282696"/>
            <a:ext cx="1417320" cy="118872"/>
          </a:xfrm>
          <a:prstGeom prst="rect">
            <a:avLst/>
          </a:prstGeom>
          <a:solidFill>
            <a:srgbClr val="EDF1F6"/>
          </a:solidFill>
          <a:ln w="6350">
            <a:solidFill>
              <a:srgbClr val="EDF1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3" name="Shape 1133"/>
          <p:cNvSpPr/>
          <p:nvPr/>
        </p:nvSpPr>
        <p:spPr>
          <a:xfrm>
            <a:off x="9692640" y="3282696"/>
            <a:ext cx="977951" cy="118872"/>
          </a:xfrm>
          <a:prstGeom prst="rect">
            <a:avLst/>
          </a:prstGeom>
          <a:solidFill>
            <a:srgbClr val="4F84C4"/>
          </a:solidFill>
          <a:ln w="6350">
            <a:solidFill>
              <a:srgbClr val="4F84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4" name="Text 1134"/>
          <p:cNvSpPr/>
          <p:nvPr/>
        </p:nvSpPr>
        <p:spPr>
          <a:xfrm>
            <a:off x="11173968" y="3273552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b="1">
                <a:solidFill>
                  <a:srgbClr val="4F84C4"/>
                </a:solidFill>
              </a:rPr>
              <a:t>69%</a:t>
            </a:r>
            <a:endParaRPr lang="en-US" sz="700"/>
          </a:p>
        </p:txBody>
      </p:sp>
      <p:sp>
        <p:nvSpPr>
          <p:cNvPr id="1135" name="Shape 1135"/>
          <p:cNvSpPr/>
          <p:nvPr/>
        </p:nvSpPr>
        <p:spPr>
          <a:xfrm>
            <a:off x="8741664" y="3584448"/>
            <a:ext cx="2953512" cy="274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6" name="Text 1136"/>
          <p:cNvSpPr/>
          <p:nvPr/>
        </p:nvSpPr>
        <p:spPr>
          <a:xfrm>
            <a:off x="8851392" y="3648456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0">
                <a:solidFill>
                  <a:srgbClr val="8A94A6"/>
                </a:solidFill>
              </a:rPr>
              <a:t>Largest group</a:t>
            </a:r>
            <a:endParaRPr lang="en-US" sz="700"/>
          </a:p>
        </p:txBody>
      </p:sp>
      <p:sp>
        <p:nvSpPr>
          <p:cNvPr id="1137" name="Text 1137"/>
          <p:cNvSpPr/>
          <p:nvPr/>
        </p:nvSpPr>
        <p:spPr>
          <a:xfrm>
            <a:off x="10332720" y="363931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b="1">
                <a:solidFill>
                  <a:srgbClr val="1F3D6B"/>
                </a:solidFill>
              </a:rPr>
              <a:t>30s · 27%</a:t>
            </a:r>
            <a:endParaRPr lang="en-US" sz="800"/>
          </a:p>
        </p:txBody>
      </p:sp>
      <p:sp>
        <p:nvSpPr>
          <p:cNvPr id="1138" name="Text 1138"/>
          <p:cNvSpPr/>
          <p:nvPr/>
        </p:nvSpPr>
        <p:spPr>
          <a:xfrm>
            <a:off x="8741664" y="3913632"/>
            <a:ext cx="29535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00" b="0">
                <a:solidFill>
                  <a:srgbClr val="8A94A6"/>
                </a:solidFill>
              </a:rPr>
              <a:t>uniq(member_id) by age_band · agg_segment_daily</a:t>
            </a:r>
            <a:endParaRPr lang="en-US" sz="600"/>
          </a:p>
        </p:txBody>
      </p:sp>
      <p:sp>
        <p:nvSpPr>
          <p:cNvPr id="1139" name="Shape 1139"/>
          <p:cNvSpPr/>
          <p:nvPr/>
        </p:nvSpPr>
        <p:spPr>
          <a:xfrm>
            <a:off x="594360" y="4279392"/>
            <a:ext cx="3703320" cy="1993392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7620">
            <a:solidFill>
              <a:srgbClr val="D8E1EA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40" name="Shape 1140"/>
          <p:cNvSpPr/>
          <p:nvPr/>
        </p:nvSpPr>
        <p:spPr>
          <a:xfrm>
            <a:off x="594360" y="4279392"/>
            <a:ext cx="45720" cy="1993392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1" name="Text 1141"/>
          <p:cNvSpPr/>
          <p:nvPr/>
        </p:nvSpPr>
        <p:spPr>
          <a:xfrm>
            <a:off x="722376" y="4361688"/>
            <a:ext cx="3447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>
                <a:solidFill>
                  <a:srgbClr val="1F3D6B"/>
                </a:solidFill>
              </a:rPr>
              <a:t>Age Segment Movement</a:t>
            </a:r>
            <a:endParaRPr lang="en-US" sz="1000"/>
          </a:p>
        </p:txBody>
      </p:sp>
      <p:sp>
        <p:nvSpPr>
          <p:cNvPr id="1142" name="Text 1142"/>
          <p:cNvSpPr/>
          <p:nvPr/>
        </p:nvSpPr>
        <p:spPr>
          <a:xfrm>
            <a:off x="722376" y="4562856"/>
            <a:ext cx="34472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0">
                <a:solidFill>
                  <a:srgbClr val="8A94A6"/>
                </a:solidFill>
              </a:rPr>
              <a:t>Share change vs last month</a:t>
            </a:r>
            <a:endParaRPr lang="en-US" sz="700"/>
          </a:p>
        </p:txBody>
      </p:sp>
      <p:sp>
        <p:nvSpPr>
          <p:cNvPr id="1143" name="Text 1143"/>
          <p:cNvSpPr/>
          <p:nvPr/>
        </p:nvSpPr>
        <p:spPr>
          <a:xfrm>
            <a:off x="722376" y="4754880"/>
            <a:ext cx="1463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00" b="1">
                <a:solidFill>
                  <a:srgbClr val="8A94A6"/>
                </a:solidFill>
              </a:rPr>
              <a:t>AGE GROUP</a:t>
            </a:r>
            <a:endParaRPr lang="en-US" sz="600"/>
          </a:p>
        </p:txBody>
      </p:sp>
      <p:sp>
        <p:nvSpPr>
          <p:cNvPr id="1144" name="Text 1144"/>
          <p:cNvSpPr/>
          <p:nvPr/>
        </p:nvSpPr>
        <p:spPr>
          <a:xfrm>
            <a:off x="3630168" y="4754880"/>
            <a:ext cx="548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00" b="1">
                <a:solidFill>
                  <a:srgbClr val="8A94A6"/>
                </a:solidFill>
              </a:rPr>
              <a:t>pt</a:t>
            </a:r>
            <a:endParaRPr lang="en-US" sz="600"/>
          </a:p>
        </p:txBody>
      </p:sp>
      <p:sp>
        <p:nvSpPr>
          <p:cNvPr id="1145" name="Text 1145"/>
          <p:cNvSpPr/>
          <p:nvPr/>
        </p:nvSpPr>
        <p:spPr>
          <a:xfrm>
            <a:off x="722376" y="4882896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0">
                <a:solidFill>
                  <a:srgbClr val="1F3D6B"/>
                </a:solidFill>
              </a:rPr>
              <a:t>20s</a:t>
            </a:r>
            <a:endParaRPr lang="en-US" sz="700"/>
          </a:p>
        </p:txBody>
      </p:sp>
      <p:sp>
        <p:nvSpPr>
          <p:cNvPr id="1146" name="Shape 1146"/>
          <p:cNvSpPr/>
          <p:nvPr/>
        </p:nvSpPr>
        <p:spPr>
          <a:xfrm>
            <a:off x="2157984" y="4892040"/>
            <a:ext cx="1417320" cy="118872"/>
          </a:xfrm>
          <a:prstGeom prst="rect">
            <a:avLst/>
          </a:prstGeom>
          <a:solidFill>
            <a:srgbClr val="EDF1F6"/>
          </a:solidFill>
          <a:ln w="6350">
            <a:solidFill>
              <a:srgbClr val="EDF1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7" name="Shape 1147"/>
          <p:cNvSpPr/>
          <p:nvPr/>
        </p:nvSpPr>
        <p:spPr>
          <a:xfrm>
            <a:off x="2157984" y="4892040"/>
            <a:ext cx="1133856" cy="118872"/>
          </a:xfrm>
          <a:prstGeom prst="rect">
            <a:avLst/>
          </a:prstGeom>
          <a:solidFill>
            <a:srgbClr val="1E8E5A"/>
          </a:solidFill>
          <a:ln w="6350">
            <a:solidFill>
              <a:srgbClr val="1E8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8" name="Text 1148"/>
          <p:cNvSpPr/>
          <p:nvPr/>
        </p:nvSpPr>
        <p:spPr>
          <a:xfrm>
            <a:off x="3630168" y="4882896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b="1">
                <a:solidFill>
                  <a:srgbClr val="1E8E5A"/>
                </a:solidFill>
              </a:rPr>
              <a:t>+2.4</a:t>
            </a:r>
            <a:endParaRPr lang="en-US" sz="700"/>
          </a:p>
        </p:txBody>
      </p:sp>
      <p:sp>
        <p:nvSpPr>
          <p:cNvPr id="1149" name="Text 1149"/>
          <p:cNvSpPr/>
          <p:nvPr/>
        </p:nvSpPr>
        <p:spPr>
          <a:xfrm>
            <a:off x="722376" y="5120640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0">
                <a:solidFill>
                  <a:srgbClr val="1F3D6B"/>
                </a:solidFill>
              </a:rPr>
              <a:t>30s</a:t>
            </a:r>
            <a:endParaRPr lang="en-US" sz="700"/>
          </a:p>
        </p:txBody>
      </p:sp>
      <p:sp>
        <p:nvSpPr>
          <p:cNvPr id="1150" name="Shape 1150"/>
          <p:cNvSpPr/>
          <p:nvPr/>
        </p:nvSpPr>
        <p:spPr>
          <a:xfrm>
            <a:off x="2157984" y="5129784"/>
            <a:ext cx="1417320" cy="118872"/>
          </a:xfrm>
          <a:prstGeom prst="rect">
            <a:avLst/>
          </a:prstGeom>
          <a:solidFill>
            <a:srgbClr val="EDF1F6"/>
          </a:solidFill>
          <a:ln w="6350">
            <a:solidFill>
              <a:srgbClr val="EDF1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1" name="Shape 1151"/>
          <p:cNvSpPr/>
          <p:nvPr/>
        </p:nvSpPr>
        <p:spPr>
          <a:xfrm>
            <a:off x="2157984" y="5129784"/>
            <a:ext cx="425196" cy="118872"/>
          </a:xfrm>
          <a:prstGeom prst="rect">
            <a:avLst/>
          </a:prstGeom>
          <a:solidFill>
            <a:srgbClr val="1E8E5A"/>
          </a:solidFill>
          <a:ln w="6350">
            <a:solidFill>
              <a:srgbClr val="1E8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2" name="Text 1152"/>
          <p:cNvSpPr/>
          <p:nvPr/>
        </p:nvSpPr>
        <p:spPr>
          <a:xfrm>
            <a:off x="3630168" y="512064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b="1">
                <a:solidFill>
                  <a:srgbClr val="1E8E5A"/>
                </a:solidFill>
              </a:rPr>
              <a:t>+0.9</a:t>
            </a:r>
            <a:endParaRPr lang="en-US" sz="700"/>
          </a:p>
        </p:txBody>
      </p:sp>
      <p:sp>
        <p:nvSpPr>
          <p:cNvPr id="1153" name="Text 1153"/>
          <p:cNvSpPr/>
          <p:nvPr/>
        </p:nvSpPr>
        <p:spPr>
          <a:xfrm>
            <a:off x="722376" y="5358384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0">
                <a:solidFill>
                  <a:srgbClr val="4A5568"/>
                </a:solidFill>
              </a:rPr>
              <a:t>40s</a:t>
            </a:r>
            <a:endParaRPr lang="en-US" sz="700"/>
          </a:p>
        </p:txBody>
      </p:sp>
      <p:sp>
        <p:nvSpPr>
          <p:cNvPr id="1154" name="Shape 1154"/>
          <p:cNvSpPr/>
          <p:nvPr/>
        </p:nvSpPr>
        <p:spPr>
          <a:xfrm>
            <a:off x="2157984" y="5367528"/>
            <a:ext cx="1417320" cy="118872"/>
          </a:xfrm>
          <a:prstGeom prst="rect">
            <a:avLst/>
          </a:prstGeom>
          <a:solidFill>
            <a:srgbClr val="EDF1F6"/>
          </a:solidFill>
          <a:ln w="6350">
            <a:solidFill>
              <a:srgbClr val="EDF1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5" name="Shape 1155"/>
          <p:cNvSpPr/>
          <p:nvPr/>
        </p:nvSpPr>
        <p:spPr>
          <a:xfrm>
            <a:off x="3433572" y="5367528"/>
            <a:ext cx="141732" cy="118872"/>
          </a:xfrm>
          <a:prstGeom prst="rect">
            <a:avLst/>
          </a:prstGeom>
          <a:solidFill>
            <a:srgbClr val="C0392B"/>
          </a:solidFill>
          <a:ln w="63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6" name="Text 1156"/>
          <p:cNvSpPr/>
          <p:nvPr/>
        </p:nvSpPr>
        <p:spPr>
          <a:xfrm>
            <a:off x="3630168" y="5358384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b="1">
                <a:solidFill>
                  <a:srgbClr val="C0392B"/>
                </a:solidFill>
              </a:rPr>
              <a:t>-0.3</a:t>
            </a:r>
            <a:endParaRPr lang="en-US" sz="700"/>
          </a:p>
        </p:txBody>
      </p:sp>
      <p:sp>
        <p:nvSpPr>
          <p:cNvPr id="1157" name="Text 1157"/>
          <p:cNvSpPr/>
          <p:nvPr/>
        </p:nvSpPr>
        <p:spPr>
          <a:xfrm>
            <a:off x="722376" y="5596128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0">
                <a:solidFill>
                  <a:srgbClr val="4A5568"/>
                </a:solidFill>
              </a:rPr>
              <a:t>50s</a:t>
            </a:r>
            <a:endParaRPr lang="en-US" sz="700"/>
          </a:p>
        </p:txBody>
      </p:sp>
      <p:sp>
        <p:nvSpPr>
          <p:cNvPr id="1158" name="Shape 1158"/>
          <p:cNvSpPr/>
          <p:nvPr/>
        </p:nvSpPr>
        <p:spPr>
          <a:xfrm>
            <a:off x="2157984" y="5605272"/>
            <a:ext cx="1417320" cy="118872"/>
          </a:xfrm>
          <a:prstGeom prst="rect">
            <a:avLst/>
          </a:prstGeom>
          <a:solidFill>
            <a:srgbClr val="EDF1F6"/>
          </a:solidFill>
          <a:ln w="6350">
            <a:solidFill>
              <a:srgbClr val="EDF1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9" name="Shape 1159"/>
          <p:cNvSpPr/>
          <p:nvPr/>
        </p:nvSpPr>
        <p:spPr>
          <a:xfrm>
            <a:off x="3008376" y="5605272"/>
            <a:ext cx="566928" cy="118872"/>
          </a:xfrm>
          <a:prstGeom prst="rect">
            <a:avLst/>
          </a:prstGeom>
          <a:solidFill>
            <a:srgbClr val="C0392B"/>
          </a:solidFill>
          <a:ln w="63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0" name="Text 1160"/>
          <p:cNvSpPr/>
          <p:nvPr/>
        </p:nvSpPr>
        <p:spPr>
          <a:xfrm>
            <a:off x="3630168" y="5596128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b="1">
                <a:solidFill>
                  <a:srgbClr val="C0392B"/>
                </a:solidFill>
              </a:rPr>
              <a:t>-1.2</a:t>
            </a:r>
            <a:endParaRPr lang="en-US" sz="700"/>
          </a:p>
        </p:txBody>
      </p:sp>
      <p:sp>
        <p:nvSpPr>
          <p:cNvPr id="1161" name="Text 1161"/>
          <p:cNvSpPr/>
          <p:nvPr/>
        </p:nvSpPr>
        <p:spPr>
          <a:xfrm>
            <a:off x="722376" y="5833872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0">
                <a:solidFill>
                  <a:srgbClr val="4A5568"/>
                </a:solidFill>
              </a:rPr>
              <a:t>60+</a:t>
            </a:r>
            <a:endParaRPr lang="en-US" sz="700"/>
          </a:p>
        </p:txBody>
      </p:sp>
      <p:sp>
        <p:nvSpPr>
          <p:cNvPr id="1162" name="Shape 1162"/>
          <p:cNvSpPr/>
          <p:nvPr/>
        </p:nvSpPr>
        <p:spPr>
          <a:xfrm>
            <a:off x="2157984" y="5843016"/>
            <a:ext cx="1417320" cy="118872"/>
          </a:xfrm>
          <a:prstGeom prst="rect">
            <a:avLst/>
          </a:prstGeom>
          <a:solidFill>
            <a:srgbClr val="EDF1F6"/>
          </a:solidFill>
          <a:ln w="6350">
            <a:solidFill>
              <a:srgbClr val="EDF1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3" name="Shape 1163"/>
          <p:cNvSpPr/>
          <p:nvPr/>
        </p:nvSpPr>
        <p:spPr>
          <a:xfrm>
            <a:off x="2724912" y="5843016"/>
            <a:ext cx="850392" cy="118872"/>
          </a:xfrm>
          <a:prstGeom prst="rect">
            <a:avLst/>
          </a:prstGeom>
          <a:solidFill>
            <a:srgbClr val="C0392B"/>
          </a:solidFill>
          <a:ln w="63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4" name="Text 1164"/>
          <p:cNvSpPr/>
          <p:nvPr/>
        </p:nvSpPr>
        <p:spPr>
          <a:xfrm>
            <a:off x="3630168" y="5833872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b="1">
                <a:solidFill>
                  <a:srgbClr val="C0392B"/>
                </a:solidFill>
              </a:rPr>
              <a:t>-1.8</a:t>
            </a:r>
            <a:endParaRPr lang="en-US" sz="700"/>
          </a:p>
        </p:txBody>
      </p:sp>
      <p:sp>
        <p:nvSpPr>
          <p:cNvPr id="1165" name="Text 1165"/>
          <p:cNvSpPr/>
          <p:nvPr/>
        </p:nvSpPr>
        <p:spPr>
          <a:xfrm>
            <a:off x="722376" y="6062472"/>
            <a:ext cx="3383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50" b="0">
                <a:solidFill>
                  <a:srgbClr val="8A94A6"/>
                </a:solidFill>
              </a:rPr>
              <a:t>Click a bar → filter to that age band  ·  applies in place</a:t>
            </a:r>
            <a:endParaRPr lang="en-US" sz="650"/>
          </a:p>
        </p:txBody>
      </p:sp>
      <p:sp>
        <p:nvSpPr>
          <p:cNvPr id="1166" name="Shape 1166"/>
          <p:cNvSpPr/>
          <p:nvPr/>
        </p:nvSpPr>
        <p:spPr>
          <a:xfrm>
            <a:off x="4526280" y="4279392"/>
            <a:ext cx="3703320" cy="1993392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7620">
            <a:solidFill>
              <a:srgbClr val="D8E1EA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67" name="Shape 1167"/>
          <p:cNvSpPr/>
          <p:nvPr/>
        </p:nvSpPr>
        <p:spPr>
          <a:xfrm>
            <a:off x="4526280" y="4279392"/>
            <a:ext cx="45720" cy="1993392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8" name="Text 1168"/>
          <p:cNvSpPr/>
          <p:nvPr/>
        </p:nvSpPr>
        <p:spPr>
          <a:xfrm>
            <a:off x="4654296" y="4361688"/>
            <a:ext cx="3447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>
                <a:solidFill>
                  <a:srgbClr val="1F3D6B"/>
                </a:solidFill>
              </a:rPr>
              <a:t>Segment Table</a:t>
            </a:r>
            <a:endParaRPr lang="en-US" sz="1000"/>
          </a:p>
        </p:txBody>
      </p:sp>
      <p:sp>
        <p:nvSpPr>
          <p:cNvPr id="1169" name="Text 1169"/>
          <p:cNvSpPr/>
          <p:nvPr/>
        </p:nvSpPr>
        <p:spPr>
          <a:xfrm>
            <a:off x="4654296" y="4562856"/>
            <a:ext cx="34472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0">
                <a:solidFill>
                  <a:srgbClr val="8A94A6"/>
                </a:solidFill>
              </a:rPr>
              <a:t>Members, share and growth by group</a:t>
            </a:r>
            <a:endParaRPr lang="en-US" sz="700"/>
          </a:p>
        </p:txBody>
      </p:sp>
      <p:sp>
        <p:nvSpPr>
          <p:cNvPr id="1170" name="Text 1170"/>
          <p:cNvSpPr/>
          <p:nvPr/>
        </p:nvSpPr>
        <p:spPr>
          <a:xfrm>
            <a:off x="4654296" y="4754880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00" b="1">
                <a:solidFill>
                  <a:srgbClr val="8A94A6"/>
                </a:solidFill>
              </a:rPr>
              <a:t>SEGMENT</a:t>
            </a:r>
            <a:endParaRPr lang="en-US" sz="600"/>
          </a:p>
        </p:txBody>
      </p:sp>
      <p:sp>
        <p:nvSpPr>
          <p:cNvPr id="1171" name="Text 1171"/>
          <p:cNvSpPr/>
          <p:nvPr/>
        </p:nvSpPr>
        <p:spPr>
          <a:xfrm>
            <a:off x="5897880" y="4754880"/>
            <a:ext cx="777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00" b="1">
                <a:solidFill>
                  <a:srgbClr val="8A94A6"/>
                </a:solidFill>
              </a:rPr>
              <a:t>MEMBERS</a:t>
            </a:r>
            <a:endParaRPr lang="en-US" sz="600"/>
          </a:p>
        </p:txBody>
      </p:sp>
      <p:sp>
        <p:nvSpPr>
          <p:cNvPr id="1172" name="Text 1172"/>
          <p:cNvSpPr/>
          <p:nvPr/>
        </p:nvSpPr>
        <p:spPr>
          <a:xfrm>
            <a:off x="6766560" y="4754880"/>
            <a:ext cx="640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00" b="1">
                <a:solidFill>
                  <a:srgbClr val="8A94A6"/>
                </a:solidFill>
              </a:rPr>
              <a:t>SHARE</a:t>
            </a:r>
            <a:endParaRPr lang="en-US" sz="600"/>
          </a:p>
        </p:txBody>
      </p:sp>
      <p:sp>
        <p:nvSpPr>
          <p:cNvPr id="1173" name="Text 1173"/>
          <p:cNvSpPr/>
          <p:nvPr/>
        </p:nvSpPr>
        <p:spPr>
          <a:xfrm>
            <a:off x="7452360" y="4754880"/>
            <a:ext cx="640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00" b="1">
                <a:solidFill>
                  <a:srgbClr val="8A94A6"/>
                </a:solidFill>
              </a:rPr>
              <a:t>MoM</a:t>
            </a:r>
            <a:endParaRPr lang="en-US" sz="600"/>
          </a:p>
        </p:txBody>
      </p:sp>
      <p:sp>
        <p:nvSpPr>
          <p:cNvPr id="1174" name="Shape 1174"/>
          <p:cNvSpPr/>
          <p:nvPr/>
        </p:nvSpPr>
        <p:spPr>
          <a:xfrm>
            <a:off x="4617720" y="4855464"/>
            <a:ext cx="35204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5" name="Text 1175"/>
          <p:cNvSpPr/>
          <p:nvPr/>
        </p:nvSpPr>
        <p:spPr>
          <a:xfrm>
            <a:off x="4654296" y="4882896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0">
                <a:solidFill>
                  <a:srgbClr val="1F3D6B"/>
                </a:solidFill>
              </a:rPr>
              <a:t>20s · Female</a:t>
            </a:r>
            <a:endParaRPr lang="en-US" sz="700"/>
          </a:p>
        </p:txBody>
      </p:sp>
      <p:sp>
        <p:nvSpPr>
          <p:cNvPr id="1176" name="Text 1176"/>
          <p:cNvSpPr/>
          <p:nvPr/>
        </p:nvSpPr>
        <p:spPr>
          <a:xfrm>
            <a:off x="5897880" y="4882896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b="1">
                <a:solidFill>
                  <a:srgbClr val="1F3D6B"/>
                </a:solidFill>
              </a:rPr>
              <a:t>41.2K</a:t>
            </a:r>
            <a:endParaRPr lang="en-US" sz="700"/>
          </a:p>
        </p:txBody>
      </p:sp>
      <p:sp>
        <p:nvSpPr>
          <p:cNvPr id="1177" name="Text 1177"/>
          <p:cNvSpPr/>
          <p:nvPr/>
        </p:nvSpPr>
        <p:spPr>
          <a:xfrm>
            <a:off x="6766560" y="4882896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b="0">
                <a:solidFill>
                  <a:srgbClr val="4A5568"/>
                </a:solidFill>
              </a:rPr>
              <a:t>15.1%</a:t>
            </a:r>
            <a:endParaRPr lang="en-US" sz="700"/>
          </a:p>
        </p:txBody>
      </p:sp>
      <p:sp>
        <p:nvSpPr>
          <p:cNvPr id="1178" name="Text 1178"/>
          <p:cNvSpPr/>
          <p:nvPr/>
        </p:nvSpPr>
        <p:spPr>
          <a:xfrm>
            <a:off x="7452360" y="4882896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b="1">
                <a:solidFill>
                  <a:srgbClr val="1E8E5A"/>
                </a:solidFill>
              </a:rPr>
              <a:t>+3.1%</a:t>
            </a:r>
            <a:endParaRPr lang="en-US" sz="700"/>
          </a:p>
        </p:txBody>
      </p:sp>
      <p:sp>
        <p:nvSpPr>
          <p:cNvPr id="1179" name="Text 1179"/>
          <p:cNvSpPr/>
          <p:nvPr/>
        </p:nvSpPr>
        <p:spPr>
          <a:xfrm>
            <a:off x="4654296" y="5120640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0">
                <a:solidFill>
                  <a:srgbClr val="1F3D6B"/>
                </a:solidFill>
              </a:rPr>
              <a:t>20s · Male</a:t>
            </a:r>
            <a:endParaRPr lang="en-US" sz="700"/>
          </a:p>
        </p:txBody>
      </p:sp>
      <p:sp>
        <p:nvSpPr>
          <p:cNvPr id="1180" name="Text 1180"/>
          <p:cNvSpPr/>
          <p:nvPr/>
        </p:nvSpPr>
        <p:spPr>
          <a:xfrm>
            <a:off x="5897880" y="5120640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b="1">
                <a:solidFill>
                  <a:srgbClr val="1F3D6B"/>
                </a:solidFill>
              </a:rPr>
              <a:t>35.0K</a:t>
            </a:r>
            <a:endParaRPr lang="en-US" sz="700"/>
          </a:p>
        </p:txBody>
      </p:sp>
      <p:sp>
        <p:nvSpPr>
          <p:cNvPr id="1181" name="Text 1181"/>
          <p:cNvSpPr/>
          <p:nvPr/>
        </p:nvSpPr>
        <p:spPr>
          <a:xfrm>
            <a:off x="6766560" y="5120640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b="0">
                <a:solidFill>
                  <a:srgbClr val="4A5568"/>
                </a:solidFill>
              </a:rPr>
              <a:t>12.9%</a:t>
            </a:r>
            <a:endParaRPr lang="en-US" sz="700"/>
          </a:p>
        </p:txBody>
      </p:sp>
      <p:sp>
        <p:nvSpPr>
          <p:cNvPr id="1182" name="Text 1182"/>
          <p:cNvSpPr/>
          <p:nvPr/>
        </p:nvSpPr>
        <p:spPr>
          <a:xfrm>
            <a:off x="7452360" y="5120640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b="1">
                <a:solidFill>
                  <a:srgbClr val="1E8E5A"/>
                </a:solidFill>
              </a:rPr>
              <a:t>+2.4%</a:t>
            </a:r>
            <a:endParaRPr lang="en-US" sz="700"/>
          </a:p>
        </p:txBody>
      </p:sp>
      <p:sp>
        <p:nvSpPr>
          <p:cNvPr id="1183" name="Shape 1183"/>
          <p:cNvSpPr/>
          <p:nvPr/>
        </p:nvSpPr>
        <p:spPr>
          <a:xfrm>
            <a:off x="4617720" y="5330952"/>
            <a:ext cx="35204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4" name="Text 1184"/>
          <p:cNvSpPr/>
          <p:nvPr/>
        </p:nvSpPr>
        <p:spPr>
          <a:xfrm>
            <a:off x="4654296" y="5358384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0">
                <a:solidFill>
                  <a:srgbClr val="1F3D6B"/>
                </a:solidFill>
              </a:rPr>
              <a:t>30s · Female</a:t>
            </a:r>
            <a:endParaRPr lang="en-US" sz="700"/>
          </a:p>
        </p:txBody>
      </p:sp>
      <p:sp>
        <p:nvSpPr>
          <p:cNvPr id="1185" name="Text 1185"/>
          <p:cNvSpPr/>
          <p:nvPr/>
        </p:nvSpPr>
        <p:spPr>
          <a:xfrm>
            <a:off x="5897880" y="5358384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b="1">
                <a:solidFill>
                  <a:srgbClr val="1F3D6B"/>
                </a:solidFill>
              </a:rPr>
              <a:t>39.6K</a:t>
            </a:r>
            <a:endParaRPr lang="en-US" sz="700"/>
          </a:p>
        </p:txBody>
      </p:sp>
      <p:sp>
        <p:nvSpPr>
          <p:cNvPr id="1186" name="Text 1186"/>
          <p:cNvSpPr/>
          <p:nvPr/>
        </p:nvSpPr>
        <p:spPr>
          <a:xfrm>
            <a:off x="6766560" y="5358384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b="0">
                <a:solidFill>
                  <a:srgbClr val="4A5568"/>
                </a:solidFill>
              </a:rPr>
              <a:t>14.6%</a:t>
            </a:r>
            <a:endParaRPr lang="en-US" sz="700"/>
          </a:p>
        </p:txBody>
      </p:sp>
      <p:sp>
        <p:nvSpPr>
          <p:cNvPr id="1187" name="Text 1187"/>
          <p:cNvSpPr/>
          <p:nvPr/>
        </p:nvSpPr>
        <p:spPr>
          <a:xfrm>
            <a:off x="7452360" y="5358384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b="1">
                <a:solidFill>
                  <a:srgbClr val="1E8E5A"/>
                </a:solidFill>
              </a:rPr>
              <a:t>+1.2%</a:t>
            </a:r>
            <a:endParaRPr lang="en-US" sz="700"/>
          </a:p>
        </p:txBody>
      </p:sp>
      <p:sp>
        <p:nvSpPr>
          <p:cNvPr id="1188" name="Text 1188"/>
          <p:cNvSpPr/>
          <p:nvPr/>
        </p:nvSpPr>
        <p:spPr>
          <a:xfrm>
            <a:off x="4654296" y="5596128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0">
                <a:solidFill>
                  <a:srgbClr val="1F3D6B"/>
                </a:solidFill>
              </a:rPr>
              <a:t>40s · Female</a:t>
            </a:r>
            <a:endParaRPr lang="en-US" sz="700"/>
          </a:p>
        </p:txBody>
      </p:sp>
      <p:sp>
        <p:nvSpPr>
          <p:cNvPr id="1189" name="Text 1189"/>
          <p:cNvSpPr/>
          <p:nvPr/>
        </p:nvSpPr>
        <p:spPr>
          <a:xfrm>
            <a:off x="5897880" y="559612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b="1">
                <a:solidFill>
                  <a:srgbClr val="1F3D6B"/>
                </a:solidFill>
              </a:rPr>
              <a:t>32.1K</a:t>
            </a:r>
            <a:endParaRPr lang="en-US" sz="700"/>
          </a:p>
        </p:txBody>
      </p:sp>
      <p:sp>
        <p:nvSpPr>
          <p:cNvPr id="1190" name="Text 1190"/>
          <p:cNvSpPr/>
          <p:nvPr/>
        </p:nvSpPr>
        <p:spPr>
          <a:xfrm>
            <a:off x="6766560" y="5596128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b="0">
                <a:solidFill>
                  <a:srgbClr val="4A5568"/>
                </a:solidFill>
              </a:rPr>
              <a:t>11.8%</a:t>
            </a:r>
            <a:endParaRPr lang="en-US" sz="700"/>
          </a:p>
        </p:txBody>
      </p:sp>
      <p:sp>
        <p:nvSpPr>
          <p:cNvPr id="1191" name="Text 1191"/>
          <p:cNvSpPr/>
          <p:nvPr/>
        </p:nvSpPr>
        <p:spPr>
          <a:xfrm>
            <a:off x="7452360" y="5596128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b="1">
                <a:solidFill>
                  <a:srgbClr val="C0392B"/>
                </a:solidFill>
              </a:rPr>
              <a:t>-0.4%</a:t>
            </a:r>
            <a:endParaRPr lang="en-US" sz="700"/>
          </a:p>
        </p:txBody>
      </p:sp>
      <p:sp>
        <p:nvSpPr>
          <p:cNvPr id="1192" name="Shape 1192"/>
          <p:cNvSpPr/>
          <p:nvPr/>
        </p:nvSpPr>
        <p:spPr>
          <a:xfrm>
            <a:off x="4617720" y="5806440"/>
            <a:ext cx="35204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3" name="Text 1193"/>
          <p:cNvSpPr/>
          <p:nvPr/>
        </p:nvSpPr>
        <p:spPr>
          <a:xfrm>
            <a:off x="4654296" y="5833872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0">
                <a:solidFill>
                  <a:srgbClr val="1F3D6B"/>
                </a:solidFill>
              </a:rPr>
              <a:t>60+ · Male</a:t>
            </a:r>
            <a:endParaRPr lang="en-US" sz="700"/>
          </a:p>
        </p:txBody>
      </p:sp>
      <p:sp>
        <p:nvSpPr>
          <p:cNvPr id="1194" name="Text 1194"/>
          <p:cNvSpPr/>
          <p:nvPr/>
        </p:nvSpPr>
        <p:spPr>
          <a:xfrm>
            <a:off x="5897880" y="5833872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b="1">
                <a:solidFill>
                  <a:srgbClr val="1F3D6B"/>
                </a:solidFill>
              </a:rPr>
              <a:t>18.4K</a:t>
            </a:r>
            <a:endParaRPr lang="en-US" sz="700"/>
          </a:p>
        </p:txBody>
      </p:sp>
      <p:sp>
        <p:nvSpPr>
          <p:cNvPr id="1195" name="Text 1195"/>
          <p:cNvSpPr/>
          <p:nvPr/>
        </p:nvSpPr>
        <p:spPr>
          <a:xfrm>
            <a:off x="6766560" y="5833872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b="0">
                <a:solidFill>
                  <a:srgbClr val="4A5568"/>
                </a:solidFill>
              </a:rPr>
              <a:t>6.8%</a:t>
            </a:r>
            <a:endParaRPr lang="en-US" sz="700"/>
          </a:p>
        </p:txBody>
      </p:sp>
      <p:sp>
        <p:nvSpPr>
          <p:cNvPr id="1196" name="Text 1196"/>
          <p:cNvSpPr/>
          <p:nvPr/>
        </p:nvSpPr>
        <p:spPr>
          <a:xfrm>
            <a:off x="7452360" y="5833872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b="1">
                <a:solidFill>
                  <a:srgbClr val="C0392B"/>
                </a:solidFill>
              </a:rPr>
              <a:t>-2.2%</a:t>
            </a:r>
            <a:endParaRPr lang="en-US" sz="700"/>
          </a:p>
        </p:txBody>
      </p:sp>
      <p:sp>
        <p:nvSpPr>
          <p:cNvPr id="1197" name="Text 1197"/>
          <p:cNvSpPr/>
          <p:nvPr/>
        </p:nvSpPr>
        <p:spPr>
          <a:xfrm>
            <a:off x="4654296" y="6062472"/>
            <a:ext cx="3383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50" b="0">
                <a:solidFill>
                  <a:srgbClr val="8A94A6"/>
                </a:solidFill>
              </a:rPr>
              <a:t>Click a row → filter to that segment  ·  applies in place</a:t>
            </a:r>
            <a:endParaRPr lang="en-US" sz="650"/>
          </a:p>
        </p:txBody>
      </p:sp>
      <p:sp>
        <p:nvSpPr>
          <p:cNvPr id="1198" name="Shape 1198"/>
          <p:cNvSpPr/>
          <p:nvPr/>
        </p:nvSpPr>
        <p:spPr>
          <a:xfrm>
            <a:off x="8458200" y="4279392"/>
            <a:ext cx="3383280" cy="1993392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7620">
            <a:solidFill>
              <a:srgbClr val="D8E1EA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99" name="Shape 1199"/>
          <p:cNvSpPr/>
          <p:nvPr/>
        </p:nvSpPr>
        <p:spPr>
          <a:xfrm>
            <a:off x="8458200" y="4279392"/>
            <a:ext cx="45720" cy="1993392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0" name="Text 1200"/>
          <p:cNvSpPr/>
          <p:nvPr/>
        </p:nvSpPr>
        <p:spPr>
          <a:xfrm>
            <a:off x="8586216" y="4361688"/>
            <a:ext cx="3127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>
                <a:solidFill>
                  <a:srgbClr val="1F3D6B"/>
                </a:solidFill>
              </a:rPr>
              <a:t>Cross-Filter from Here</a:t>
            </a:r>
            <a:endParaRPr lang="en-US" sz="1000"/>
          </a:p>
        </p:txBody>
      </p:sp>
      <p:sp>
        <p:nvSpPr>
          <p:cNvPr id="1201" name="Text 1201"/>
          <p:cNvSpPr/>
          <p:nvPr/>
        </p:nvSpPr>
        <p:spPr>
          <a:xfrm>
            <a:off x="8586216" y="4562856"/>
            <a:ext cx="31272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0">
                <a:solidFill>
                  <a:srgbClr val="8A94A6"/>
                </a:solidFill>
              </a:rPr>
              <a:t>Stays on this screen</a:t>
            </a:r>
            <a:endParaRPr lang="en-US" sz="700"/>
          </a:p>
        </p:txBody>
      </p:sp>
      <p:sp>
        <p:nvSpPr>
          <p:cNvPr id="1202" name="Shape 1202"/>
          <p:cNvSpPr/>
          <p:nvPr/>
        </p:nvSpPr>
        <p:spPr>
          <a:xfrm>
            <a:off x="8586216" y="4718304"/>
            <a:ext cx="3127248" cy="4023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3" name="Shape 1203"/>
          <p:cNvSpPr/>
          <p:nvPr/>
        </p:nvSpPr>
        <p:spPr>
          <a:xfrm>
            <a:off x="8586216" y="4718304"/>
            <a:ext cx="36576" cy="402336"/>
          </a:xfrm>
          <a:prstGeom prst="rect">
            <a:avLst/>
          </a:prstGeom>
          <a:solidFill>
            <a:srgbClr val="2E5FA3"/>
          </a:solidFill>
          <a:ln w="635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4" name="Shape 1204"/>
          <p:cNvSpPr/>
          <p:nvPr/>
        </p:nvSpPr>
        <p:spPr>
          <a:xfrm>
            <a:off x="8686800" y="4782312"/>
            <a:ext cx="475488" cy="155448"/>
          </a:xfrm>
          <a:prstGeom prst="roundRect">
            <a:avLst>
              <a:gd name="adj" fmla="val 25000"/>
            </a:avLst>
          </a:prstGeom>
          <a:solidFill>
            <a:srgbClr val="E8F0FA"/>
          </a:solidFill>
          <a:ln w="12700">
            <a:solidFill>
              <a:srgbClr val="E8F0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5" name="Text 1205"/>
          <p:cNvSpPr/>
          <p:nvPr/>
        </p:nvSpPr>
        <p:spPr>
          <a:xfrm>
            <a:off x="8686800" y="4800600"/>
            <a:ext cx="4754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80" b="1">
                <a:solidFill>
                  <a:srgbClr val="2E5FA3"/>
                </a:solidFill>
              </a:rPr>
              <a:t>L2</a:t>
            </a:r>
            <a:endParaRPr lang="en-US" sz="580"/>
          </a:p>
        </p:txBody>
      </p:sp>
      <p:sp>
        <p:nvSpPr>
          <p:cNvPr id="1206" name="Text 1206"/>
          <p:cNvSpPr/>
          <p:nvPr/>
        </p:nvSpPr>
        <p:spPr>
          <a:xfrm>
            <a:off x="9235440" y="4773168"/>
            <a:ext cx="2377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>
                <a:solidFill>
                  <a:srgbClr val="1F3D6B"/>
                </a:solidFill>
              </a:rPr>
              <a:t>Age segment focus</a:t>
            </a:r>
            <a:endParaRPr lang="en-US" sz="720"/>
          </a:p>
        </p:txBody>
      </p:sp>
      <p:sp>
        <p:nvSpPr>
          <p:cNvPr id="1207" name="Text 1207"/>
          <p:cNvSpPr/>
          <p:nvPr/>
        </p:nvSpPr>
        <p:spPr>
          <a:xfrm>
            <a:off x="9235440" y="4937760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20" b="0">
                <a:solidFill>
                  <a:srgbClr val="8A94A6"/>
                </a:solidFill>
              </a:rPr>
              <a:t>Re-filters every panel on this screen</a:t>
            </a:r>
            <a:endParaRPr lang="en-US" sz="620"/>
          </a:p>
        </p:txBody>
      </p:sp>
      <p:sp>
        <p:nvSpPr>
          <p:cNvPr id="1208" name="Shape 1208"/>
          <p:cNvSpPr/>
          <p:nvPr/>
        </p:nvSpPr>
        <p:spPr>
          <a:xfrm>
            <a:off x="8586216" y="5138928"/>
            <a:ext cx="3127248" cy="4023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9" name="Shape 1209"/>
          <p:cNvSpPr/>
          <p:nvPr/>
        </p:nvSpPr>
        <p:spPr>
          <a:xfrm>
            <a:off x="8586216" y="5138928"/>
            <a:ext cx="36576" cy="402336"/>
          </a:xfrm>
          <a:prstGeom prst="rect">
            <a:avLst/>
          </a:prstGeom>
          <a:solidFill>
            <a:srgbClr val="2E5FA3"/>
          </a:solidFill>
          <a:ln w="635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0" name="Shape 1210"/>
          <p:cNvSpPr/>
          <p:nvPr/>
        </p:nvSpPr>
        <p:spPr>
          <a:xfrm>
            <a:off x="8686800" y="5202936"/>
            <a:ext cx="475488" cy="155448"/>
          </a:xfrm>
          <a:prstGeom prst="roundRect">
            <a:avLst>
              <a:gd name="adj" fmla="val 25000"/>
            </a:avLst>
          </a:prstGeom>
          <a:solidFill>
            <a:srgbClr val="E8F0FA"/>
          </a:solidFill>
          <a:ln w="12700">
            <a:solidFill>
              <a:srgbClr val="E8F0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1" name="Text 1211"/>
          <p:cNvSpPr/>
          <p:nvPr/>
        </p:nvSpPr>
        <p:spPr>
          <a:xfrm>
            <a:off x="8686800" y="5221224"/>
            <a:ext cx="4754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80" b="1">
                <a:solidFill>
                  <a:srgbClr val="2E5FA3"/>
                </a:solidFill>
              </a:rPr>
              <a:t>L2</a:t>
            </a:r>
            <a:endParaRPr lang="en-US" sz="580"/>
          </a:p>
        </p:txBody>
      </p:sp>
      <p:sp>
        <p:nvSpPr>
          <p:cNvPr id="1212" name="Text 1212"/>
          <p:cNvSpPr/>
          <p:nvPr/>
        </p:nvSpPr>
        <p:spPr>
          <a:xfrm>
            <a:off x="9235440" y="5193792"/>
            <a:ext cx="2377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>
                <a:solidFill>
                  <a:srgbClr val="1F3D6B"/>
                </a:solidFill>
              </a:rPr>
              <a:t>Gender comparison</a:t>
            </a:r>
            <a:endParaRPr lang="en-US" sz="720"/>
          </a:p>
        </p:txBody>
      </p:sp>
      <p:sp>
        <p:nvSpPr>
          <p:cNvPr id="1213" name="Text 1213"/>
          <p:cNvSpPr/>
          <p:nvPr/>
        </p:nvSpPr>
        <p:spPr>
          <a:xfrm>
            <a:off x="9235440" y="5358384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20" b="0">
                <a:solidFill>
                  <a:srgbClr val="8A94A6"/>
                </a:solidFill>
              </a:rPr>
              <a:t>Splits the panels by gender</a:t>
            </a:r>
            <a:endParaRPr lang="en-US" sz="620"/>
          </a:p>
        </p:txBody>
      </p:sp>
      <p:sp>
        <p:nvSpPr>
          <p:cNvPr id="1214" name="Shape 1214"/>
          <p:cNvSpPr/>
          <p:nvPr/>
        </p:nvSpPr>
        <p:spPr>
          <a:xfrm>
            <a:off x="8586216" y="5559552"/>
            <a:ext cx="3127248" cy="4023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5" name="Shape 1215"/>
          <p:cNvSpPr/>
          <p:nvPr/>
        </p:nvSpPr>
        <p:spPr>
          <a:xfrm>
            <a:off x="8586216" y="5559552"/>
            <a:ext cx="36576" cy="402336"/>
          </a:xfrm>
          <a:prstGeom prst="rect">
            <a:avLst/>
          </a:prstGeom>
          <a:solidFill>
            <a:srgbClr val="C0392B"/>
          </a:solidFill>
          <a:ln w="63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6" name="Shape 1216"/>
          <p:cNvSpPr/>
          <p:nvPr/>
        </p:nvSpPr>
        <p:spPr>
          <a:xfrm>
            <a:off x="8686800" y="5623560"/>
            <a:ext cx="475488" cy="155448"/>
          </a:xfrm>
          <a:prstGeom prst="roundRect">
            <a:avLst>
              <a:gd name="adj" fmla="val 25000"/>
            </a:avLst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7" name="Text 1217"/>
          <p:cNvSpPr/>
          <p:nvPr/>
        </p:nvSpPr>
        <p:spPr>
          <a:xfrm>
            <a:off x="8686800" y="5641848"/>
            <a:ext cx="4754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80" b="1">
                <a:solidFill>
                  <a:srgbClr val="C0392B"/>
                </a:solidFill>
              </a:rPr>
              <a:t>ALERT</a:t>
            </a:r>
            <a:endParaRPr lang="en-US" sz="580"/>
          </a:p>
        </p:txBody>
      </p:sp>
      <p:sp>
        <p:nvSpPr>
          <p:cNvPr id="1218" name="Text 1218"/>
          <p:cNvSpPr/>
          <p:nvPr/>
        </p:nvSpPr>
        <p:spPr>
          <a:xfrm>
            <a:off x="9235440" y="5614416"/>
            <a:ext cx="2377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>
                <a:solidFill>
                  <a:srgbClr val="1F3D6B"/>
                </a:solidFill>
              </a:rPr>
              <a:t>60+ share -1.8pt</a:t>
            </a:r>
            <a:endParaRPr lang="en-US" sz="720"/>
          </a:p>
        </p:txBody>
      </p:sp>
      <p:sp>
        <p:nvSpPr>
          <p:cNvPr id="1219" name="Text 1219"/>
          <p:cNvSpPr/>
          <p:nvPr/>
        </p:nvSpPr>
        <p:spPr>
          <a:xfrm>
            <a:off x="9235440" y="5779008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20" b="0">
                <a:solidFill>
                  <a:srgbClr val="8A94A6"/>
                </a:solidFill>
              </a:rPr>
              <a:t>Fifth month of decline in this group</a:t>
            </a:r>
            <a:endParaRPr lang="en-US" sz="620"/>
          </a:p>
        </p:txBody>
      </p:sp>
      <p:sp>
        <p:nvSpPr>
          <p:cNvPr id="1220" name="Text 1220"/>
          <p:cNvSpPr/>
          <p:nvPr/>
        </p:nvSpPr>
        <p:spPr>
          <a:xfrm>
            <a:off x="8586216" y="6062472"/>
            <a:ext cx="3383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50" b="0">
                <a:solidFill>
                  <a:srgbClr val="8A94A6"/>
                </a:solidFill>
              </a:rPr>
              <a:t>Selections carry across L1 and L2 — no deeper screen</a:t>
            </a:r>
            <a:endParaRPr lang="en-US" sz="650"/>
          </a:p>
        </p:txBody>
      </p:sp>
      <p:sp>
        <p:nvSpPr>
          <p:cNvPr id="80" name="Slide Number Placeholder 0">
            <a:extLst>
              <a:ext uri="{FF2B5EF4-FFF2-40B4-BE49-F238E27FC236}">
                <a16:creationId xmlns:a16="http://schemas.microsoft.com/office/drawing/2014/main" id="{95273B6F-A59E-1331-7B20-A432456C850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58016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794">
                <a:solidFill>
                  <a:srgbClr val="8B95A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7950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02A999-1CA8-E967-B295-177B89E92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F17CBF1-EA82-CBC7-D5F7-9A1C1B15DEEC}"/>
              </a:ext>
            </a:extLst>
          </p:cNvPr>
          <p:cNvSpPr/>
          <p:nvPr/>
        </p:nvSpPr>
        <p:spPr>
          <a:xfrm>
            <a:off x="274320" y="10972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42" b="1">
                <a:solidFill>
                  <a:srgbClr val="1F3D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L2 · Geography Analysis</a:t>
            </a:r>
            <a:endParaRPr lang="en-US" sz="2542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8B03011-13BF-6A8D-6FFF-44AAC1302EDE}"/>
              </a:ext>
            </a:extLst>
          </p:cNvPr>
          <p:cNvSpPr/>
          <p:nvPr/>
        </p:nvSpPr>
        <p:spPr>
          <a:xfrm>
            <a:off x="274320" y="502920"/>
            <a:ext cx="11521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6">
                <a:solidFill>
                  <a:srgbClr val="4A5568"/>
                </a:solidFill>
              </a:rPr>
              <a:t>The map explains where growth happens, not only where members are: province growth, region trend and catchment quality.</a:t>
            </a:r>
            <a:endParaRPr lang="en-US" sz="1076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D929DC09-03B2-A3FE-E2F8-65CB279FC308}"/>
              </a:ext>
            </a:extLst>
          </p:cNvPr>
          <p:cNvSpPr/>
          <p:nvPr/>
        </p:nvSpPr>
        <p:spPr>
          <a:xfrm>
            <a:off x="320040" y="1056456"/>
            <a:ext cx="11567160" cy="5349240"/>
          </a:xfrm>
          <a:prstGeom prst="roundRect">
            <a:avLst>
              <a:gd name="adj" fmla="val 1026"/>
            </a:avLst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4D1211C8-C903-2A9E-9E78-04554ECF0635}"/>
              </a:ext>
            </a:extLst>
          </p:cNvPr>
          <p:cNvSpPr/>
          <p:nvPr/>
        </p:nvSpPr>
        <p:spPr>
          <a:xfrm>
            <a:off x="320040" y="1056456"/>
            <a:ext cx="11567160" cy="411480"/>
          </a:xfrm>
          <a:prstGeom prst="rect">
            <a:avLst/>
          </a:prstGeom>
          <a:solidFill>
            <a:srgbClr val="1F3D6B"/>
          </a:solidFill>
          <a:ln w="12700">
            <a:solidFill>
              <a:srgbClr val="1F3D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3060C8D8-56FF-B33A-666C-E9A00C31C7D9}"/>
              </a:ext>
            </a:extLst>
          </p:cNvPr>
          <p:cNvSpPr/>
          <p:nvPr/>
        </p:nvSpPr>
        <p:spPr>
          <a:xfrm>
            <a:off x="502920" y="117532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1" b="1">
                <a:solidFill>
                  <a:srgbClr val="FFFFFF"/>
                </a:solidFill>
              </a:rPr>
              <a:t>Merchant Insight Dashboard · L2 Geography</a:t>
            </a:r>
            <a:endParaRPr lang="en-US" sz="1121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E3C376F0-E40E-C2AD-F0C9-DF4176C37516}"/>
              </a:ext>
            </a:extLst>
          </p:cNvPr>
          <p:cNvSpPr/>
          <p:nvPr/>
        </p:nvSpPr>
        <p:spPr>
          <a:xfrm>
            <a:off x="3900000" y="1147896"/>
            <a:ext cx="1205000" cy="2286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1F6D1F5B-AC1F-B61F-D06A-121C26029F43}"/>
              </a:ext>
            </a:extLst>
          </p:cNvPr>
          <p:cNvSpPr/>
          <p:nvPr/>
        </p:nvSpPr>
        <p:spPr>
          <a:xfrm>
            <a:off x="3936576" y="1198188"/>
            <a:ext cx="11318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7" b="1">
                <a:solidFill>
                  <a:srgbClr val="1F3D6B"/>
                </a:solidFill>
              </a:rPr>
              <a:t>Operation Unit</a:t>
            </a:r>
            <a:endParaRPr lang="en-US" sz="837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958B54BB-DB0B-FD7C-8460-9AC9B765759D}"/>
              </a:ext>
            </a:extLst>
          </p:cNvPr>
          <p:cNvSpPr/>
          <p:nvPr/>
        </p:nvSpPr>
        <p:spPr>
          <a:xfrm>
            <a:off x="5176000" y="1147896"/>
            <a:ext cx="1205000" cy="2286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E4FC8A6C-4930-41B8-99A0-34F17AE7AC29}"/>
              </a:ext>
            </a:extLst>
          </p:cNvPr>
          <p:cNvSpPr/>
          <p:nvPr/>
        </p:nvSpPr>
        <p:spPr>
          <a:xfrm>
            <a:off x="5212576" y="1198188"/>
            <a:ext cx="11318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7" b="1">
                <a:solidFill>
                  <a:srgbClr val="1F3D6B"/>
                </a:solidFill>
              </a:rPr>
              <a:t>Store</a:t>
            </a:r>
            <a:endParaRPr lang="en-US" sz="837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AF6DBF2D-A3C3-49AB-6EAE-48B9760E9982}"/>
              </a:ext>
            </a:extLst>
          </p:cNvPr>
          <p:cNvSpPr/>
          <p:nvPr/>
        </p:nvSpPr>
        <p:spPr>
          <a:xfrm>
            <a:off x="6452000" y="1147896"/>
            <a:ext cx="1205000" cy="2286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439471ED-638B-892A-9C35-F21CACFB997C}"/>
              </a:ext>
            </a:extLst>
          </p:cNvPr>
          <p:cNvSpPr/>
          <p:nvPr/>
        </p:nvSpPr>
        <p:spPr>
          <a:xfrm>
            <a:off x="6488576" y="1198188"/>
            <a:ext cx="11318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7" b="1">
                <a:solidFill>
                  <a:srgbClr val="1F3D6B"/>
                </a:solidFill>
              </a:rPr>
              <a:t>Business Category</a:t>
            </a:r>
            <a:endParaRPr lang="en-US" sz="837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74E9552D-5C31-0560-F510-EB368A138FEF}"/>
              </a:ext>
            </a:extLst>
          </p:cNvPr>
          <p:cNvSpPr/>
          <p:nvPr/>
        </p:nvSpPr>
        <p:spPr>
          <a:xfrm>
            <a:off x="7728000" y="1147896"/>
            <a:ext cx="1205000" cy="2286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DAFFF9D9-9475-B1DB-542E-1FCC4C8A603D}"/>
              </a:ext>
            </a:extLst>
          </p:cNvPr>
          <p:cNvSpPr/>
          <p:nvPr/>
        </p:nvSpPr>
        <p:spPr>
          <a:xfrm>
            <a:off x="7764576" y="1198188"/>
            <a:ext cx="11318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7" b="1">
                <a:solidFill>
                  <a:srgbClr val="1F3D6B"/>
                </a:solidFill>
              </a:rPr>
              <a:t>Tenant</a:t>
            </a:r>
            <a:endParaRPr lang="en-US" sz="837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A4F355E9-3F5D-F03C-ED3B-93DE52A06B16}"/>
              </a:ext>
            </a:extLst>
          </p:cNvPr>
          <p:cNvSpPr/>
          <p:nvPr/>
        </p:nvSpPr>
        <p:spPr>
          <a:xfrm>
            <a:off x="9004000" y="1147896"/>
            <a:ext cx="1205000" cy="2286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591E24DE-4A2D-80DB-C731-FFB670A6F756}"/>
              </a:ext>
            </a:extLst>
          </p:cNvPr>
          <p:cNvSpPr/>
          <p:nvPr/>
        </p:nvSpPr>
        <p:spPr>
          <a:xfrm>
            <a:off x="9040576" y="1198188"/>
            <a:ext cx="11318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7" b="1">
                <a:solidFill>
                  <a:srgbClr val="1F3D6B"/>
                </a:solidFill>
              </a:rPr>
              <a:t>Date Range</a:t>
            </a:r>
            <a:endParaRPr lang="en-US" sz="837"/>
          </a:p>
        </p:txBody>
      </p:sp>
      <p:sp>
        <p:nvSpPr>
          <p:cNvPr id="900" name="Shape 900"/>
          <p:cNvSpPr/>
          <p:nvPr/>
        </p:nvSpPr>
        <p:spPr>
          <a:xfrm>
            <a:off x="10280000" y="1147896"/>
            <a:ext cx="1205000" cy="2286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1" name="Text 901"/>
          <p:cNvSpPr/>
          <p:nvPr/>
        </p:nvSpPr>
        <p:spPr>
          <a:xfrm>
            <a:off x="10316576" y="1198188"/>
            <a:ext cx="11318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7" b="1">
                <a:solidFill>
                  <a:srgbClr val="1F3D6B"/>
                </a:solidFill>
              </a:rPr>
              <a:t>Compare With</a:t>
            </a:r>
            <a:endParaRPr lang="en-US" sz="837"/>
          </a:p>
        </p:txBody>
      </p:sp>
      <p:sp>
        <p:nvSpPr>
          <p:cNvPr id="1001" name="Text 1001"/>
          <p:cNvSpPr/>
          <p:nvPr/>
        </p:nvSpPr>
        <p:spPr>
          <a:xfrm>
            <a:off x="594360" y="1609344"/>
            <a:ext cx="2962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>
                <a:solidFill>
                  <a:srgbClr val="2E5FA3"/>
                </a:solidFill>
              </a:rPr>
              <a:t>L1 Overview  ›  Geography Analysis</a:t>
            </a:r>
            <a:endParaRPr lang="en-US" sz="800"/>
          </a:p>
        </p:txBody>
      </p:sp>
      <p:sp>
        <p:nvSpPr>
          <p:cNvPr id="1002" name="Text 1002"/>
          <p:cNvSpPr/>
          <p:nvPr/>
        </p:nvSpPr>
        <p:spPr>
          <a:xfrm>
            <a:off x="5532120" y="162763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50" b="1">
                <a:solidFill>
                  <a:srgbClr val="8A94A6"/>
                </a:solidFill>
              </a:rPr>
              <a:t>METRIC MODE</a:t>
            </a:r>
            <a:endParaRPr lang="en-US" sz="650"/>
          </a:p>
        </p:txBody>
      </p:sp>
      <p:sp>
        <p:nvSpPr>
          <p:cNvPr id="1003" name="Shape 1003"/>
          <p:cNvSpPr/>
          <p:nvPr/>
        </p:nvSpPr>
        <p:spPr>
          <a:xfrm>
            <a:off x="7086600" y="1600200"/>
            <a:ext cx="868680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CF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4" name="Text 1004"/>
          <p:cNvSpPr/>
          <p:nvPr/>
        </p:nvSpPr>
        <p:spPr>
          <a:xfrm>
            <a:off x="7086600" y="1636776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>
                <a:solidFill>
                  <a:srgbClr val="4A5568"/>
                </a:solidFill>
              </a:rPr>
              <a:t>Count</a:t>
            </a:r>
            <a:endParaRPr lang="en-US" sz="700"/>
          </a:p>
        </p:txBody>
      </p:sp>
      <p:sp>
        <p:nvSpPr>
          <p:cNvPr id="1005" name="Shape 1005"/>
          <p:cNvSpPr/>
          <p:nvPr/>
        </p:nvSpPr>
        <p:spPr>
          <a:xfrm>
            <a:off x="8028432" y="1600200"/>
            <a:ext cx="868680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CF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6" name="Text 1006"/>
          <p:cNvSpPr/>
          <p:nvPr/>
        </p:nvSpPr>
        <p:spPr>
          <a:xfrm>
            <a:off x="8028432" y="1636776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>
                <a:solidFill>
                  <a:srgbClr val="4A5568"/>
                </a:solidFill>
              </a:rPr>
              <a:t>Share %</a:t>
            </a:r>
            <a:endParaRPr lang="en-US" sz="700"/>
          </a:p>
        </p:txBody>
      </p:sp>
      <p:sp>
        <p:nvSpPr>
          <p:cNvPr id="1007" name="Shape 1007"/>
          <p:cNvSpPr/>
          <p:nvPr/>
        </p:nvSpPr>
        <p:spPr>
          <a:xfrm>
            <a:off x="8970264" y="1600200"/>
            <a:ext cx="960120" cy="219456"/>
          </a:xfrm>
          <a:prstGeom prst="roundRect">
            <a:avLst>
              <a:gd name="adj" fmla="val 25000"/>
            </a:avLst>
          </a:prstGeom>
          <a:solidFill>
            <a:srgbClr val="2E5FA3"/>
          </a:solidFill>
          <a:ln w="635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8" name="Text 1008"/>
          <p:cNvSpPr/>
          <p:nvPr/>
        </p:nvSpPr>
        <p:spPr>
          <a:xfrm>
            <a:off x="8970264" y="1636776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>
                <a:solidFill>
                  <a:srgbClr val="FFFFFF"/>
                </a:solidFill>
              </a:rPr>
              <a:t>Growth %</a:t>
            </a:r>
            <a:endParaRPr lang="en-US" sz="700"/>
          </a:p>
        </p:txBody>
      </p:sp>
      <p:sp>
        <p:nvSpPr>
          <p:cNvPr id="1009" name="Shape 1009"/>
          <p:cNvSpPr/>
          <p:nvPr/>
        </p:nvSpPr>
        <p:spPr>
          <a:xfrm>
            <a:off x="10003536" y="1600200"/>
            <a:ext cx="777240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CF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0" name="Text 1010"/>
          <p:cNvSpPr/>
          <p:nvPr/>
        </p:nvSpPr>
        <p:spPr>
          <a:xfrm>
            <a:off x="10003536" y="1636776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>
                <a:solidFill>
                  <a:srgbClr val="4A5568"/>
                </a:solidFill>
              </a:rPr>
              <a:t>Index</a:t>
            </a:r>
            <a:endParaRPr lang="en-US" sz="700"/>
          </a:p>
        </p:txBody>
      </p:sp>
      <p:sp>
        <p:nvSpPr>
          <p:cNvPr id="1011" name="Shape 1011"/>
          <p:cNvSpPr/>
          <p:nvPr/>
        </p:nvSpPr>
        <p:spPr>
          <a:xfrm>
            <a:off x="10853928" y="1600200"/>
            <a:ext cx="987552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CF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2" name="Text 1012"/>
          <p:cNvSpPr/>
          <p:nvPr/>
        </p:nvSpPr>
        <p:spPr>
          <a:xfrm>
            <a:off x="10853928" y="1636776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>
                <a:solidFill>
                  <a:srgbClr val="4A5568"/>
                </a:solidFill>
              </a:rPr>
              <a:t>Export</a:t>
            </a:r>
            <a:endParaRPr lang="en-US" sz="700"/>
          </a:p>
        </p:txBody>
      </p:sp>
      <p:sp>
        <p:nvSpPr>
          <p:cNvPr id="1013" name="Shape 1013"/>
          <p:cNvSpPr/>
          <p:nvPr/>
        </p:nvSpPr>
        <p:spPr>
          <a:xfrm>
            <a:off x="2926080" y="1627632"/>
            <a:ext cx="1188720" cy="182880"/>
          </a:xfrm>
          <a:prstGeom prst="roundRect">
            <a:avLst>
              <a:gd name="adj" fmla="val 25000"/>
            </a:avLst>
          </a:prstGeom>
          <a:solidFill>
            <a:srgbClr val="FCE7F3"/>
          </a:solidFill>
          <a:ln w="12700">
            <a:solidFill>
              <a:srgbClr val="FCE7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4" name="Text 1014"/>
          <p:cNvSpPr/>
          <p:nvPr/>
        </p:nvSpPr>
        <p:spPr>
          <a:xfrm>
            <a:off x="2926080" y="1645920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1">
                <a:solidFill>
                  <a:srgbClr val="D02C8C"/>
                </a:solidFill>
              </a:rPr>
              <a:t>Province view</a:t>
            </a:r>
            <a:endParaRPr lang="en-US" sz="650"/>
          </a:p>
        </p:txBody>
      </p:sp>
      <p:sp>
        <p:nvSpPr>
          <p:cNvPr id="1015" name="Shape 1015"/>
          <p:cNvSpPr/>
          <p:nvPr/>
        </p:nvSpPr>
        <p:spPr>
          <a:xfrm>
            <a:off x="594360" y="1938528"/>
            <a:ext cx="7818120" cy="2212848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7620">
            <a:solidFill>
              <a:srgbClr val="D8E1EA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16" name="Shape 1016"/>
          <p:cNvSpPr/>
          <p:nvPr/>
        </p:nvSpPr>
        <p:spPr>
          <a:xfrm>
            <a:off x="594360" y="1938528"/>
            <a:ext cx="45720" cy="2212848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7" name="Text 1017"/>
          <p:cNvSpPr/>
          <p:nvPr/>
        </p:nvSpPr>
        <p:spPr>
          <a:xfrm>
            <a:off x="722376" y="2020824"/>
            <a:ext cx="7562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>
                <a:solidFill>
                  <a:srgbClr val="1F3D6B"/>
                </a:solidFill>
              </a:rPr>
              <a:t>Province Map · Growth View</a:t>
            </a:r>
            <a:endParaRPr lang="en-US" sz="1000"/>
          </a:p>
        </p:txBody>
      </p:sp>
      <p:sp>
        <p:nvSpPr>
          <p:cNvPr id="1018" name="Text 1018"/>
          <p:cNvSpPr/>
          <p:nvPr/>
        </p:nvSpPr>
        <p:spPr>
          <a:xfrm>
            <a:off x="722376" y="2221992"/>
            <a:ext cx="75620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0">
                <a:solidFill>
                  <a:srgbClr val="8A94A6"/>
                </a:solidFill>
              </a:rPr>
              <a:t>Bubble size = members · colour = MoM growth</a:t>
            </a:r>
            <a:endParaRPr lang="en-US" sz="700"/>
          </a:p>
        </p:txBody>
      </p:sp>
      <p:sp>
        <p:nvSpPr>
          <p:cNvPr id="1019" name="Shape 1019"/>
          <p:cNvSpPr/>
          <p:nvPr/>
        </p:nvSpPr>
        <p:spPr>
          <a:xfrm>
            <a:off x="5577840" y="2039112"/>
            <a:ext cx="658368" cy="192024"/>
          </a:xfrm>
          <a:prstGeom prst="roundRect">
            <a:avLst>
              <a:gd name="adj" fmla="val 25000"/>
            </a:avLst>
          </a:prstGeom>
          <a:solidFill>
            <a:srgbClr val="2E5FA3"/>
          </a:solidFill>
          <a:ln w="635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0" name="Text 1020"/>
          <p:cNvSpPr/>
          <p:nvPr/>
        </p:nvSpPr>
        <p:spPr>
          <a:xfrm>
            <a:off x="5577840" y="2066544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1">
                <a:solidFill>
                  <a:srgbClr val="FFFFFF"/>
                </a:solidFill>
              </a:rPr>
              <a:t>Bubble</a:t>
            </a:r>
            <a:endParaRPr lang="en-US" sz="650"/>
          </a:p>
        </p:txBody>
      </p:sp>
      <p:sp>
        <p:nvSpPr>
          <p:cNvPr id="1021" name="Shape 1021"/>
          <p:cNvSpPr/>
          <p:nvPr/>
        </p:nvSpPr>
        <p:spPr>
          <a:xfrm>
            <a:off x="6281928" y="2039112"/>
            <a:ext cx="777240" cy="19202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CF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2" name="Text 1022"/>
          <p:cNvSpPr/>
          <p:nvPr/>
        </p:nvSpPr>
        <p:spPr>
          <a:xfrm>
            <a:off x="6281928" y="2066544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1">
                <a:solidFill>
                  <a:srgbClr val="4A5568"/>
                </a:solidFill>
              </a:rPr>
              <a:t>Heatmap</a:t>
            </a:r>
            <a:endParaRPr lang="en-US" sz="650"/>
          </a:p>
        </p:txBody>
      </p:sp>
      <p:sp>
        <p:nvSpPr>
          <p:cNvPr id="1023" name="Shape 1023"/>
          <p:cNvSpPr/>
          <p:nvPr/>
        </p:nvSpPr>
        <p:spPr>
          <a:xfrm>
            <a:off x="7104888" y="2039112"/>
            <a:ext cx="914400" cy="19202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CF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4" name="Text 1024"/>
          <p:cNvSpPr/>
          <p:nvPr/>
        </p:nvSpPr>
        <p:spPr>
          <a:xfrm>
            <a:off x="7104888" y="2066544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1">
                <a:solidFill>
                  <a:srgbClr val="4A5568"/>
                </a:solidFill>
              </a:rPr>
              <a:t>Choropleth</a:t>
            </a:r>
            <a:endParaRPr lang="en-US" sz="650"/>
          </a:p>
        </p:txBody>
      </p:sp>
      <p:sp>
        <p:nvSpPr>
          <p:cNvPr id="1025" name="Shape 1025"/>
          <p:cNvSpPr/>
          <p:nvPr/>
        </p:nvSpPr>
        <p:spPr>
          <a:xfrm>
            <a:off x="1207008" y="2395728"/>
            <a:ext cx="3931920" cy="1481328"/>
          </a:xfrm>
          <a:prstGeom prst="rect">
            <a:avLst/>
          </a:prstGeom>
          <a:solidFill>
            <a:srgbClr val="F2F6FB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6" name="Shape 1026"/>
          <p:cNvSpPr/>
          <p:nvPr/>
        </p:nvSpPr>
        <p:spPr>
          <a:xfrm>
            <a:off x="2702966" y="2447666"/>
            <a:ext cx="310896" cy="310896"/>
          </a:xfrm>
          <a:prstGeom prst="ellipse">
            <a:avLst/>
          </a:prstGeom>
          <a:solidFill>
            <a:srgbClr val="1E8E5A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7" name="Shape 1027"/>
          <p:cNvSpPr/>
          <p:nvPr/>
        </p:nvSpPr>
        <p:spPr>
          <a:xfrm>
            <a:off x="3553358" y="2659807"/>
            <a:ext cx="182880" cy="182880"/>
          </a:xfrm>
          <a:prstGeom prst="ellipse">
            <a:avLst/>
          </a:prstGeom>
          <a:solidFill>
            <a:srgbClr val="1E8E5A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8" name="Shape 1028"/>
          <p:cNvSpPr/>
          <p:nvPr/>
        </p:nvSpPr>
        <p:spPr>
          <a:xfrm>
            <a:off x="3099816" y="2915107"/>
            <a:ext cx="146304" cy="146304"/>
          </a:xfrm>
          <a:prstGeom prst="ellipse">
            <a:avLst/>
          </a:prstGeom>
          <a:solidFill>
            <a:srgbClr val="8A94A6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9" name="Shape 1029"/>
          <p:cNvSpPr/>
          <p:nvPr/>
        </p:nvSpPr>
        <p:spPr>
          <a:xfrm>
            <a:off x="3377794" y="3056291"/>
            <a:ext cx="219456" cy="219456"/>
          </a:xfrm>
          <a:prstGeom prst="ellipse">
            <a:avLst/>
          </a:prstGeom>
          <a:solidFill>
            <a:srgbClr val="C77700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0" name="Shape 1030"/>
          <p:cNvSpPr/>
          <p:nvPr/>
        </p:nvSpPr>
        <p:spPr>
          <a:xfrm>
            <a:off x="3576218" y="3275198"/>
            <a:ext cx="137160" cy="137160"/>
          </a:xfrm>
          <a:prstGeom prst="ellipse">
            <a:avLst/>
          </a:prstGeom>
          <a:solidFill>
            <a:srgbClr val="1E8E5A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1" name="Shape 1031"/>
          <p:cNvSpPr/>
          <p:nvPr/>
        </p:nvSpPr>
        <p:spPr>
          <a:xfrm>
            <a:off x="2845613" y="3430097"/>
            <a:ext cx="182880" cy="182880"/>
          </a:xfrm>
          <a:prstGeom prst="ellipse">
            <a:avLst/>
          </a:prstGeom>
          <a:solidFill>
            <a:srgbClr val="1E8E5A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2" name="Shape 1032"/>
          <p:cNvSpPr/>
          <p:nvPr/>
        </p:nvSpPr>
        <p:spPr>
          <a:xfrm>
            <a:off x="2430475" y="3448020"/>
            <a:ext cx="384048" cy="384048"/>
          </a:xfrm>
          <a:prstGeom prst="ellipse">
            <a:avLst/>
          </a:prstGeom>
          <a:solidFill>
            <a:srgbClr val="1E8E5A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3" name="Shape 1033"/>
          <p:cNvSpPr/>
          <p:nvPr/>
        </p:nvSpPr>
        <p:spPr>
          <a:xfrm>
            <a:off x="2147011" y="3676254"/>
            <a:ext cx="164592" cy="164592"/>
          </a:xfrm>
          <a:prstGeom prst="ellipse">
            <a:avLst/>
          </a:prstGeom>
          <a:solidFill>
            <a:srgbClr val="C0392B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4" name="Text 1034"/>
          <p:cNvSpPr/>
          <p:nvPr/>
        </p:nvSpPr>
        <p:spPr>
          <a:xfrm>
            <a:off x="3050438" y="2539106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20" b="1">
                <a:solidFill>
                  <a:srgbClr val="1F3D6B"/>
                </a:solidFill>
              </a:rPr>
              <a:t>Hanoi</a:t>
            </a:r>
            <a:endParaRPr lang="en-US" sz="620"/>
          </a:p>
        </p:txBody>
      </p:sp>
      <p:sp>
        <p:nvSpPr>
          <p:cNvPr id="1035" name="Text 1035"/>
          <p:cNvSpPr/>
          <p:nvPr/>
        </p:nvSpPr>
        <p:spPr>
          <a:xfrm>
            <a:off x="3633826" y="3102011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20" b="1">
                <a:solidFill>
                  <a:srgbClr val="1F3D6B"/>
                </a:solidFill>
              </a:rPr>
              <a:t>Da Nang</a:t>
            </a:r>
            <a:endParaRPr lang="en-US" sz="620"/>
          </a:p>
        </p:txBody>
      </p:sp>
      <p:sp>
        <p:nvSpPr>
          <p:cNvPr id="1036" name="Text 1036"/>
          <p:cNvSpPr/>
          <p:nvPr/>
        </p:nvSpPr>
        <p:spPr>
          <a:xfrm>
            <a:off x="2851099" y="3576036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20" b="1">
                <a:solidFill>
                  <a:srgbClr val="1F3D6B"/>
                </a:solidFill>
              </a:rPr>
              <a:t>HCMC</a:t>
            </a:r>
            <a:endParaRPr lang="en-US" sz="620"/>
          </a:p>
        </p:txBody>
      </p:sp>
      <p:sp>
        <p:nvSpPr>
          <p:cNvPr id="1037" name="Text 1037"/>
          <p:cNvSpPr/>
          <p:nvPr/>
        </p:nvSpPr>
        <p:spPr>
          <a:xfrm>
            <a:off x="2348179" y="3694542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20" b="1">
                <a:solidFill>
                  <a:srgbClr val="1F3D6B"/>
                </a:solidFill>
              </a:rPr>
              <a:t>Can Tho</a:t>
            </a:r>
            <a:endParaRPr lang="en-US" sz="620"/>
          </a:p>
        </p:txBody>
      </p:sp>
      <p:sp>
        <p:nvSpPr>
          <p:cNvPr id="1038" name="Shape 1038"/>
          <p:cNvSpPr/>
          <p:nvPr/>
        </p:nvSpPr>
        <p:spPr>
          <a:xfrm>
            <a:off x="1280160" y="3639312"/>
            <a:ext cx="1783080" cy="16459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9" name="Text 1039"/>
          <p:cNvSpPr/>
          <p:nvPr/>
        </p:nvSpPr>
        <p:spPr>
          <a:xfrm>
            <a:off x="1316736" y="3662172"/>
            <a:ext cx="1737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580" b="0">
                <a:solidFill>
                  <a:srgbClr val="8A94A6"/>
                </a:solidFill>
              </a:rPr>
              <a:t>Growth:  high    mid    low</a:t>
            </a:r>
            <a:endParaRPr lang="en-US" sz="580"/>
          </a:p>
        </p:txBody>
      </p:sp>
      <p:sp>
        <p:nvSpPr>
          <p:cNvPr id="1040" name="Text 1040"/>
          <p:cNvSpPr/>
          <p:nvPr/>
        </p:nvSpPr>
        <p:spPr>
          <a:xfrm>
            <a:off x="5349240" y="2414016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00" b="1">
                <a:solidFill>
                  <a:srgbClr val="8A94A6"/>
                </a:solidFill>
              </a:rPr>
              <a:t>PROVINCE RANKING · MoM GROWTH</a:t>
            </a:r>
            <a:endParaRPr lang="en-US" sz="600"/>
          </a:p>
        </p:txBody>
      </p:sp>
      <p:sp>
        <p:nvSpPr>
          <p:cNvPr id="1041" name="Text 1041"/>
          <p:cNvSpPr/>
          <p:nvPr/>
        </p:nvSpPr>
        <p:spPr>
          <a:xfrm>
            <a:off x="5349240" y="2596896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0">
                <a:solidFill>
                  <a:srgbClr val="1F3D6B"/>
                </a:solidFill>
              </a:rPr>
              <a:t>HCMC</a:t>
            </a:r>
            <a:endParaRPr lang="en-US" sz="700"/>
          </a:p>
        </p:txBody>
      </p:sp>
      <p:sp>
        <p:nvSpPr>
          <p:cNvPr id="1042" name="Text 1042"/>
          <p:cNvSpPr/>
          <p:nvPr/>
        </p:nvSpPr>
        <p:spPr>
          <a:xfrm>
            <a:off x="6309360" y="2596896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80" b="0">
                <a:solidFill>
                  <a:srgbClr val="4A5568"/>
                </a:solidFill>
              </a:rPr>
              <a:t>92.4K</a:t>
            </a:r>
            <a:endParaRPr lang="en-US" sz="680"/>
          </a:p>
        </p:txBody>
      </p:sp>
      <p:sp>
        <p:nvSpPr>
          <p:cNvPr id="1043" name="Shape 1043"/>
          <p:cNvSpPr/>
          <p:nvPr/>
        </p:nvSpPr>
        <p:spPr>
          <a:xfrm>
            <a:off x="6949440" y="2606040"/>
            <a:ext cx="822960" cy="118872"/>
          </a:xfrm>
          <a:prstGeom prst="rect">
            <a:avLst/>
          </a:prstGeom>
          <a:solidFill>
            <a:srgbClr val="EDF1F6"/>
          </a:solidFill>
          <a:ln w="6350">
            <a:solidFill>
              <a:srgbClr val="EDF1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4" name="Shape 1044"/>
          <p:cNvSpPr/>
          <p:nvPr/>
        </p:nvSpPr>
        <p:spPr>
          <a:xfrm>
            <a:off x="6949440" y="2606040"/>
            <a:ext cx="707746" cy="118872"/>
          </a:xfrm>
          <a:prstGeom prst="rect">
            <a:avLst/>
          </a:prstGeom>
          <a:solidFill>
            <a:srgbClr val="1E8E5A"/>
          </a:solidFill>
          <a:ln w="6350">
            <a:solidFill>
              <a:srgbClr val="1E8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5" name="Text 1045"/>
          <p:cNvSpPr/>
          <p:nvPr/>
        </p:nvSpPr>
        <p:spPr>
          <a:xfrm>
            <a:off x="7818120" y="2596896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80" b="1">
                <a:solidFill>
                  <a:srgbClr val="1E8E5A"/>
                </a:solidFill>
              </a:rPr>
              <a:t>+8.6</a:t>
            </a:r>
            <a:endParaRPr lang="en-US" sz="680"/>
          </a:p>
        </p:txBody>
      </p:sp>
      <p:sp>
        <p:nvSpPr>
          <p:cNvPr id="1046" name="Text 1046"/>
          <p:cNvSpPr/>
          <p:nvPr/>
        </p:nvSpPr>
        <p:spPr>
          <a:xfrm>
            <a:off x="5349240" y="2852928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0">
                <a:solidFill>
                  <a:srgbClr val="1F3D6B"/>
                </a:solidFill>
              </a:rPr>
              <a:t>Hanoi</a:t>
            </a:r>
            <a:endParaRPr lang="en-US" sz="700"/>
          </a:p>
        </p:txBody>
      </p:sp>
      <p:sp>
        <p:nvSpPr>
          <p:cNvPr id="1047" name="Text 1047"/>
          <p:cNvSpPr/>
          <p:nvPr/>
        </p:nvSpPr>
        <p:spPr>
          <a:xfrm>
            <a:off x="6309360" y="2852928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80" b="0">
                <a:solidFill>
                  <a:srgbClr val="4A5568"/>
                </a:solidFill>
              </a:rPr>
              <a:t>71.8K</a:t>
            </a:r>
            <a:endParaRPr lang="en-US" sz="680"/>
          </a:p>
        </p:txBody>
      </p:sp>
      <p:sp>
        <p:nvSpPr>
          <p:cNvPr id="1048" name="Shape 1048"/>
          <p:cNvSpPr/>
          <p:nvPr/>
        </p:nvSpPr>
        <p:spPr>
          <a:xfrm>
            <a:off x="6949440" y="2862072"/>
            <a:ext cx="822960" cy="118872"/>
          </a:xfrm>
          <a:prstGeom prst="rect">
            <a:avLst/>
          </a:prstGeom>
          <a:solidFill>
            <a:srgbClr val="EDF1F6"/>
          </a:solidFill>
          <a:ln w="6350">
            <a:solidFill>
              <a:srgbClr val="EDF1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9" name="Shape 1049"/>
          <p:cNvSpPr/>
          <p:nvPr/>
        </p:nvSpPr>
        <p:spPr>
          <a:xfrm>
            <a:off x="6949440" y="2862072"/>
            <a:ext cx="510235" cy="118872"/>
          </a:xfrm>
          <a:prstGeom prst="rect">
            <a:avLst/>
          </a:prstGeom>
          <a:solidFill>
            <a:srgbClr val="1E8E5A"/>
          </a:solidFill>
          <a:ln w="6350">
            <a:solidFill>
              <a:srgbClr val="1E8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0" name="Text 1050"/>
          <p:cNvSpPr/>
          <p:nvPr/>
        </p:nvSpPr>
        <p:spPr>
          <a:xfrm>
            <a:off x="7818120" y="2852928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80" b="1">
                <a:solidFill>
                  <a:srgbClr val="1E8E5A"/>
                </a:solidFill>
              </a:rPr>
              <a:t>+6.2</a:t>
            </a:r>
            <a:endParaRPr lang="en-US" sz="680"/>
          </a:p>
        </p:txBody>
      </p:sp>
      <p:sp>
        <p:nvSpPr>
          <p:cNvPr id="1051" name="Text 1051"/>
          <p:cNvSpPr/>
          <p:nvPr/>
        </p:nvSpPr>
        <p:spPr>
          <a:xfrm>
            <a:off x="5349240" y="3108960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0">
                <a:solidFill>
                  <a:srgbClr val="1F3D6B"/>
                </a:solidFill>
              </a:rPr>
              <a:t>Binh Duong</a:t>
            </a:r>
            <a:endParaRPr lang="en-US" sz="700"/>
          </a:p>
        </p:txBody>
      </p:sp>
      <p:sp>
        <p:nvSpPr>
          <p:cNvPr id="1052" name="Text 1052"/>
          <p:cNvSpPr/>
          <p:nvPr/>
        </p:nvSpPr>
        <p:spPr>
          <a:xfrm>
            <a:off x="6309360" y="310896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80" b="0">
                <a:solidFill>
                  <a:srgbClr val="4A5568"/>
                </a:solidFill>
              </a:rPr>
              <a:t>34.1K</a:t>
            </a:r>
            <a:endParaRPr lang="en-US" sz="680"/>
          </a:p>
        </p:txBody>
      </p:sp>
      <p:sp>
        <p:nvSpPr>
          <p:cNvPr id="1053" name="Shape 1053"/>
          <p:cNvSpPr/>
          <p:nvPr/>
        </p:nvSpPr>
        <p:spPr>
          <a:xfrm>
            <a:off x="6949440" y="3118104"/>
            <a:ext cx="822960" cy="118872"/>
          </a:xfrm>
          <a:prstGeom prst="rect">
            <a:avLst/>
          </a:prstGeom>
          <a:solidFill>
            <a:srgbClr val="EDF1F6"/>
          </a:solidFill>
          <a:ln w="6350">
            <a:solidFill>
              <a:srgbClr val="EDF1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4" name="Shape 1054"/>
          <p:cNvSpPr/>
          <p:nvPr/>
        </p:nvSpPr>
        <p:spPr>
          <a:xfrm>
            <a:off x="6949440" y="3118104"/>
            <a:ext cx="444398" cy="118872"/>
          </a:xfrm>
          <a:prstGeom prst="rect">
            <a:avLst/>
          </a:prstGeom>
          <a:solidFill>
            <a:srgbClr val="1E8E5A"/>
          </a:solidFill>
          <a:ln w="6350">
            <a:solidFill>
              <a:srgbClr val="1E8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5" name="Text 1055"/>
          <p:cNvSpPr/>
          <p:nvPr/>
        </p:nvSpPr>
        <p:spPr>
          <a:xfrm>
            <a:off x="7818120" y="3108960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80" b="1">
                <a:solidFill>
                  <a:srgbClr val="1E8E5A"/>
                </a:solidFill>
              </a:rPr>
              <a:t>+5.4</a:t>
            </a:r>
            <a:endParaRPr lang="en-US" sz="680"/>
          </a:p>
        </p:txBody>
      </p:sp>
      <p:sp>
        <p:nvSpPr>
          <p:cNvPr id="1056" name="Text 1056"/>
          <p:cNvSpPr/>
          <p:nvPr/>
        </p:nvSpPr>
        <p:spPr>
          <a:xfrm>
            <a:off x="5349240" y="3364992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0">
                <a:solidFill>
                  <a:srgbClr val="1F3D6B"/>
                </a:solidFill>
              </a:rPr>
              <a:t>Da Nang</a:t>
            </a:r>
            <a:endParaRPr lang="en-US" sz="700"/>
          </a:p>
        </p:txBody>
      </p:sp>
      <p:sp>
        <p:nvSpPr>
          <p:cNvPr id="1057" name="Text 1057"/>
          <p:cNvSpPr/>
          <p:nvPr/>
        </p:nvSpPr>
        <p:spPr>
          <a:xfrm>
            <a:off x="6309360" y="3364992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80" b="0">
                <a:solidFill>
                  <a:srgbClr val="4A5568"/>
                </a:solidFill>
              </a:rPr>
              <a:t>26.7K</a:t>
            </a:r>
            <a:endParaRPr lang="en-US" sz="680"/>
          </a:p>
        </p:txBody>
      </p:sp>
      <p:sp>
        <p:nvSpPr>
          <p:cNvPr id="1058" name="Shape 1058"/>
          <p:cNvSpPr/>
          <p:nvPr/>
        </p:nvSpPr>
        <p:spPr>
          <a:xfrm>
            <a:off x="6949440" y="3374136"/>
            <a:ext cx="822960" cy="118872"/>
          </a:xfrm>
          <a:prstGeom prst="rect">
            <a:avLst/>
          </a:prstGeom>
          <a:solidFill>
            <a:srgbClr val="EDF1F6"/>
          </a:solidFill>
          <a:ln w="6350">
            <a:solidFill>
              <a:srgbClr val="EDF1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9" name="Shape 1059"/>
          <p:cNvSpPr/>
          <p:nvPr/>
        </p:nvSpPr>
        <p:spPr>
          <a:xfrm>
            <a:off x="7541971" y="3374136"/>
            <a:ext cx="230429" cy="118872"/>
          </a:xfrm>
          <a:prstGeom prst="rect">
            <a:avLst/>
          </a:prstGeom>
          <a:solidFill>
            <a:srgbClr val="C0392B"/>
          </a:solidFill>
          <a:ln w="63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0" name="Text 1060"/>
          <p:cNvSpPr/>
          <p:nvPr/>
        </p:nvSpPr>
        <p:spPr>
          <a:xfrm>
            <a:off x="7818120" y="3364992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80" b="1">
                <a:solidFill>
                  <a:srgbClr val="C0392B"/>
                </a:solidFill>
              </a:rPr>
              <a:t>-2.8</a:t>
            </a:r>
            <a:endParaRPr lang="en-US" sz="680"/>
          </a:p>
        </p:txBody>
      </p:sp>
      <p:sp>
        <p:nvSpPr>
          <p:cNvPr id="1061" name="Text 1061"/>
          <p:cNvSpPr/>
          <p:nvPr/>
        </p:nvSpPr>
        <p:spPr>
          <a:xfrm>
            <a:off x="5349240" y="3621024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0">
                <a:solidFill>
                  <a:srgbClr val="1F3D6B"/>
                </a:solidFill>
              </a:rPr>
              <a:t>Can Tho</a:t>
            </a:r>
            <a:endParaRPr lang="en-US" sz="700"/>
          </a:p>
        </p:txBody>
      </p:sp>
      <p:sp>
        <p:nvSpPr>
          <p:cNvPr id="1062" name="Text 1062"/>
          <p:cNvSpPr/>
          <p:nvPr/>
        </p:nvSpPr>
        <p:spPr>
          <a:xfrm>
            <a:off x="6309360" y="3621024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80" b="0">
                <a:solidFill>
                  <a:srgbClr val="4A5568"/>
                </a:solidFill>
              </a:rPr>
              <a:t>18.2K</a:t>
            </a:r>
            <a:endParaRPr lang="en-US" sz="680"/>
          </a:p>
        </p:txBody>
      </p:sp>
      <p:sp>
        <p:nvSpPr>
          <p:cNvPr id="1063" name="Shape 1063"/>
          <p:cNvSpPr/>
          <p:nvPr/>
        </p:nvSpPr>
        <p:spPr>
          <a:xfrm>
            <a:off x="6949440" y="3630168"/>
            <a:ext cx="822960" cy="118872"/>
          </a:xfrm>
          <a:prstGeom prst="rect">
            <a:avLst/>
          </a:prstGeom>
          <a:solidFill>
            <a:srgbClr val="EDF1F6"/>
          </a:solidFill>
          <a:ln w="6350">
            <a:solidFill>
              <a:srgbClr val="EDF1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4" name="Shape 1064"/>
          <p:cNvSpPr/>
          <p:nvPr/>
        </p:nvSpPr>
        <p:spPr>
          <a:xfrm>
            <a:off x="7393838" y="3630168"/>
            <a:ext cx="378562" cy="118872"/>
          </a:xfrm>
          <a:prstGeom prst="rect">
            <a:avLst/>
          </a:prstGeom>
          <a:solidFill>
            <a:srgbClr val="C0392B"/>
          </a:solidFill>
          <a:ln w="63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5" name="Text 1065"/>
          <p:cNvSpPr/>
          <p:nvPr/>
        </p:nvSpPr>
        <p:spPr>
          <a:xfrm>
            <a:off x="7818120" y="3621024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80" b="1">
                <a:solidFill>
                  <a:srgbClr val="C0392B"/>
                </a:solidFill>
              </a:rPr>
              <a:t>-4.6</a:t>
            </a:r>
            <a:endParaRPr lang="en-US" sz="680"/>
          </a:p>
        </p:txBody>
      </p:sp>
      <p:sp>
        <p:nvSpPr>
          <p:cNvPr id="1066" name="Text 1066"/>
          <p:cNvSpPr/>
          <p:nvPr/>
        </p:nvSpPr>
        <p:spPr>
          <a:xfrm>
            <a:off x="5349240" y="3931920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50" b="0">
                <a:solidFill>
                  <a:srgbClr val="8A94A6"/>
                </a:solidFill>
              </a:rPr>
              <a:t>Click a province → filter to that province  ·  applies in place</a:t>
            </a:r>
            <a:endParaRPr lang="en-US" sz="650"/>
          </a:p>
        </p:txBody>
      </p:sp>
      <p:sp>
        <p:nvSpPr>
          <p:cNvPr id="1067" name="Shape 1067"/>
          <p:cNvSpPr/>
          <p:nvPr/>
        </p:nvSpPr>
        <p:spPr>
          <a:xfrm>
            <a:off x="8595360" y="1938528"/>
            <a:ext cx="3246120" cy="2212848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7620">
            <a:solidFill>
              <a:srgbClr val="D8E1EA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68" name="Shape 1068"/>
          <p:cNvSpPr/>
          <p:nvPr/>
        </p:nvSpPr>
        <p:spPr>
          <a:xfrm>
            <a:off x="8595360" y="1938528"/>
            <a:ext cx="45720" cy="2212848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9" name="Text 1069"/>
          <p:cNvSpPr/>
          <p:nvPr/>
        </p:nvSpPr>
        <p:spPr>
          <a:xfrm>
            <a:off x="8723376" y="2020824"/>
            <a:ext cx="2990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>
                <a:solidFill>
                  <a:srgbClr val="1F3D6B"/>
                </a:solidFill>
              </a:rPr>
              <a:t>Catchment Summary</a:t>
            </a:r>
            <a:endParaRPr lang="en-US" sz="1000"/>
          </a:p>
        </p:txBody>
      </p:sp>
      <p:sp>
        <p:nvSpPr>
          <p:cNvPr id="1070" name="Text 1070"/>
          <p:cNvSpPr/>
          <p:nvPr/>
        </p:nvSpPr>
        <p:spPr>
          <a:xfrm>
            <a:off x="8723376" y="2221992"/>
            <a:ext cx="29900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0">
                <a:solidFill>
                  <a:srgbClr val="8A94A6"/>
                </a:solidFill>
              </a:rPr>
              <a:t>Where members come from</a:t>
            </a:r>
            <a:endParaRPr lang="en-US" sz="700"/>
          </a:p>
        </p:txBody>
      </p:sp>
      <p:sp>
        <p:nvSpPr>
          <p:cNvPr id="1071" name="Shape 1071"/>
          <p:cNvSpPr/>
          <p:nvPr/>
        </p:nvSpPr>
        <p:spPr>
          <a:xfrm>
            <a:off x="8741664" y="2450592"/>
            <a:ext cx="2953512" cy="274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2" name="Text 1072"/>
          <p:cNvSpPr/>
          <p:nvPr/>
        </p:nvSpPr>
        <p:spPr>
          <a:xfrm>
            <a:off x="8851392" y="2514600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0">
                <a:solidFill>
                  <a:srgbClr val="8A94A6"/>
                </a:solidFill>
              </a:rPr>
              <a:t>Provinces covered</a:t>
            </a:r>
            <a:endParaRPr lang="en-US" sz="700"/>
          </a:p>
        </p:txBody>
      </p:sp>
      <p:sp>
        <p:nvSpPr>
          <p:cNvPr id="1073" name="Text 1073"/>
          <p:cNvSpPr/>
          <p:nvPr/>
        </p:nvSpPr>
        <p:spPr>
          <a:xfrm>
            <a:off x="10332720" y="250545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b="1">
                <a:solidFill>
                  <a:srgbClr val="1F3D6B"/>
                </a:solidFill>
              </a:rPr>
              <a:t>48 / 63</a:t>
            </a:r>
            <a:endParaRPr lang="en-US" sz="800"/>
          </a:p>
        </p:txBody>
      </p:sp>
      <p:sp>
        <p:nvSpPr>
          <p:cNvPr id="1074" name="Shape 1074"/>
          <p:cNvSpPr/>
          <p:nvPr/>
        </p:nvSpPr>
        <p:spPr>
          <a:xfrm>
            <a:off x="8741664" y="2761488"/>
            <a:ext cx="2953512" cy="274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5" name="Text 1075"/>
          <p:cNvSpPr/>
          <p:nvPr/>
        </p:nvSpPr>
        <p:spPr>
          <a:xfrm>
            <a:off x="8851392" y="2825496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0">
                <a:solidFill>
                  <a:srgbClr val="8A94A6"/>
                </a:solidFill>
              </a:rPr>
              <a:t>Top 3 share</a:t>
            </a:r>
            <a:endParaRPr lang="en-US" sz="700"/>
          </a:p>
        </p:txBody>
      </p:sp>
      <p:sp>
        <p:nvSpPr>
          <p:cNvPr id="1076" name="Text 1076"/>
          <p:cNvSpPr/>
          <p:nvPr/>
        </p:nvSpPr>
        <p:spPr>
          <a:xfrm>
            <a:off x="10332720" y="281635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b="1">
                <a:solidFill>
                  <a:srgbClr val="1F3D6B"/>
                </a:solidFill>
              </a:rPr>
              <a:t>54.2%</a:t>
            </a:r>
            <a:endParaRPr lang="en-US" sz="800"/>
          </a:p>
        </p:txBody>
      </p:sp>
      <p:sp>
        <p:nvSpPr>
          <p:cNvPr id="1077" name="Shape 1077"/>
          <p:cNvSpPr/>
          <p:nvPr/>
        </p:nvSpPr>
        <p:spPr>
          <a:xfrm>
            <a:off x="8741664" y="3072384"/>
            <a:ext cx="2953512" cy="274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8" name="Text 1078"/>
          <p:cNvSpPr/>
          <p:nvPr/>
        </p:nvSpPr>
        <p:spPr>
          <a:xfrm>
            <a:off x="8851392" y="3136392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0">
                <a:solidFill>
                  <a:srgbClr val="8A94A6"/>
                </a:solidFill>
              </a:rPr>
              <a:t>Unknown province</a:t>
            </a:r>
            <a:endParaRPr lang="en-US" sz="700"/>
          </a:p>
        </p:txBody>
      </p:sp>
      <p:sp>
        <p:nvSpPr>
          <p:cNvPr id="1079" name="Text 1079"/>
          <p:cNvSpPr/>
          <p:nvPr/>
        </p:nvSpPr>
        <p:spPr>
          <a:xfrm>
            <a:off x="10332720" y="312724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b="1">
                <a:solidFill>
                  <a:srgbClr val="C0392B"/>
                </a:solidFill>
              </a:rPr>
              <a:t>2.4%</a:t>
            </a:r>
            <a:endParaRPr lang="en-US" sz="800"/>
          </a:p>
        </p:txBody>
      </p:sp>
      <p:sp>
        <p:nvSpPr>
          <p:cNvPr id="1080" name="Shape 1080"/>
          <p:cNvSpPr/>
          <p:nvPr/>
        </p:nvSpPr>
        <p:spPr>
          <a:xfrm>
            <a:off x="8741664" y="3383280"/>
            <a:ext cx="2953512" cy="274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1" name="Text 1081"/>
          <p:cNvSpPr/>
          <p:nvPr/>
        </p:nvSpPr>
        <p:spPr>
          <a:xfrm>
            <a:off x="8851392" y="3447288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0">
                <a:solidFill>
                  <a:srgbClr val="8A94A6"/>
                </a:solidFill>
              </a:rPr>
              <a:t>Avg distance to store</a:t>
            </a:r>
            <a:endParaRPr lang="en-US" sz="700"/>
          </a:p>
        </p:txBody>
      </p:sp>
      <p:sp>
        <p:nvSpPr>
          <p:cNvPr id="1082" name="Text 1082"/>
          <p:cNvSpPr/>
          <p:nvPr/>
        </p:nvSpPr>
        <p:spPr>
          <a:xfrm>
            <a:off x="10332720" y="343814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b="1">
                <a:solidFill>
                  <a:srgbClr val="1F3D6B"/>
                </a:solidFill>
              </a:rPr>
              <a:t>6.8 km</a:t>
            </a:r>
            <a:endParaRPr lang="en-US" sz="800"/>
          </a:p>
        </p:txBody>
      </p:sp>
      <p:sp>
        <p:nvSpPr>
          <p:cNvPr id="1083" name="Text 1083"/>
          <p:cNvSpPr/>
          <p:nvPr/>
        </p:nvSpPr>
        <p:spPr>
          <a:xfrm>
            <a:off x="8741664" y="3822192"/>
            <a:ext cx="29535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00" b="0">
                <a:solidFill>
                  <a:srgbClr val="8A94A6"/>
                </a:solidFill>
              </a:rPr>
              <a:t>province_id resolved from store master · agg_geo_daily</a:t>
            </a:r>
            <a:endParaRPr lang="en-US" sz="600"/>
          </a:p>
        </p:txBody>
      </p:sp>
      <p:sp>
        <p:nvSpPr>
          <p:cNvPr id="1084" name="Shape 1084"/>
          <p:cNvSpPr/>
          <p:nvPr/>
        </p:nvSpPr>
        <p:spPr>
          <a:xfrm>
            <a:off x="594360" y="4279392"/>
            <a:ext cx="3703320" cy="1993392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7620">
            <a:solidFill>
              <a:srgbClr val="D8E1EA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85" name="Shape 1085"/>
          <p:cNvSpPr/>
          <p:nvPr/>
        </p:nvSpPr>
        <p:spPr>
          <a:xfrm>
            <a:off x="594360" y="4279392"/>
            <a:ext cx="45720" cy="1993392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6" name="Text 1086"/>
          <p:cNvSpPr/>
          <p:nvPr/>
        </p:nvSpPr>
        <p:spPr>
          <a:xfrm>
            <a:off x="722376" y="4361688"/>
            <a:ext cx="3447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>
                <a:solidFill>
                  <a:srgbClr val="1F3D6B"/>
                </a:solidFill>
              </a:rPr>
              <a:t>Region Trend</a:t>
            </a:r>
            <a:endParaRPr lang="en-US" sz="1000"/>
          </a:p>
        </p:txBody>
      </p:sp>
      <p:sp>
        <p:nvSpPr>
          <p:cNvPr id="1087" name="Text 1087"/>
          <p:cNvSpPr/>
          <p:nvPr/>
        </p:nvSpPr>
        <p:spPr>
          <a:xfrm>
            <a:off x="722376" y="4562856"/>
            <a:ext cx="34472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0">
                <a:solidFill>
                  <a:srgbClr val="8A94A6"/>
                </a:solidFill>
              </a:rPr>
              <a:t>Members by region · last 6 months</a:t>
            </a:r>
            <a:endParaRPr lang="en-US" sz="700"/>
          </a:p>
        </p:txBody>
      </p:sp>
      <p:sp>
        <p:nvSpPr>
          <p:cNvPr id="1088" name="Shape 1088"/>
          <p:cNvSpPr/>
          <p:nvPr/>
        </p:nvSpPr>
        <p:spPr>
          <a:xfrm>
            <a:off x="868680" y="4846320"/>
            <a:ext cx="31546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9" name="Shape 1089"/>
          <p:cNvSpPr/>
          <p:nvPr/>
        </p:nvSpPr>
        <p:spPr>
          <a:xfrm flipV="1">
            <a:off x="1051560" y="5487497"/>
            <a:ext cx="557784" cy="29992"/>
          </a:xfrm>
          <a:prstGeom prst="line">
            <a:avLst/>
          </a:prstGeom>
          <a:noFill/>
          <a:ln w="1905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0" name="Shape 1090"/>
          <p:cNvSpPr/>
          <p:nvPr/>
        </p:nvSpPr>
        <p:spPr>
          <a:xfrm flipV="1">
            <a:off x="1609344" y="5457505"/>
            <a:ext cx="557784" cy="29992"/>
          </a:xfrm>
          <a:prstGeom prst="line">
            <a:avLst/>
          </a:prstGeom>
          <a:noFill/>
          <a:ln w="1905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1" name="Shape 1091"/>
          <p:cNvSpPr/>
          <p:nvPr/>
        </p:nvSpPr>
        <p:spPr>
          <a:xfrm flipV="1">
            <a:off x="2167128" y="5412516"/>
            <a:ext cx="557784" cy="44988"/>
          </a:xfrm>
          <a:prstGeom prst="line">
            <a:avLst/>
          </a:prstGeom>
          <a:noFill/>
          <a:ln w="1905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2" name="Shape 1092"/>
          <p:cNvSpPr/>
          <p:nvPr/>
        </p:nvSpPr>
        <p:spPr>
          <a:xfrm flipV="1">
            <a:off x="2724912" y="5367528"/>
            <a:ext cx="557784" cy="44988"/>
          </a:xfrm>
          <a:prstGeom prst="line">
            <a:avLst/>
          </a:prstGeom>
          <a:noFill/>
          <a:ln w="1905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3" name="Shape 1093"/>
          <p:cNvSpPr/>
          <p:nvPr/>
        </p:nvSpPr>
        <p:spPr>
          <a:xfrm flipV="1">
            <a:off x="3282696" y="5307543"/>
            <a:ext cx="557784" cy="59985"/>
          </a:xfrm>
          <a:prstGeom prst="line">
            <a:avLst/>
          </a:prstGeom>
          <a:noFill/>
          <a:ln w="1905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4" name="Shape 1094"/>
          <p:cNvSpPr/>
          <p:nvPr/>
        </p:nvSpPr>
        <p:spPr>
          <a:xfrm>
            <a:off x="1051560" y="5427513"/>
            <a:ext cx="557784" cy="14996"/>
          </a:xfrm>
          <a:prstGeom prst="line">
            <a:avLst/>
          </a:prstGeom>
          <a:noFill/>
          <a:ln w="19050">
            <a:solidFill>
              <a:srgbClr val="C77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5" name="Shape 1095"/>
          <p:cNvSpPr/>
          <p:nvPr/>
        </p:nvSpPr>
        <p:spPr>
          <a:xfrm>
            <a:off x="1609344" y="5442509"/>
            <a:ext cx="557784" cy="14996"/>
          </a:xfrm>
          <a:prstGeom prst="line">
            <a:avLst/>
          </a:prstGeom>
          <a:noFill/>
          <a:ln w="19050">
            <a:solidFill>
              <a:srgbClr val="C77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6" name="Shape 1096"/>
          <p:cNvSpPr/>
          <p:nvPr/>
        </p:nvSpPr>
        <p:spPr>
          <a:xfrm>
            <a:off x="2167128" y="5457505"/>
            <a:ext cx="557784" cy="29992"/>
          </a:xfrm>
          <a:prstGeom prst="line">
            <a:avLst/>
          </a:prstGeom>
          <a:noFill/>
          <a:ln w="19050">
            <a:solidFill>
              <a:srgbClr val="C77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7" name="Shape 1097"/>
          <p:cNvSpPr/>
          <p:nvPr/>
        </p:nvSpPr>
        <p:spPr>
          <a:xfrm>
            <a:off x="2724912" y="5487497"/>
            <a:ext cx="557784" cy="22494"/>
          </a:xfrm>
          <a:prstGeom prst="line">
            <a:avLst/>
          </a:prstGeom>
          <a:noFill/>
          <a:ln w="19050">
            <a:solidFill>
              <a:srgbClr val="C77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8" name="Shape 1098"/>
          <p:cNvSpPr/>
          <p:nvPr/>
        </p:nvSpPr>
        <p:spPr>
          <a:xfrm>
            <a:off x="3282696" y="5509992"/>
            <a:ext cx="557784" cy="22494"/>
          </a:xfrm>
          <a:prstGeom prst="line">
            <a:avLst/>
          </a:prstGeom>
          <a:noFill/>
          <a:ln w="19050">
            <a:solidFill>
              <a:srgbClr val="C77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9" name="Shape 1099"/>
          <p:cNvSpPr/>
          <p:nvPr/>
        </p:nvSpPr>
        <p:spPr>
          <a:xfrm flipV="1">
            <a:off x="1051560" y="5322540"/>
            <a:ext cx="557784" cy="29992"/>
          </a:xfrm>
          <a:prstGeom prst="line">
            <a:avLst/>
          </a:prstGeom>
          <a:noFill/>
          <a:ln w="19050">
            <a:solidFill>
              <a:srgbClr val="1E8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0" name="Shape 1100"/>
          <p:cNvSpPr/>
          <p:nvPr/>
        </p:nvSpPr>
        <p:spPr>
          <a:xfrm flipV="1">
            <a:off x="1609344" y="5292547"/>
            <a:ext cx="557784" cy="29992"/>
          </a:xfrm>
          <a:prstGeom prst="line">
            <a:avLst/>
          </a:prstGeom>
          <a:noFill/>
          <a:ln w="19050">
            <a:solidFill>
              <a:srgbClr val="1E8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1" name="Shape 1101"/>
          <p:cNvSpPr/>
          <p:nvPr/>
        </p:nvSpPr>
        <p:spPr>
          <a:xfrm flipV="1">
            <a:off x="2167128" y="5247559"/>
            <a:ext cx="557784" cy="44988"/>
          </a:xfrm>
          <a:prstGeom prst="line">
            <a:avLst/>
          </a:prstGeom>
          <a:noFill/>
          <a:ln w="19050">
            <a:solidFill>
              <a:srgbClr val="1E8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2" name="Shape 1102"/>
          <p:cNvSpPr/>
          <p:nvPr/>
        </p:nvSpPr>
        <p:spPr>
          <a:xfrm flipV="1">
            <a:off x="2724912" y="5202570"/>
            <a:ext cx="557784" cy="44988"/>
          </a:xfrm>
          <a:prstGeom prst="line">
            <a:avLst/>
          </a:prstGeom>
          <a:noFill/>
          <a:ln w="19050">
            <a:solidFill>
              <a:srgbClr val="1E8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3" name="Shape 1103"/>
          <p:cNvSpPr/>
          <p:nvPr/>
        </p:nvSpPr>
        <p:spPr>
          <a:xfrm flipV="1">
            <a:off x="3282696" y="5142586"/>
            <a:ext cx="557784" cy="59985"/>
          </a:xfrm>
          <a:prstGeom prst="line">
            <a:avLst/>
          </a:prstGeom>
          <a:noFill/>
          <a:ln w="19050">
            <a:solidFill>
              <a:srgbClr val="1E8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4" name="Text 1104"/>
          <p:cNvSpPr/>
          <p:nvPr/>
        </p:nvSpPr>
        <p:spPr>
          <a:xfrm>
            <a:off x="868680" y="5870448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80" b="0">
                <a:solidFill>
                  <a:srgbClr val="8A94A6"/>
                </a:solidFill>
              </a:rPr>
              <a:t>Apr</a:t>
            </a:r>
            <a:endParaRPr lang="en-US" sz="580"/>
          </a:p>
        </p:txBody>
      </p:sp>
      <p:sp>
        <p:nvSpPr>
          <p:cNvPr id="1105" name="Text 1105"/>
          <p:cNvSpPr/>
          <p:nvPr/>
        </p:nvSpPr>
        <p:spPr>
          <a:xfrm>
            <a:off x="1426464" y="5870448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80" b="0">
                <a:solidFill>
                  <a:srgbClr val="8A94A6"/>
                </a:solidFill>
              </a:rPr>
              <a:t>May</a:t>
            </a:r>
            <a:endParaRPr lang="en-US" sz="580"/>
          </a:p>
        </p:txBody>
      </p:sp>
      <p:sp>
        <p:nvSpPr>
          <p:cNvPr id="1106" name="Text 1106"/>
          <p:cNvSpPr/>
          <p:nvPr/>
        </p:nvSpPr>
        <p:spPr>
          <a:xfrm>
            <a:off x="1984248" y="5870448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80" b="0">
                <a:solidFill>
                  <a:srgbClr val="8A94A6"/>
                </a:solidFill>
              </a:rPr>
              <a:t>Jun</a:t>
            </a:r>
            <a:endParaRPr lang="en-US" sz="580"/>
          </a:p>
        </p:txBody>
      </p:sp>
      <p:sp>
        <p:nvSpPr>
          <p:cNvPr id="1107" name="Text 1107"/>
          <p:cNvSpPr/>
          <p:nvPr/>
        </p:nvSpPr>
        <p:spPr>
          <a:xfrm>
            <a:off x="2542032" y="5870448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80" b="0">
                <a:solidFill>
                  <a:srgbClr val="8A94A6"/>
                </a:solidFill>
              </a:rPr>
              <a:t>Jul</a:t>
            </a:r>
            <a:endParaRPr lang="en-US" sz="580"/>
          </a:p>
        </p:txBody>
      </p:sp>
      <p:sp>
        <p:nvSpPr>
          <p:cNvPr id="1108" name="Text 1108"/>
          <p:cNvSpPr/>
          <p:nvPr/>
        </p:nvSpPr>
        <p:spPr>
          <a:xfrm>
            <a:off x="3099816" y="5870448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80" b="0">
                <a:solidFill>
                  <a:srgbClr val="8A94A6"/>
                </a:solidFill>
              </a:rPr>
              <a:t>Aug</a:t>
            </a:r>
            <a:endParaRPr lang="en-US" sz="580"/>
          </a:p>
        </p:txBody>
      </p:sp>
      <p:sp>
        <p:nvSpPr>
          <p:cNvPr id="1109" name="Text 1109"/>
          <p:cNvSpPr/>
          <p:nvPr/>
        </p:nvSpPr>
        <p:spPr>
          <a:xfrm>
            <a:off x="3657600" y="5870448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80" b="0">
                <a:solidFill>
                  <a:srgbClr val="8A94A6"/>
                </a:solidFill>
              </a:rPr>
              <a:t>Sep</a:t>
            </a:r>
            <a:endParaRPr lang="en-US" sz="580"/>
          </a:p>
        </p:txBody>
      </p:sp>
      <p:sp>
        <p:nvSpPr>
          <p:cNvPr id="1110" name="Shape 1110"/>
          <p:cNvSpPr/>
          <p:nvPr/>
        </p:nvSpPr>
        <p:spPr>
          <a:xfrm>
            <a:off x="868680" y="6035040"/>
            <a:ext cx="109728" cy="109728"/>
          </a:xfrm>
          <a:prstGeom prst="rect">
            <a:avLst/>
          </a:prstGeom>
          <a:solidFill>
            <a:srgbClr val="2E5FA3"/>
          </a:solidFill>
          <a:ln w="635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1" name="Text 1111"/>
          <p:cNvSpPr/>
          <p:nvPr/>
        </p:nvSpPr>
        <p:spPr>
          <a:xfrm>
            <a:off x="1014984" y="6025896"/>
            <a:ext cx="594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20" b="0">
                <a:solidFill>
                  <a:srgbClr val="4A5568"/>
                </a:solidFill>
              </a:rPr>
              <a:t>North</a:t>
            </a:r>
            <a:endParaRPr lang="en-US" sz="620"/>
          </a:p>
        </p:txBody>
      </p:sp>
      <p:sp>
        <p:nvSpPr>
          <p:cNvPr id="1112" name="Shape 1112"/>
          <p:cNvSpPr/>
          <p:nvPr/>
        </p:nvSpPr>
        <p:spPr>
          <a:xfrm>
            <a:off x="1645920" y="6035040"/>
            <a:ext cx="109728" cy="109728"/>
          </a:xfrm>
          <a:prstGeom prst="rect">
            <a:avLst/>
          </a:prstGeom>
          <a:solidFill>
            <a:srgbClr val="C77700"/>
          </a:solidFill>
          <a:ln w="6350">
            <a:solidFill>
              <a:srgbClr val="C777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3" name="Text 1113"/>
          <p:cNvSpPr/>
          <p:nvPr/>
        </p:nvSpPr>
        <p:spPr>
          <a:xfrm>
            <a:off x="1792224" y="6025896"/>
            <a:ext cx="594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20" b="0">
                <a:solidFill>
                  <a:srgbClr val="4A5568"/>
                </a:solidFill>
              </a:rPr>
              <a:t>Central</a:t>
            </a:r>
            <a:endParaRPr lang="en-US" sz="620"/>
          </a:p>
        </p:txBody>
      </p:sp>
      <p:sp>
        <p:nvSpPr>
          <p:cNvPr id="1114" name="Shape 1114"/>
          <p:cNvSpPr/>
          <p:nvPr/>
        </p:nvSpPr>
        <p:spPr>
          <a:xfrm>
            <a:off x="2423160" y="6035040"/>
            <a:ext cx="109728" cy="109728"/>
          </a:xfrm>
          <a:prstGeom prst="rect">
            <a:avLst/>
          </a:prstGeom>
          <a:solidFill>
            <a:srgbClr val="1E8E5A"/>
          </a:solidFill>
          <a:ln w="6350">
            <a:solidFill>
              <a:srgbClr val="1E8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5" name="Text 1115"/>
          <p:cNvSpPr/>
          <p:nvPr/>
        </p:nvSpPr>
        <p:spPr>
          <a:xfrm>
            <a:off x="2569464" y="6025896"/>
            <a:ext cx="594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20" b="0">
                <a:solidFill>
                  <a:srgbClr val="4A5568"/>
                </a:solidFill>
              </a:rPr>
              <a:t>South</a:t>
            </a:r>
            <a:endParaRPr lang="en-US" sz="620"/>
          </a:p>
        </p:txBody>
      </p:sp>
      <p:sp>
        <p:nvSpPr>
          <p:cNvPr id="1116" name="Shape 1116"/>
          <p:cNvSpPr/>
          <p:nvPr/>
        </p:nvSpPr>
        <p:spPr>
          <a:xfrm>
            <a:off x="4526280" y="4279392"/>
            <a:ext cx="3703320" cy="1993392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7620">
            <a:solidFill>
              <a:srgbClr val="D8E1EA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17" name="Shape 1117"/>
          <p:cNvSpPr/>
          <p:nvPr/>
        </p:nvSpPr>
        <p:spPr>
          <a:xfrm>
            <a:off x="4526280" y="4279392"/>
            <a:ext cx="45720" cy="1993392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8" name="Text 1118"/>
          <p:cNvSpPr/>
          <p:nvPr/>
        </p:nvSpPr>
        <p:spPr>
          <a:xfrm>
            <a:off x="4654296" y="4361688"/>
            <a:ext cx="3447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>
                <a:solidFill>
                  <a:srgbClr val="1F3D6B"/>
                </a:solidFill>
              </a:rPr>
              <a:t>Top / Bottom Provinces</a:t>
            </a:r>
            <a:endParaRPr lang="en-US" sz="1000"/>
          </a:p>
        </p:txBody>
      </p:sp>
      <p:sp>
        <p:nvSpPr>
          <p:cNvPr id="1119" name="Text 1119"/>
          <p:cNvSpPr/>
          <p:nvPr/>
        </p:nvSpPr>
        <p:spPr>
          <a:xfrm>
            <a:off x="4654296" y="4562856"/>
            <a:ext cx="34472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0">
                <a:solidFill>
                  <a:srgbClr val="8A94A6"/>
                </a:solidFill>
              </a:rPr>
              <a:t>Growth drivers and decliners</a:t>
            </a:r>
            <a:endParaRPr lang="en-US" sz="700"/>
          </a:p>
        </p:txBody>
      </p:sp>
      <p:sp>
        <p:nvSpPr>
          <p:cNvPr id="1120" name="Text 1120"/>
          <p:cNvSpPr/>
          <p:nvPr/>
        </p:nvSpPr>
        <p:spPr>
          <a:xfrm>
            <a:off x="4654296" y="4754880"/>
            <a:ext cx="1554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00" b="1">
                <a:solidFill>
                  <a:srgbClr val="1E8E5A"/>
                </a:solidFill>
              </a:rPr>
              <a:t>TOP GROWTH</a:t>
            </a:r>
            <a:endParaRPr lang="en-US" sz="600"/>
          </a:p>
        </p:txBody>
      </p:sp>
      <p:sp>
        <p:nvSpPr>
          <p:cNvPr id="1121" name="Text 1121"/>
          <p:cNvSpPr/>
          <p:nvPr/>
        </p:nvSpPr>
        <p:spPr>
          <a:xfrm>
            <a:off x="6446520" y="4754880"/>
            <a:ext cx="1554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00" b="1">
                <a:solidFill>
                  <a:srgbClr val="C0392B"/>
                </a:solidFill>
              </a:rPr>
              <a:t>DECLINING</a:t>
            </a:r>
            <a:endParaRPr lang="en-US" sz="600"/>
          </a:p>
        </p:txBody>
      </p:sp>
      <p:sp>
        <p:nvSpPr>
          <p:cNvPr id="1122" name="Text 1122"/>
          <p:cNvSpPr/>
          <p:nvPr/>
        </p:nvSpPr>
        <p:spPr>
          <a:xfrm>
            <a:off x="4654296" y="4937760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0">
                <a:solidFill>
                  <a:srgbClr val="1F3D6B"/>
                </a:solidFill>
              </a:rPr>
              <a:t>HCMC</a:t>
            </a:r>
            <a:endParaRPr lang="en-US" sz="700"/>
          </a:p>
        </p:txBody>
      </p:sp>
      <p:sp>
        <p:nvSpPr>
          <p:cNvPr id="1123" name="Text 1123"/>
          <p:cNvSpPr/>
          <p:nvPr/>
        </p:nvSpPr>
        <p:spPr>
          <a:xfrm>
            <a:off x="5760720" y="493776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b="1">
                <a:solidFill>
                  <a:srgbClr val="1E8E5A"/>
                </a:solidFill>
              </a:rPr>
              <a:t>+8.6%</a:t>
            </a:r>
            <a:endParaRPr lang="en-US" sz="700"/>
          </a:p>
        </p:txBody>
      </p:sp>
      <p:sp>
        <p:nvSpPr>
          <p:cNvPr id="1124" name="Text 1124"/>
          <p:cNvSpPr/>
          <p:nvPr/>
        </p:nvSpPr>
        <p:spPr>
          <a:xfrm>
            <a:off x="6446520" y="4937760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0">
                <a:solidFill>
                  <a:srgbClr val="4A5568"/>
                </a:solidFill>
              </a:rPr>
              <a:t>Can Tho</a:t>
            </a:r>
            <a:endParaRPr lang="en-US" sz="700"/>
          </a:p>
        </p:txBody>
      </p:sp>
      <p:sp>
        <p:nvSpPr>
          <p:cNvPr id="1125" name="Text 1125"/>
          <p:cNvSpPr/>
          <p:nvPr/>
        </p:nvSpPr>
        <p:spPr>
          <a:xfrm>
            <a:off x="7552944" y="493776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b="1">
                <a:solidFill>
                  <a:srgbClr val="C0392B"/>
                </a:solidFill>
              </a:rPr>
              <a:t>-4.6%</a:t>
            </a:r>
            <a:endParaRPr lang="en-US" sz="700"/>
          </a:p>
        </p:txBody>
      </p:sp>
      <p:sp>
        <p:nvSpPr>
          <p:cNvPr id="1126" name="Text 1126"/>
          <p:cNvSpPr/>
          <p:nvPr/>
        </p:nvSpPr>
        <p:spPr>
          <a:xfrm>
            <a:off x="4654296" y="5193792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0">
                <a:solidFill>
                  <a:srgbClr val="1F3D6B"/>
                </a:solidFill>
              </a:rPr>
              <a:t>Hanoi</a:t>
            </a:r>
            <a:endParaRPr lang="en-US" sz="700"/>
          </a:p>
        </p:txBody>
      </p:sp>
      <p:sp>
        <p:nvSpPr>
          <p:cNvPr id="1127" name="Text 1127"/>
          <p:cNvSpPr/>
          <p:nvPr/>
        </p:nvSpPr>
        <p:spPr>
          <a:xfrm>
            <a:off x="5760720" y="5193792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b="1">
                <a:solidFill>
                  <a:srgbClr val="1E8E5A"/>
                </a:solidFill>
              </a:rPr>
              <a:t>+6.2%</a:t>
            </a:r>
            <a:endParaRPr lang="en-US" sz="700"/>
          </a:p>
        </p:txBody>
      </p:sp>
      <p:sp>
        <p:nvSpPr>
          <p:cNvPr id="1128" name="Text 1128"/>
          <p:cNvSpPr/>
          <p:nvPr/>
        </p:nvSpPr>
        <p:spPr>
          <a:xfrm>
            <a:off x="6446520" y="5193792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0">
                <a:solidFill>
                  <a:srgbClr val="4A5568"/>
                </a:solidFill>
              </a:rPr>
              <a:t>Da Nang</a:t>
            </a:r>
            <a:endParaRPr lang="en-US" sz="700"/>
          </a:p>
        </p:txBody>
      </p:sp>
      <p:sp>
        <p:nvSpPr>
          <p:cNvPr id="1129" name="Text 1129"/>
          <p:cNvSpPr/>
          <p:nvPr/>
        </p:nvSpPr>
        <p:spPr>
          <a:xfrm>
            <a:off x="7552944" y="5193792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b="1">
                <a:solidFill>
                  <a:srgbClr val="C0392B"/>
                </a:solidFill>
              </a:rPr>
              <a:t>-2.8%</a:t>
            </a:r>
            <a:endParaRPr lang="en-US" sz="700"/>
          </a:p>
        </p:txBody>
      </p:sp>
      <p:sp>
        <p:nvSpPr>
          <p:cNvPr id="1130" name="Text 1130"/>
          <p:cNvSpPr/>
          <p:nvPr/>
        </p:nvSpPr>
        <p:spPr>
          <a:xfrm>
            <a:off x="4654296" y="5449824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0">
                <a:solidFill>
                  <a:srgbClr val="1F3D6B"/>
                </a:solidFill>
              </a:rPr>
              <a:t>Binh Duong</a:t>
            </a:r>
            <a:endParaRPr lang="en-US" sz="700"/>
          </a:p>
        </p:txBody>
      </p:sp>
      <p:sp>
        <p:nvSpPr>
          <p:cNvPr id="1131" name="Text 1131"/>
          <p:cNvSpPr/>
          <p:nvPr/>
        </p:nvSpPr>
        <p:spPr>
          <a:xfrm>
            <a:off x="5760720" y="5449824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b="1">
                <a:solidFill>
                  <a:srgbClr val="1E8E5A"/>
                </a:solidFill>
              </a:rPr>
              <a:t>+5.4%</a:t>
            </a:r>
            <a:endParaRPr lang="en-US" sz="700"/>
          </a:p>
        </p:txBody>
      </p:sp>
      <p:sp>
        <p:nvSpPr>
          <p:cNvPr id="1132" name="Text 1132"/>
          <p:cNvSpPr/>
          <p:nvPr/>
        </p:nvSpPr>
        <p:spPr>
          <a:xfrm>
            <a:off x="6446520" y="5449824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0">
                <a:solidFill>
                  <a:srgbClr val="4A5568"/>
                </a:solidFill>
              </a:rPr>
              <a:t>Hue</a:t>
            </a:r>
            <a:endParaRPr lang="en-US" sz="700"/>
          </a:p>
        </p:txBody>
      </p:sp>
      <p:sp>
        <p:nvSpPr>
          <p:cNvPr id="1133" name="Text 1133"/>
          <p:cNvSpPr/>
          <p:nvPr/>
        </p:nvSpPr>
        <p:spPr>
          <a:xfrm>
            <a:off x="7552944" y="5449824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b="1">
                <a:solidFill>
                  <a:srgbClr val="C0392B"/>
                </a:solidFill>
              </a:rPr>
              <a:t>-2.1%</a:t>
            </a:r>
            <a:endParaRPr lang="en-US" sz="700"/>
          </a:p>
        </p:txBody>
      </p:sp>
      <p:sp>
        <p:nvSpPr>
          <p:cNvPr id="1134" name="Text 1134"/>
          <p:cNvSpPr/>
          <p:nvPr/>
        </p:nvSpPr>
        <p:spPr>
          <a:xfrm>
            <a:off x="4654296" y="5705856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0">
                <a:solidFill>
                  <a:srgbClr val="1F3D6B"/>
                </a:solidFill>
              </a:rPr>
              <a:t>Dong Nai</a:t>
            </a:r>
            <a:endParaRPr lang="en-US" sz="700"/>
          </a:p>
        </p:txBody>
      </p:sp>
      <p:sp>
        <p:nvSpPr>
          <p:cNvPr id="1135" name="Text 1135"/>
          <p:cNvSpPr/>
          <p:nvPr/>
        </p:nvSpPr>
        <p:spPr>
          <a:xfrm>
            <a:off x="5760720" y="5705856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b="1">
                <a:solidFill>
                  <a:srgbClr val="1E8E5A"/>
                </a:solidFill>
              </a:rPr>
              <a:t>+4.1%</a:t>
            </a:r>
            <a:endParaRPr lang="en-US" sz="700"/>
          </a:p>
        </p:txBody>
      </p:sp>
      <p:sp>
        <p:nvSpPr>
          <p:cNvPr id="1136" name="Text 1136"/>
          <p:cNvSpPr/>
          <p:nvPr/>
        </p:nvSpPr>
        <p:spPr>
          <a:xfrm>
            <a:off x="6446520" y="5705856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0">
                <a:solidFill>
                  <a:srgbClr val="4A5568"/>
                </a:solidFill>
              </a:rPr>
              <a:t>Quang Nam</a:t>
            </a:r>
            <a:endParaRPr lang="en-US" sz="700"/>
          </a:p>
        </p:txBody>
      </p:sp>
      <p:sp>
        <p:nvSpPr>
          <p:cNvPr id="1137" name="Text 1137"/>
          <p:cNvSpPr/>
          <p:nvPr/>
        </p:nvSpPr>
        <p:spPr>
          <a:xfrm>
            <a:off x="7552944" y="5705856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b="1">
                <a:solidFill>
                  <a:srgbClr val="C0392B"/>
                </a:solidFill>
              </a:rPr>
              <a:t>-1.4%</a:t>
            </a:r>
            <a:endParaRPr lang="en-US" sz="700"/>
          </a:p>
        </p:txBody>
      </p:sp>
      <p:sp>
        <p:nvSpPr>
          <p:cNvPr id="1138" name="Text 1138"/>
          <p:cNvSpPr/>
          <p:nvPr/>
        </p:nvSpPr>
        <p:spPr>
          <a:xfrm>
            <a:off x="4654296" y="6062472"/>
            <a:ext cx="3383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50" b="0">
                <a:solidFill>
                  <a:srgbClr val="8A94A6"/>
                </a:solidFill>
              </a:rPr>
              <a:t>Click a province → filter to that province  ·  applies in place</a:t>
            </a:r>
            <a:endParaRPr lang="en-US" sz="650"/>
          </a:p>
        </p:txBody>
      </p:sp>
      <p:sp>
        <p:nvSpPr>
          <p:cNvPr id="1139" name="Shape 1139"/>
          <p:cNvSpPr/>
          <p:nvPr/>
        </p:nvSpPr>
        <p:spPr>
          <a:xfrm>
            <a:off x="8458200" y="4279392"/>
            <a:ext cx="3383280" cy="1993392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7620">
            <a:solidFill>
              <a:srgbClr val="D8E1EA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40" name="Shape 1140"/>
          <p:cNvSpPr/>
          <p:nvPr/>
        </p:nvSpPr>
        <p:spPr>
          <a:xfrm>
            <a:off x="8458200" y="4279392"/>
            <a:ext cx="45720" cy="1993392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1" name="Text 1141"/>
          <p:cNvSpPr/>
          <p:nvPr/>
        </p:nvSpPr>
        <p:spPr>
          <a:xfrm>
            <a:off x="8586216" y="4361688"/>
            <a:ext cx="3127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>
                <a:solidFill>
                  <a:srgbClr val="1F3D6B"/>
                </a:solidFill>
              </a:rPr>
              <a:t>Cross-Filter from Here</a:t>
            </a:r>
            <a:endParaRPr lang="en-US" sz="1000"/>
          </a:p>
        </p:txBody>
      </p:sp>
      <p:sp>
        <p:nvSpPr>
          <p:cNvPr id="1142" name="Text 1142"/>
          <p:cNvSpPr/>
          <p:nvPr/>
        </p:nvSpPr>
        <p:spPr>
          <a:xfrm>
            <a:off x="8586216" y="4562856"/>
            <a:ext cx="31272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0">
                <a:solidFill>
                  <a:srgbClr val="8A94A6"/>
                </a:solidFill>
              </a:rPr>
              <a:t>Stays on this screen</a:t>
            </a:r>
            <a:endParaRPr lang="en-US" sz="700"/>
          </a:p>
        </p:txBody>
      </p:sp>
      <p:sp>
        <p:nvSpPr>
          <p:cNvPr id="1143" name="Shape 1143"/>
          <p:cNvSpPr/>
          <p:nvPr/>
        </p:nvSpPr>
        <p:spPr>
          <a:xfrm>
            <a:off x="8586216" y="4718304"/>
            <a:ext cx="3127248" cy="4023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4" name="Shape 1144"/>
          <p:cNvSpPr/>
          <p:nvPr/>
        </p:nvSpPr>
        <p:spPr>
          <a:xfrm>
            <a:off x="8586216" y="4718304"/>
            <a:ext cx="36576" cy="402336"/>
          </a:xfrm>
          <a:prstGeom prst="rect">
            <a:avLst/>
          </a:prstGeom>
          <a:solidFill>
            <a:srgbClr val="2E5FA3"/>
          </a:solidFill>
          <a:ln w="635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5" name="Shape 1145"/>
          <p:cNvSpPr/>
          <p:nvPr/>
        </p:nvSpPr>
        <p:spPr>
          <a:xfrm>
            <a:off x="8686800" y="4782312"/>
            <a:ext cx="475488" cy="155448"/>
          </a:xfrm>
          <a:prstGeom prst="roundRect">
            <a:avLst>
              <a:gd name="adj" fmla="val 25000"/>
            </a:avLst>
          </a:prstGeom>
          <a:solidFill>
            <a:srgbClr val="E8F0FA"/>
          </a:solidFill>
          <a:ln w="12700">
            <a:solidFill>
              <a:srgbClr val="E8F0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6" name="Text 1146"/>
          <p:cNvSpPr/>
          <p:nvPr/>
        </p:nvSpPr>
        <p:spPr>
          <a:xfrm>
            <a:off x="8686800" y="4800600"/>
            <a:ext cx="4754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80" b="1">
                <a:solidFill>
                  <a:srgbClr val="2E5FA3"/>
                </a:solidFill>
              </a:rPr>
              <a:t>L2</a:t>
            </a:r>
            <a:endParaRPr lang="en-US" sz="580"/>
          </a:p>
        </p:txBody>
      </p:sp>
      <p:sp>
        <p:nvSpPr>
          <p:cNvPr id="1147" name="Text 1147"/>
          <p:cNvSpPr/>
          <p:nvPr/>
        </p:nvSpPr>
        <p:spPr>
          <a:xfrm>
            <a:off x="9235440" y="4773168"/>
            <a:ext cx="2377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>
                <a:solidFill>
                  <a:srgbClr val="1F3D6B"/>
                </a:solidFill>
              </a:rPr>
              <a:t>Province focus</a:t>
            </a:r>
            <a:endParaRPr lang="en-US" sz="720"/>
          </a:p>
        </p:txBody>
      </p:sp>
      <p:sp>
        <p:nvSpPr>
          <p:cNvPr id="1148" name="Text 1148"/>
          <p:cNvSpPr/>
          <p:nvPr/>
        </p:nvSpPr>
        <p:spPr>
          <a:xfrm>
            <a:off x="9235440" y="4937760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20" b="0">
                <a:solidFill>
                  <a:srgbClr val="8A94A6"/>
                </a:solidFill>
              </a:rPr>
              <a:t>Re-filters every panel on this screen</a:t>
            </a:r>
            <a:endParaRPr lang="en-US" sz="620"/>
          </a:p>
        </p:txBody>
      </p:sp>
      <p:sp>
        <p:nvSpPr>
          <p:cNvPr id="1149" name="Shape 1149"/>
          <p:cNvSpPr/>
          <p:nvPr/>
        </p:nvSpPr>
        <p:spPr>
          <a:xfrm>
            <a:off x="8586216" y="5138928"/>
            <a:ext cx="3127248" cy="4023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0" name="Shape 1150"/>
          <p:cNvSpPr/>
          <p:nvPr/>
        </p:nvSpPr>
        <p:spPr>
          <a:xfrm>
            <a:off x="8586216" y="5138928"/>
            <a:ext cx="36576" cy="402336"/>
          </a:xfrm>
          <a:prstGeom prst="rect">
            <a:avLst/>
          </a:prstGeom>
          <a:solidFill>
            <a:srgbClr val="2E5FA3"/>
          </a:solidFill>
          <a:ln w="635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1" name="Shape 1151"/>
          <p:cNvSpPr/>
          <p:nvPr/>
        </p:nvSpPr>
        <p:spPr>
          <a:xfrm>
            <a:off x="8686800" y="5202936"/>
            <a:ext cx="475488" cy="155448"/>
          </a:xfrm>
          <a:prstGeom prst="roundRect">
            <a:avLst>
              <a:gd name="adj" fmla="val 25000"/>
            </a:avLst>
          </a:prstGeom>
          <a:solidFill>
            <a:srgbClr val="E8F0FA"/>
          </a:solidFill>
          <a:ln w="12700">
            <a:solidFill>
              <a:srgbClr val="E8F0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2" name="Text 1152"/>
          <p:cNvSpPr/>
          <p:nvPr/>
        </p:nvSpPr>
        <p:spPr>
          <a:xfrm>
            <a:off x="8686800" y="5221224"/>
            <a:ext cx="4754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80" b="1">
                <a:solidFill>
                  <a:srgbClr val="2E5FA3"/>
                </a:solidFill>
              </a:rPr>
              <a:t>L2</a:t>
            </a:r>
            <a:endParaRPr lang="en-US" sz="580"/>
          </a:p>
        </p:txBody>
      </p:sp>
      <p:sp>
        <p:nvSpPr>
          <p:cNvPr id="1153" name="Text 1153"/>
          <p:cNvSpPr/>
          <p:nvPr/>
        </p:nvSpPr>
        <p:spPr>
          <a:xfrm>
            <a:off x="9235440" y="5193792"/>
            <a:ext cx="2377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>
                <a:solidFill>
                  <a:srgbClr val="1F3D6B"/>
                </a:solidFill>
              </a:rPr>
              <a:t>Catchment focus</a:t>
            </a:r>
            <a:endParaRPr lang="en-US" sz="720"/>
          </a:p>
        </p:txBody>
      </p:sp>
      <p:sp>
        <p:nvSpPr>
          <p:cNvPr id="1154" name="Text 1154"/>
          <p:cNvSpPr/>
          <p:nvPr/>
        </p:nvSpPr>
        <p:spPr>
          <a:xfrm>
            <a:off x="9235440" y="5358384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20" b="0">
                <a:solidFill>
                  <a:srgbClr val="8A94A6"/>
                </a:solidFill>
              </a:rPr>
              <a:t>Limits to the selected distance band</a:t>
            </a:r>
            <a:endParaRPr lang="en-US" sz="620"/>
          </a:p>
        </p:txBody>
      </p:sp>
      <p:sp>
        <p:nvSpPr>
          <p:cNvPr id="1155" name="Shape 1155"/>
          <p:cNvSpPr/>
          <p:nvPr/>
        </p:nvSpPr>
        <p:spPr>
          <a:xfrm>
            <a:off x="8586216" y="5559552"/>
            <a:ext cx="3127248" cy="4023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6" name="Shape 1156"/>
          <p:cNvSpPr/>
          <p:nvPr/>
        </p:nvSpPr>
        <p:spPr>
          <a:xfrm>
            <a:off x="8586216" y="5559552"/>
            <a:ext cx="36576" cy="402336"/>
          </a:xfrm>
          <a:prstGeom prst="rect">
            <a:avLst/>
          </a:prstGeom>
          <a:solidFill>
            <a:srgbClr val="C0392B"/>
          </a:solidFill>
          <a:ln w="63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7" name="Shape 1157"/>
          <p:cNvSpPr/>
          <p:nvPr/>
        </p:nvSpPr>
        <p:spPr>
          <a:xfrm>
            <a:off x="8686800" y="5623560"/>
            <a:ext cx="475488" cy="155448"/>
          </a:xfrm>
          <a:prstGeom prst="roundRect">
            <a:avLst>
              <a:gd name="adj" fmla="val 25000"/>
            </a:avLst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8" name="Text 1158"/>
          <p:cNvSpPr/>
          <p:nvPr/>
        </p:nvSpPr>
        <p:spPr>
          <a:xfrm>
            <a:off x="8686800" y="5641848"/>
            <a:ext cx="4754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80" b="1">
                <a:solidFill>
                  <a:srgbClr val="C0392B"/>
                </a:solidFill>
              </a:rPr>
              <a:t>ALERT</a:t>
            </a:r>
            <a:endParaRPr lang="en-US" sz="580"/>
          </a:p>
        </p:txBody>
      </p:sp>
      <p:sp>
        <p:nvSpPr>
          <p:cNvPr id="1159" name="Text 1159"/>
          <p:cNvSpPr/>
          <p:nvPr/>
        </p:nvSpPr>
        <p:spPr>
          <a:xfrm>
            <a:off x="9235440" y="5614416"/>
            <a:ext cx="2377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>
                <a:solidFill>
                  <a:srgbClr val="1F3D6B"/>
                </a:solidFill>
              </a:rPr>
              <a:t>Unknown province 2.4%</a:t>
            </a:r>
            <a:endParaRPr lang="en-US" sz="720"/>
          </a:p>
        </p:txBody>
      </p:sp>
      <p:sp>
        <p:nvSpPr>
          <p:cNvPr id="1160" name="Text 1160"/>
          <p:cNvSpPr/>
          <p:nvPr/>
        </p:nvSpPr>
        <p:spPr>
          <a:xfrm>
            <a:off x="9235440" y="5779008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20" b="0">
                <a:solidFill>
                  <a:srgbClr val="8A94A6"/>
                </a:solidFill>
              </a:rPr>
              <a:t>Store master mapping needs cleanup</a:t>
            </a:r>
            <a:endParaRPr lang="en-US" sz="620"/>
          </a:p>
        </p:txBody>
      </p:sp>
      <p:sp>
        <p:nvSpPr>
          <p:cNvPr id="1161" name="Text 1161"/>
          <p:cNvSpPr/>
          <p:nvPr/>
        </p:nvSpPr>
        <p:spPr>
          <a:xfrm>
            <a:off x="8586216" y="6062472"/>
            <a:ext cx="3383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50" b="0">
                <a:solidFill>
                  <a:srgbClr val="8A94A6"/>
                </a:solidFill>
              </a:rPr>
              <a:t>Selections carry across L1 and L2 — no deeper screen</a:t>
            </a:r>
            <a:endParaRPr lang="en-US" sz="650"/>
          </a:p>
        </p:txBody>
      </p:sp>
      <p:sp>
        <p:nvSpPr>
          <p:cNvPr id="80" name="Slide Number Placeholder 0">
            <a:extLst>
              <a:ext uri="{FF2B5EF4-FFF2-40B4-BE49-F238E27FC236}">
                <a16:creationId xmlns:a16="http://schemas.microsoft.com/office/drawing/2014/main" id="{95273B6F-A59E-1331-7B20-A432456C850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58016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794">
                <a:solidFill>
                  <a:srgbClr val="8B95A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7950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Visit Timing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274320" y="10972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97" b="1">
                <a:solidFill>
                  <a:srgbClr val="1F3D6B"/>
                </a:solidFill>
              </a:rPr>
              <a:t>L2 · Visit Timing Analysis</a:t>
            </a:r>
          </a:p>
        </p:txBody>
      </p:sp>
      <p:sp>
        <p:nvSpPr>
          <p:cNvPr id="3" name="Text 3"/>
          <p:cNvSpPr/>
          <p:nvPr/>
        </p:nvSpPr>
        <p:spPr>
          <a:xfrm>
            <a:off x="274320" y="502920"/>
            <a:ext cx="11521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30" b="0">
                <a:solidFill>
                  <a:srgbClr val="4A5568"/>
                </a:solidFill>
              </a:rPr>
              <a:t>When members visit is missing from the current dashboard: hour, weekday and daypart patterns that drive staffing and campaign timing.</a:t>
            </a:r>
          </a:p>
        </p:txBody>
      </p:sp>
      <p:sp>
        <p:nvSpPr>
          <p:cNvPr id="4" name="Shape 4"/>
          <p:cNvSpPr/>
          <p:nvPr/>
        </p:nvSpPr>
        <p:spPr>
          <a:xfrm>
            <a:off x="320040" y="1056456"/>
            <a:ext cx="11567160" cy="534924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5"/>
          <p:cNvSpPr/>
          <p:nvPr/>
        </p:nvSpPr>
        <p:spPr>
          <a:xfrm>
            <a:off x="320040" y="1056456"/>
            <a:ext cx="11567160" cy="411480"/>
          </a:xfrm>
          <a:prstGeom prst="rect">
            <a:avLst/>
          </a:prstGeom>
          <a:solidFill>
            <a:srgbClr val="1F3D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6"/>
          <p:cNvSpPr/>
          <p:nvPr/>
        </p:nvSpPr>
        <p:spPr>
          <a:xfrm>
            <a:off x="502920" y="117532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30" b="1">
                <a:solidFill>
                  <a:srgbClr val="FFFFFF"/>
                </a:solidFill>
              </a:rPr>
              <a:t>Merchant Insight Dashboard · L2 Visit Timing</a:t>
            </a:r>
          </a:p>
        </p:txBody>
      </p:sp>
      <p:sp>
        <p:nvSpPr>
          <p:cNvPr id="7" name="Shape 7"/>
          <p:cNvSpPr/>
          <p:nvPr/>
        </p:nvSpPr>
        <p:spPr>
          <a:xfrm>
            <a:off x="3900000" y="1147896"/>
            <a:ext cx="1205000" cy="2286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8"/>
          <p:cNvSpPr/>
          <p:nvPr/>
        </p:nvSpPr>
        <p:spPr>
          <a:xfrm>
            <a:off x="3936576" y="1198188"/>
            <a:ext cx="11318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0">
                <a:solidFill>
                  <a:srgbClr val="1F3D6B"/>
                </a:solidFill>
              </a:rPr>
              <a:t>Operation Unit</a:t>
            </a:r>
          </a:p>
        </p:txBody>
      </p:sp>
      <p:sp>
        <p:nvSpPr>
          <p:cNvPr id="9" name="Shape 9"/>
          <p:cNvSpPr/>
          <p:nvPr/>
        </p:nvSpPr>
        <p:spPr>
          <a:xfrm>
            <a:off x="5176000" y="1147896"/>
            <a:ext cx="1205000" cy="2286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10"/>
          <p:cNvSpPr/>
          <p:nvPr/>
        </p:nvSpPr>
        <p:spPr>
          <a:xfrm>
            <a:off x="5212576" y="1198188"/>
            <a:ext cx="11318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0">
                <a:solidFill>
                  <a:srgbClr val="1F3D6B"/>
                </a:solidFill>
              </a:rPr>
              <a:t>Store</a:t>
            </a:r>
          </a:p>
        </p:txBody>
      </p:sp>
      <p:sp>
        <p:nvSpPr>
          <p:cNvPr id="11" name="Shape 11"/>
          <p:cNvSpPr/>
          <p:nvPr/>
        </p:nvSpPr>
        <p:spPr>
          <a:xfrm>
            <a:off x="6452000" y="1147896"/>
            <a:ext cx="1205000" cy="2286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2"/>
          <p:cNvSpPr/>
          <p:nvPr/>
        </p:nvSpPr>
        <p:spPr>
          <a:xfrm>
            <a:off x="6488576" y="1198188"/>
            <a:ext cx="11318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0">
                <a:solidFill>
                  <a:srgbClr val="1F3D6B"/>
                </a:solidFill>
              </a:rPr>
              <a:t>Business Category</a:t>
            </a:r>
          </a:p>
        </p:txBody>
      </p:sp>
      <p:sp>
        <p:nvSpPr>
          <p:cNvPr id="13" name="Shape 13"/>
          <p:cNvSpPr/>
          <p:nvPr/>
        </p:nvSpPr>
        <p:spPr>
          <a:xfrm>
            <a:off x="7728000" y="1147896"/>
            <a:ext cx="1205000" cy="2286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4"/>
          <p:cNvSpPr/>
          <p:nvPr/>
        </p:nvSpPr>
        <p:spPr>
          <a:xfrm>
            <a:off x="7764576" y="1198188"/>
            <a:ext cx="11318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0">
                <a:solidFill>
                  <a:srgbClr val="1F3D6B"/>
                </a:solidFill>
              </a:rPr>
              <a:t>Tenant</a:t>
            </a:r>
          </a:p>
        </p:txBody>
      </p:sp>
      <p:sp>
        <p:nvSpPr>
          <p:cNvPr id="15" name="Shape 15"/>
          <p:cNvSpPr/>
          <p:nvPr/>
        </p:nvSpPr>
        <p:spPr>
          <a:xfrm>
            <a:off x="9004000" y="1147896"/>
            <a:ext cx="1205000" cy="2286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6"/>
          <p:cNvSpPr/>
          <p:nvPr/>
        </p:nvSpPr>
        <p:spPr>
          <a:xfrm>
            <a:off x="9040576" y="1198188"/>
            <a:ext cx="11318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0">
                <a:solidFill>
                  <a:srgbClr val="1F3D6B"/>
                </a:solidFill>
              </a:rPr>
              <a:t>Date Range</a:t>
            </a:r>
          </a:p>
        </p:txBody>
      </p:sp>
      <p:sp>
        <p:nvSpPr>
          <p:cNvPr id="900" name="Shape 900"/>
          <p:cNvSpPr/>
          <p:nvPr/>
        </p:nvSpPr>
        <p:spPr>
          <a:xfrm>
            <a:off x="10280000" y="1147896"/>
            <a:ext cx="1205000" cy="2286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1" name="Text 901"/>
          <p:cNvSpPr/>
          <p:nvPr/>
        </p:nvSpPr>
        <p:spPr>
          <a:xfrm>
            <a:off x="10316576" y="1198188"/>
            <a:ext cx="11318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0">
                <a:solidFill>
                  <a:srgbClr val="1F3D6B"/>
                </a:solidFill>
              </a:rPr>
              <a:t>Compare With</a:t>
            </a:r>
          </a:p>
        </p:txBody>
      </p:sp>
      <p:sp>
        <p:nvSpPr>
          <p:cNvPr id="17" name="Text 17"/>
          <p:cNvSpPr/>
          <p:nvPr/>
        </p:nvSpPr>
        <p:spPr>
          <a:xfrm>
            <a:off x="594360" y="1609344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2E5FA3"/>
                </a:solidFill>
              </a:rPr>
              <a:t>L1 Overview  ›  Visit Timing</a:t>
            </a:r>
          </a:p>
        </p:txBody>
      </p:sp>
      <p:sp>
        <p:nvSpPr>
          <p:cNvPr id="18" name="Shape 18"/>
          <p:cNvSpPr/>
          <p:nvPr/>
        </p:nvSpPr>
        <p:spPr>
          <a:xfrm>
            <a:off x="3063240" y="1627632"/>
            <a:ext cx="1325880" cy="182880"/>
          </a:xfrm>
          <a:prstGeom prst="roundRect">
            <a:avLst>
              <a:gd name="adj" fmla="val 18000"/>
            </a:avLst>
          </a:prstGeom>
          <a:solidFill>
            <a:srgbClr val="FCE7F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9"/>
          <p:cNvSpPr/>
          <p:nvPr/>
        </p:nvSpPr>
        <p:spPr>
          <a:xfrm>
            <a:off x="3063240" y="1645920"/>
            <a:ext cx="1325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b="1">
                <a:solidFill>
                  <a:srgbClr val="D02C8C"/>
                </a:solidFill>
              </a:rPr>
              <a:t>Hour × Weekday view</a:t>
            </a:r>
          </a:p>
        </p:txBody>
      </p:sp>
      <p:sp>
        <p:nvSpPr>
          <p:cNvPr id="20" name="Text 20"/>
          <p:cNvSpPr/>
          <p:nvPr/>
        </p:nvSpPr>
        <p:spPr>
          <a:xfrm>
            <a:off x="5532120" y="162763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20" b="1">
                <a:solidFill>
                  <a:srgbClr val="8A94A6"/>
                </a:solidFill>
              </a:rPr>
              <a:t>METRIC MODE</a:t>
            </a:r>
          </a:p>
        </p:txBody>
      </p:sp>
      <p:sp>
        <p:nvSpPr>
          <p:cNvPr id="21" name="Shape 21"/>
          <p:cNvSpPr/>
          <p:nvPr/>
        </p:nvSpPr>
        <p:spPr>
          <a:xfrm>
            <a:off x="7086600" y="1600200"/>
            <a:ext cx="868680" cy="219456"/>
          </a:xfrm>
          <a:prstGeom prst="roundRect">
            <a:avLst>
              <a:gd name="adj" fmla="val 18000"/>
            </a:avLst>
          </a:prstGeom>
          <a:solidFill>
            <a:srgbClr val="2E5FA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2"/>
          <p:cNvSpPr/>
          <p:nvPr/>
        </p:nvSpPr>
        <p:spPr>
          <a:xfrm>
            <a:off x="7086600" y="1636776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FFFF"/>
                </a:solidFill>
              </a:rPr>
              <a:t>Count</a:t>
            </a:r>
          </a:p>
        </p:txBody>
      </p:sp>
      <p:sp>
        <p:nvSpPr>
          <p:cNvPr id="23" name="Shape 23"/>
          <p:cNvSpPr/>
          <p:nvPr/>
        </p:nvSpPr>
        <p:spPr>
          <a:xfrm>
            <a:off x="8028432" y="1600200"/>
            <a:ext cx="868680" cy="2194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4"/>
          <p:cNvSpPr/>
          <p:nvPr/>
        </p:nvSpPr>
        <p:spPr>
          <a:xfrm>
            <a:off x="8028432" y="1636776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0">
                <a:solidFill>
                  <a:srgbClr val="4A5568"/>
                </a:solidFill>
              </a:rPr>
              <a:t>Share %</a:t>
            </a:r>
          </a:p>
        </p:txBody>
      </p:sp>
      <p:sp>
        <p:nvSpPr>
          <p:cNvPr id="25" name="Shape 25"/>
          <p:cNvSpPr/>
          <p:nvPr/>
        </p:nvSpPr>
        <p:spPr>
          <a:xfrm>
            <a:off x="8970264" y="1600200"/>
            <a:ext cx="960120" cy="2194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6"/>
          <p:cNvSpPr/>
          <p:nvPr/>
        </p:nvSpPr>
        <p:spPr>
          <a:xfrm>
            <a:off x="8970264" y="1636776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0">
                <a:solidFill>
                  <a:srgbClr val="4A5568"/>
                </a:solidFill>
              </a:rPr>
              <a:t>Growth %</a:t>
            </a:r>
          </a:p>
        </p:txBody>
      </p:sp>
      <p:sp>
        <p:nvSpPr>
          <p:cNvPr id="27" name="Shape 27"/>
          <p:cNvSpPr/>
          <p:nvPr/>
        </p:nvSpPr>
        <p:spPr>
          <a:xfrm>
            <a:off x="10003536" y="1600200"/>
            <a:ext cx="777240" cy="2194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8"/>
          <p:cNvSpPr/>
          <p:nvPr/>
        </p:nvSpPr>
        <p:spPr>
          <a:xfrm>
            <a:off x="10003536" y="1636776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0">
                <a:solidFill>
                  <a:srgbClr val="4A5568"/>
                </a:solidFill>
              </a:rPr>
              <a:t>Index</a:t>
            </a:r>
          </a:p>
        </p:txBody>
      </p:sp>
      <p:sp>
        <p:nvSpPr>
          <p:cNvPr id="29" name="Shape 29"/>
          <p:cNvSpPr/>
          <p:nvPr/>
        </p:nvSpPr>
        <p:spPr>
          <a:xfrm>
            <a:off x="10853928" y="1600200"/>
            <a:ext cx="987552" cy="2194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30"/>
          <p:cNvSpPr/>
          <p:nvPr/>
        </p:nvSpPr>
        <p:spPr>
          <a:xfrm>
            <a:off x="10853928" y="1636776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0">
                <a:solidFill>
                  <a:srgbClr val="4A5568"/>
                </a:solidFill>
              </a:rPr>
              <a:t>Export</a:t>
            </a:r>
          </a:p>
        </p:txBody>
      </p:sp>
      <p:sp>
        <p:nvSpPr>
          <p:cNvPr id="31" name="Shape 31"/>
          <p:cNvSpPr/>
          <p:nvPr/>
        </p:nvSpPr>
        <p:spPr>
          <a:xfrm>
            <a:off x="594360" y="1938528"/>
            <a:ext cx="7818120" cy="2212848"/>
          </a:xfrm>
          <a:prstGeom prst="roundRect">
            <a:avLst>
              <a:gd name="adj" fmla="val 2500"/>
            </a:avLst>
          </a:prstGeom>
          <a:solidFill>
            <a:srgbClr val="F6F8FB"/>
          </a:solidFill>
          <a:ln w="762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2"/>
          <p:cNvSpPr/>
          <p:nvPr/>
        </p:nvSpPr>
        <p:spPr>
          <a:xfrm>
            <a:off x="594360" y="1938528"/>
            <a:ext cx="45720" cy="2212848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3"/>
          <p:cNvSpPr/>
          <p:nvPr/>
        </p:nvSpPr>
        <p:spPr>
          <a:xfrm>
            <a:off x="722376" y="2020824"/>
            <a:ext cx="7562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30" b="1">
                <a:solidFill>
                  <a:srgbClr val="1F3D6B"/>
                </a:solidFill>
              </a:rPr>
              <a:t>Visit Volume · Hour × Weekday Heatmap</a:t>
            </a:r>
          </a:p>
        </p:txBody>
      </p:sp>
      <p:sp>
        <p:nvSpPr>
          <p:cNvPr id="34" name="Text 34"/>
          <p:cNvSpPr/>
          <p:nvPr/>
        </p:nvSpPr>
        <p:spPr>
          <a:xfrm>
            <a:off x="722376" y="2221992"/>
            <a:ext cx="75620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0">
                <a:solidFill>
                  <a:srgbClr val="8A94A6"/>
                </a:solidFill>
              </a:rPr>
              <a:t>Transactions by hour of day and day of week · selected period</a:t>
            </a:r>
          </a:p>
        </p:txBody>
      </p:sp>
      <p:sp>
        <p:nvSpPr>
          <p:cNvPr id="35" name="Text 35"/>
          <p:cNvSpPr/>
          <p:nvPr/>
        </p:nvSpPr>
        <p:spPr>
          <a:xfrm>
            <a:off x="1234440" y="2420000"/>
            <a:ext cx="560000" cy="1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" b="0">
                <a:solidFill>
                  <a:srgbClr val="8A94A6"/>
                </a:solidFill>
              </a:rPr>
              <a:t>9:00</a:t>
            </a:r>
          </a:p>
        </p:txBody>
      </p:sp>
      <p:sp>
        <p:nvSpPr>
          <p:cNvPr id="36" name="Text 36"/>
          <p:cNvSpPr/>
          <p:nvPr/>
        </p:nvSpPr>
        <p:spPr>
          <a:xfrm>
            <a:off x="1812440" y="2420000"/>
            <a:ext cx="560000" cy="1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" b="0">
                <a:solidFill>
                  <a:srgbClr val="8A94A6"/>
                </a:solidFill>
              </a:rPr>
              <a:t>10</a:t>
            </a:r>
          </a:p>
        </p:txBody>
      </p:sp>
      <p:sp>
        <p:nvSpPr>
          <p:cNvPr id="37" name="Text 37"/>
          <p:cNvSpPr/>
          <p:nvPr/>
        </p:nvSpPr>
        <p:spPr>
          <a:xfrm>
            <a:off x="2390440" y="2420000"/>
            <a:ext cx="560000" cy="1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" b="0">
                <a:solidFill>
                  <a:srgbClr val="8A94A6"/>
                </a:solidFill>
              </a:rPr>
              <a:t>11</a:t>
            </a:r>
          </a:p>
        </p:txBody>
      </p:sp>
      <p:sp>
        <p:nvSpPr>
          <p:cNvPr id="38" name="Text 38"/>
          <p:cNvSpPr/>
          <p:nvPr/>
        </p:nvSpPr>
        <p:spPr>
          <a:xfrm>
            <a:off x="2968440" y="2420000"/>
            <a:ext cx="560000" cy="1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" b="0">
                <a:solidFill>
                  <a:srgbClr val="8A94A6"/>
                </a:solidFill>
              </a:rPr>
              <a:t>12:00</a:t>
            </a:r>
          </a:p>
        </p:txBody>
      </p:sp>
      <p:sp>
        <p:nvSpPr>
          <p:cNvPr id="39" name="Text 39"/>
          <p:cNvSpPr/>
          <p:nvPr/>
        </p:nvSpPr>
        <p:spPr>
          <a:xfrm>
            <a:off x="3546440" y="2420000"/>
            <a:ext cx="560000" cy="1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" b="0">
                <a:solidFill>
                  <a:srgbClr val="8A94A6"/>
                </a:solidFill>
              </a:rPr>
              <a:t>13</a:t>
            </a:r>
          </a:p>
        </p:txBody>
      </p:sp>
      <p:sp>
        <p:nvSpPr>
          <p:cNvPr id="40" name="Text 40"/>
          <p:cNvSpPr/>
          <p:nvPr/>
        </p:nvSpPr>
        <p:spPr>
          <a:xfrm>
            <a:off x="4124440" y="2420000"/>
            <a:ext cx="560000" cy="1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" b="0">
                <a:solidFill>
                  <a:srgbClr val="8A94A6"/>
                </a:solidFill>
              </a:rPr>
              <a:t>14</a:t>
            </a:r>
          </a:p>
        </p:txBody>
      </p:sp>
      <p:sp>
        <p:nvSpPr>
          <p:cNvPr id="41" name="Text 41"/>
          <p:cNvSpPr/>
          <p:nvPr/>
        </p:nvSpPr>
        <p:spPr>
          <a:xfrm>
            <a:off x="4702440" y="2420000"/>
            <a:ext cx="560000" cy="1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" b="0">
                <a:solidFill>
                  <a:srgbClr val="8A94A6"/>
                </a:solidFill>
              </a:rPr>
              <a:t>15:00</a:t>
            </a:r>
          </a:p>
        </p:txBody>
      </p:sp>
      <p:sp>
        <p:nvSpPr>
          <p:cNvPr id="42" name="Text 42"/>
          <p:cNvSpPr/>
          <p:nvPr/>
        </p:nvSpPr>
        <p:spPr>
          <a:xfrm>
            <a:off x="5280440" y="2420000"/>
            <a:ext cx="560000" cy="1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" b="0">
                <a:solidFill>
                  <a:srgbClr val="8A94A6"/>
                </a:solidFill>
              </a:rPr>
              <a:t>16</a:t>
            </a:r>
          </a:p>
        </p:txBody>
      </p:sp>
      <p:sp>
        <p:nvSpPr>
          <p:cNvPr id="43" name="Text 43"/>
          <p:cNvSpPr/>
          <p:nvPr/>
        </p:nvSpPr>
        <p:spPr>
          <a:xfrm>
            <a:off x="5858440" y="2420000"/>
            <a:ext cx="560000" cy="1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" b="0">
                <a:solidFill>
                  <a:srgbClr val="8A94A6"/>
                </a:solidFill>
              </a:rPr>
              <a:t>17</a:t>
            </a:r>
          </a:p>
        </p:txBody>
      </p:sp>
      <p:sp>
        <p:nvSpPr>
          <p:cNvPr id="44" name="Text 44"/>
          <p:cNvSpPr/>
          <p:nvPr/>
        </p:nvSpPr>
        <p:spPr>
          <a:xfrm>
            <a:off x="6436440" y="2420000"/>
            <a:ext cx="560000" cy="1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" b="0">
                <a:solidFill>
                  <a:srgbClr val="8A94A6"/>
                </a:solidFill>
              </a:rPr>
              <a:t>18:00</a:t>
            </a:r>
          </a:p>
        </p:txBody>
      </p:sp>
      <p:sp>
        <p:nvSpPr>
          <p:cNvPr id="45" name="Text 45"/>
          <p:cNvSpPr/>
          <p:nvPr/>
        </p:nvSpPr>
        <p:spPr>
          <a:xfrm>
            <a:off x="7014440" y="2420000"/>
            <a:ext cx="560000" cy="1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" b="0">
                <a:solidFill>
                  <a:srgbClr val="8A94A6"/>
                </a:solidFill>
              </a:rPr>
              <a:t>19</a:t>
            </a:r>
          </a:p>
        </p:txBody>
      </p:sp>
      <p:sp>
        <p:nvSpPr>
          <p:cNvPr id="46" name="Text 46"/>
          <p:cNvSpPr/>
          <p:nvPr/>
        </p:nvSpPr>
        <p:spPr>
          <a:xfrm>
            <a:off x="7592440" y="2420000"/>
            <a:ext cx="560000" cy="1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" b="0">
                <a:solidFill>
                  <a:srgbClr val="8A94A6"/>
                </a:solidFill>
              </a:rPr>
              <a:t>20:00</a:t>
            </a:r>
          </a:p>
        </p:txBody>
      </p:sp>
      <p:sp>
        <p:nvSpPr>
          <p:cNvPr id="47" name="Text 47"/>
          <p:cNvSpPr/>
          <p:nvPr/>
        </p:nvSpPr>
        <p:spPr>
          <a:xfrm>
            <a:off x="722376" y="2560000"/>
            <a:ext cx="440000" cy="17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40" b="1">
                <a:solidFill>
                  <a:srgbClr val="4A5568"/>
                </a:solidFill>
              </a:rPr>
              <a:t>Mon</a:t>
            </a:r>
          </a:p>
        </p:txBody>
      </p:sp>
      <p:sp>
        <p:nvSpPr>
          <p:cNvPr id="48" name="Shape 48"/>
          <p:cNvSpPr/>
          <p:nvPr/>
        </p:nvSpPr>
        <p:spPr>
          <a:xfrm>
            <a:off x="1234440" y="2560000"/>
            <a:ext cx="560000" cy="176000"/>
          </a:xfrm>
          <a:prstGeom prst="roundRect">
            <a:avLst>
              <a:gd name="adj" fmla="val 12000"/>
            </a:avLst>
          </a:prstGeom>
          <a:solidFill>
            <a:srgbClr val="C7D8E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9"/>
          <p:cNvSpPr/>
          <p:nvPr/>
        </p:nvSpPr>
        <p:spPr>
          <a:xfrm>
            <a:off x="1812440" y="2560000"/>
            <a:ext cx="560000" cy="176000"/>
          </a:xfrm>
          <a:prstGeom prst="roundRect">
            <a:avLst>
              <a:gd name="adj" fmla="val 12000"/>
            </a:avLst>
          </a:prstGeom>
          <a:solidFill>
            <a:srgbClr val="C7D8E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50"/>
          <p:cNvSpPr/>
          <p:nvPr/>
        </p:nvSpPr>
        <p:spPr>
          <a:xfrm>
            <a:off x="2390440" y="2560000"/>
            <a:ext cx="560000" cy="176000"/>
          </a:xfrm>
          <a:prstGeom prst="roundRect">
            <a:avLst>
              <a:gd name="adj" fmla="val 12000"/>
            </a:avLst>
          </a:prstGeom>
          <a:solidFill>
            <a:srgbClr val="8FB0D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51"/>
          <p:cNvSpPr/>
          <p:nvPr/>
        </p:nvSpPr>
        <p:spPr>
          <a:xfrm>
            <a:off x="2968440" y="2560000"/>
            <a:ext cx="560000" cy="176000"/>
          </a:xfrm>
          <a:prstGeom prst="roundRect">
            <a:avLst>
              <a:gd name="adj" fmla="val 12000"/>
            </a:avLst>
          </a:prstGeom>
          <a:solidFill>
            <a:srgbClr val="4E7CB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2"/>
          <p:cNvSpPr/>
          <p:nvPr/>
        </p:nvSpPr>
        <p:spPr>
          <a:xfrm>
            <a:off x="3546440" y="2560000"/>
            <a:ext cx="560000" cy="176000"/>
          </a:xfrm>
          <a:prstGeom prst="roundRect">
            <a:avLst>
              <a:gd name="adj" fmla="val 12000"/>
            </a:avLst>
          </a:prstGeom>
          <a:solidFill>
            <a:srgbClr val="8FB0D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3"/>
          <p:cNvSpPr/>
          <p:nvPr/>
        </p:nvSpPr>
        <p:spPr>
          <a:xfrm>
            <a:off x="4124440" y="2560000"/>
            <a:ext cx="560000" cy="176000"/>
          </a:xfrm>
          <a:prstGeom prst="roundRect">
            <a:avLst>
              <a:gd name="adj" fmla="val 12000"/>
            </a:avLst>
          </a:prstGeom>
          <a:solidFill>
            <a:srgbClr val="C7D8E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4"/>
          <p:cNvSpPr/>
          <p:nvPr/>
        </p:nvSpPr>
        <p:spPr>
          <a:xfrm>
            <a:off x="4702440" y="2560000"/>
            <a:ext cx="560000" cy="176000"/>
          </a:xfrm>
          <a:prstGeom prst="roundRect">
            <a:avLst>
              <a:gd name="adj" fmla="val 12000"/>
            </a:avLst>
          </a:prstGeom>
          <a:solidFill>
            <a:srgbClr val="C7D8E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5"/>
          <p:cNvSpPr/>
          <p:nvPr/>
        </p:nvSpPr>
        <p:spPr>
          <a:xfrm>
            <a:off x="5280440" y="2560000"/>
            <a:ext cx="560000" cy="176000"/>
          </a:xfrm>
          <a:prstGeom prst="roundRect">
            <a:avLst>
              <a:gd name="adj" fmla="val 12000"/>
            </a:avLst>
          </a:prstGeom>
          <a:solidFill>
            <a:srgbClr val="8FB0D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6"/>
          <p:cNvSpPr/>
          <p:nvPr/>
        </p:nvSpPr>
        <p:spPr>
          <a:xfrm>
            <a:off x="5858440" y="2560000"/>
            <a:ext cx="560000" cy="176000"/>
          </a:xfrm>
          <a:prstGeom prst="roundRect">
            <a:avLst>
              <a:gd name="adj" fmla="val 12000"/>
            </a:avLst>
          </a:prstGeom>
          <a:solidFill>
            <a:srgbClr val="4E7CB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7"/>
          <p:cNvSpPr/>
          <p:nvPr/>
        </p:nvSpPr>
        <p:spPr>
          <a:xfrm>
            <a:off x="6436440" y="2560000"/>
            <a:ext cx="560000" cy="176000"/>
          </a:xfrm>
          <a:prstGeom prst="roundRect">
            <a:avLst>
              <a:gd name="adj" fmla="val 12000"/>
            </a:avLst>
          </a:prstGeom>
          <a:solidFill>
            <a:srgbClr val="1F3D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8"/>
          <p:cNvSpPr/>
          <p:nvPr/>
        </p:nvSpPr>
        <p:spPr>
          <a:xfrm>
            <a:off x="7014440" y="2560000"/>
            <a:ext cx="560000" cy="176000"/>
          </a:xfrm>
          <a:prstGeom prst="roundRect">
            <a:avLst>
              <a:gd name="adj" fmla="val 12000"/>
            </a:avLst>
          </a:prstGeom>
          <a:solidFill>
            <a:srgbClr val="4E7CB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9"/>
          <p:cNvSpPr/>
          <p:nvPr/>
        </p:nvSpPr>
        <p:spPr>
          <a:xfrm>
            <a:off x="7592440" y="2560000"/>
            <a:ext cx="560000" cy="176000"/>
          </a:xfrm>
          <a:prstGeom prst="roundRect">
            <a:avLst>
              <a:gd name="adj" fmla="val 12000"/>
            </a:avLst>
          </a:prstGeom>
          <a:solidFill>
            <a:srgbClr val="C7D8E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60"/>
          <p:cNvSpPr/>
          <p:nvPr/>
        </p:nvSpPr>
        <p:spPr>
          <a:xfrm>
            <a:off x="722376" y="2754000"/>
            <a:ext cx="440000" cy="17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40" b="1">
                <a:solidFill>
                  <a:srgbClr val="4A5568"/>
                </a:solidFill>
              </a:rPr>
              <a:t>Tue</a:t>
            </a:r>
          </a:p>
        </p:txBody>
      </p:sp>
      <p:sp>
        <p:nvSpPr>
          <p:cNvPr id="61" name="Shape 61"/>
          <p:cNvSpPr/>
          <p:nvPr/>
        </p:nvSpPr>
        <p:spPr>
          <a:xfrm>
            <a:off x="1234440" y="2754000"/>
            <a:ext cx="560000" cy="176000"/>
          </a:xfrm>
          <a:prstGeom prst="roundRect">
            <a:avLst>
              <a:gd name="adj" fmla="val 12000"/>
            </a:avLst>
          </a:prstGeom>
          <a:solidFill>
            <a:srgbClr val="C7D8E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2"/>
          <p:cNvSpPr/>
          <p:nvPr/>
        </p:nvSpPr>
        <p:spPr>
          <a:xfrm>
            <a:off x="1812440" y="2754000"/>
            <a:ext cx="560000" cy="176000"/>
          </a:xfrm>
          <a:prstGeom prst="roundRect">
            <a:avLst>
              <a:gd name="adj" fmla="val 12000"/>
            </a:avLst>
          </a:prstGeom>
          <a:solidFill>
            <a:srgbClr val="C7D8E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3"/>
          <p:cNvSpPr/>
          <p:nvPr/>
        </p:nvSpPr>
        <p:spPr>
          <a:xfrm>
            <a:off x="2390440" y="2754000"/>
            <a:ext cx="560000" cy="176000"/>
          </a:xfrm>
          <a:prstGeom prst="roundRect">
            <a:avLst>
              <a:gd name="adj" fmla="val 12000"/>
            </a:avLst>
          </a:prstGeom>
          <a:solidFill>
            <a:srgbClr val="8FB0D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4"/>
          <p:cNvSpPr/>
          <p:nvPr/>
        </p:nvSpPr>
        <p:spPr>
          <a:xfrm>
            <a:off x="2968440" y="2754000"/>
            <a:ext cx="560000" cy="176000"/>
          </a:xfrm>
          <a:prstGeom prst="roundRect">
            <a:avLst>
              <a:gd name="adj" fmla="val 12000"/>
            </a:avLst>
          </a:prstGeom>
          <a:solidFill>
            <a:srgbClr val="4E7CB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5"/>
          <p:cNvSpPr/>
          <p:nvPr/>
        </p:nvSpPr>
        <p:spPr>
          <a:xfrm>
            <a:off x="3546440" y="2754000"/>
            <a:ext cx="560000" cy="176000"/>
          </a:xfrm>
          <a:prstGeom prst="roundRect">
            <a:avLst>
              <a:gd name="adj" fmla="val 12000"/>
            </a:avLst>
          </a:prstGeom>
          <a:solidFill>
            <a:srgbClr val="8FB0D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6"/>
          <p:cNvSpPr/>
          <p:nvPr/>
        </p:nvSpPr>
        <p:spPr>
          <a:xfrm>
            <a:off x="4124440" y="2754000"/>
            <a:ext cx="560000" cy="176000"/>
          </a:xfrm>
          <a:prstGeom prst="roundRect">
            <a:avLst>
              <a:gd name="adj" fmla="val 12000"/>
            </a:avLst>
          </a:prstGeom>
          <a:solidFill>
            <a:srgbClr val="C7D8E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7"/>
          <p:cNvSpPr/>
          <p:nvPr/>
        </p:nvSpPr>
        <p:spPr>
          <a:xfrm>
            <a:off x="4702440" y="2754000"/>
            <a:ext cx="560000" cy="176000"/>
          </a:xfrm>
          <a:prstGeom prst="roundRect">
            <a:avLst>
              <a:gd name="adj" fmla="val 12000"/>
            </a:avLst>
          </a:prstGeom>
          <a:solidFill>
            <a:srgbClr val="C7D8E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8"/>
          <p:cNvSpPr/>
          <p:nvPr/>
        </p:nvSpPr>
        <p:spPr>
          <a:xfrm>
            <a:off x="5280440" y="2754000"/>
            <a:ext cx="560000" cy="176000"/>
          </a:xfrm>
          <a:prstGeom prst="roundRect">
            <a:avLst>
              <a:gd name="adj" fmla="val 12000"/>
            </a:avLst>
          </a:prstGeom>
          <a:solidFill>
            <a:srgbClr val="8FB0D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9"/>
          <p:cNvSpPr/>
          <p:nvPr/>
        </p:nvSpPr>
        <p:spPr>
          <a:xfrm>
            <a:off x="5858440" y="2754000"/>
            <a:ext cx="560000" cy="176000"/>
          </a:xfrm>
          <a:prstGeom prst="roundRect">
            <a:avLst>
              <a:gd name="adj" fmla="val 12000"/>
            </a:avLst>
          </a:prstGeom>
          <a:solidFill>
            <a:srgbClr val="4E7CB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70"/>
          <p:cNvSpPr/>
          <p:nvPr/>
        </p:nvSpPr>
        <p:spPr>
          <a:xfrm>
            <a:off x="6436440" y="2754000"/>
            <a:ext cx="560000" cy="176000"/>
          </a:xfrm>
          <a:prstGeom prst="roundRect">
            <a:avLst>
              <a:gd name="adj" fmla="val 12000"/>
            </a:avLst>
          </a:prstGeom>
          <a:solidFill>
            <a:srgbClr val="1F3D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71"/>
          <p:cNvSpPr/>
          <p:nvPr/>
        </p:nvSpPr>
        <p:spPr>
          <a:xfrm>
            <a:off x="7014440" y="2754000"/>
            <a:ext cx="560000" cy="176000"/>
          </a:xfrm>
          <a:prstGeom prst="roundRect">
            <a:avLst>
              <a:gd name="adj" fmla="val 12000"/>
            </a:avLst>
          </a:prstGeom>
          <a:solidFill>
            <a:srgbClr val="4E7CB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2"/>
          <p:cNvSpPr/>
          <p:nvPr/>
        </p:nvSpPr>
        <p:spPr>
          <a:xfrm>
            <a:off x="7592440" y="2754000"/>
            <a:ext cx="560000" cy="176000"/>
          </a:xfrm>
          <a:prstGeom prst="roundRect">
            <a:avLst>
              <a:gd name="adj" fmla="val 12000"/>
            </a:avLst>
          </a:prstGeom>
          <a:solidFill>
            <a:srgbClr val="C7D8E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3"/>
          <p:cNvSpPr/>
          <p:nvPr/>
        </p:nvSpPr>
        <p:spPr>
          <a:xfrm>
            <a:off x="722376" y="2948000"/>
            <a:ext cx="440000" cy="17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40" b="1">
                <a:solidFill>
                  <a:srgbClr val="4A5568"/>
                </a:solidFill>
              </a:rPr>
              <a:t>Wed</a:t>
            </a:r>
          </a:p>
        </p:txBody>
      </p:sp>
      <p:sp>
        <p:nvSpPr>
          <p:cNvPr id="74" name="Shape 74"/>
          <p:cNvSpPr/>
          <p:nvPr/>
        </p:nvSpPr>
        <p:spPr>
          <a:xfrm>
            <a:off x="1234440" y="2948000"/>
            <a:ext cx="560000" cy="176000"/>
          </a:xfrm>
          <a:prstGeom prst="roundRect">
            <a:avLst>
              <a:gd name="adj" fmla="val 12000"/>
            </a:avLst>
          </a:prstGeom>
          <a:solidFill>
            <a:srgbClr val="C7D8E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5"/>
          <p:cNvSpPr/>
          <p:nvPr/>
        </p:nvSpPr>
        <p:spPr>
          <a:xfrm>
            <a:off x="1812440" y="2948000"/>
            <a:ext cx="560000" cy="176000"/>
          </a:xfrm>
          <a:prstGeom prst="roundRect">
            <a:avLst>
              <a:gd name="adj" fmla="val 12000"/>
            </a:avLst>
          </a:prstGeom>
          <a:solidFill>
            <a:srgbClr val="8FB0D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6"/>
          <p:cNvSpPr/>
          <p:nvPr/>
        </p:nvSpPr>
        <p:spPr>
          <a:xfrm>
            <a:off x="2390440" y="2948000"/>
            <a:ext cx="560000" cy="176000"/>
          </a:xfrm>
          <a:prstGeom prst="roundRect">
            <a:avLst>
              <a:gd name="adj" fmla="val 12000"/>
            </a:avLst>
          </a:prstGeom>
          <a:solidFill>
            <a:srgbClr val="8FB0D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7"/>
          <p:cNvSpPr/>
          <p:nvPr/>
        </p:nvSpPr>
        <p:spPr>
          <a:xfrm>
            <a:off x="2968440" y="2948000"/>
            <a:ext cx="560000" cy="176000"/>
          </a:xfrm>
          <a:prstGeom prst="roundRect">
            <a:avLst>
              <a:gd name="adj" fmla="val 12000"/>
            </a:avLst>
          </a:prstGeom>
          <a:solidFill>
            <a:srgbClr val="4E7CB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8"/>
          <p:cNvSpPr/>
          <p:nvPr/>
        </p:nvSpPr>
        <p:spPr>
          <a:xfrm>
            <a:off x="3546440" y="2948000"/>
            <a:ext cx="560000" cy="176000"/>
          </a:xfrm>
          <a:prstGeom prst="roundRect">
            <a:avLst>
              <a:gd name="adj" fmla="val 12000"/>
            </a:avLst>
          </a:prstGeom>
          <a:solidFill>
            <a:srgbClr val="8FB0D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9"/>
          <p:cNvSpPr/>
          <p:nvPr/>
        </p:nvSpPr>
        <p:spPr>
          <a:xfrm>
            <a:off x="4124440" y="2948000"/>
            <a:ext cx="560000" cy="176000"/>
          </a:xfrm>
          <a:prstGeom prst="roundRect">
            <a:avLst>
              <a:gd name="adj" fmla="val 12000"/>
            </a:avLst>
          </a:prstGeom>
          <a:solidFill>
            <a:srgbClr val="C7D8E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80"/>
          <p:cNvSpPr/>
          <p:nvPr/>
        </p:nvSpPr>
        <p:spPr>
          <a:xfrm>
            <a:off x="4702440" y="2948000"/>
            <a:ext cx="560000" cy="176000"/>
          </a:xfrm>
          <a:prstGeom prst="roundRect">
            <a:avLst>
              <a:gd name="adj" fmla="val 12000"/>
            </a:avLst>
          </a:prstGeom>
          <a:solidFill>
            <a:srgbClr val="8FB0D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81"/>
          <p:cNvSpPr/>
          <p:nvPr/>
        </p:nvSpPr>
        <p:spPr>
          <a:xfrm>
            <a:off x="5280440" y="2948000"/>
            <a:ext cx="560000" cy="176000"/>
          </a:xfrm>
          <a:prstGeom prst="roundRect">
            <a:avLst>
              <a:gd name="adj" fmla="val 12000"/>
            </a:avLst>
          </a:prstGeom>
          <a:solidFill>
            <a:srgbClr val="8FB0D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2"/>
          <p:cNvSpPr/>
          <p:nvPr/>
        </p:nvSpPr>
        <p:spPr>
          <a:xfrm>
            <a:off x="5858440" y="2948000"/>
            <a:ext cx="560000" cy="176000"/>
          </a:xfrm>
          <a:prstGeom prst="roundRect">
            <a:avLst>
              <a:gd name="adj" fmla="val 12000"/>
            </a:avLst>
          </a:prstGeom>
          <a:solidFill>
            <a:srgbClr val="4E7CB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3"/>
          <p:cNvSpPr/>
          <p:nvPr/>
        </p:nvSpPr>
        <p:spPr>
          <a:xfrm>
            <a:off x="6436440" y="2948000"/>
            <a:ext cx="560000" cy="176000"/>
          </a:xfrm>
          <a:prstGeom prst="roundRect">
            <a:avLst>
              <a:gd name="adj" fmla="val 12000"/>
            </a:avLst>
          </a:prstGeom>
          <a:solidFill>
            <a:srgbClr val="1F3D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4"/>
          <p:cNvSpPr/>
          <p:nvPr/>
        </p:nvSpPr>
        <p:spPr>
          <a:xfrm>
            <a:off x="7014440" y="2948000"/>
            <a:ext cx="560000" cy="176000"/>
          </a:xfrm>
          <a:prstGeom prst="roundRect">
            <a:avLst>
              <a:gd name="adj" fmla="val 12000"/>
            </a:avLst>
          </a:prstGeom>
          <a:solidFill>
            <a:srgbClr val="4E7CB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5"/>
          <p:cNvSpPr/>
          <p:nvPr/>
        </p:nvSpPr>
        <p:spPr>
          <a:xfrm>
            <a:off x="7592440" y="2948000"/>
            <a:ext cx="560000" cy="176000"/>
          </a:xfrm>
          <a:prstGeom prst="roundRect">
            <a:avLst>
              <a:gd name="adj" fmla="val 12000"/>
            </a:avLst>
          </a:prstGeom>
          <a:solidFill>
            <a:srgbClr val="8FB0D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6"/>
          <p:cNvSpPr/>
          <p:nvPr/>
        </p:nvSpPr>
        <p:spPr>
          <a:xfrm>
            <a:off x="722376" y="3142000"/>
            <a:ext cx="440000" cy="17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40" b="1">
                <a:solidFill>
                  <a:srgbClr val="4A5568"/>
                </a:solidFill>
              </a:rPr>
              <a:t>Thu</a:t>
            </a:r>
          </a:p>
        </p:txBody>
      </p:sp>
      <p:sp>
        <p:nvSpPr>
          <p:cNvPr id="87" name="Shape 87"/>
          <p:cNvSpPr/>
          <p:nvPr/>
        </p:nvSpPr>
        <p:spPr>
          <a:xfrm>
            <a:off x="1234440" y="3142000"/>
            <a:ext cx="560000" cy="176000"/>
          </a:xfrm>
          <a:prstGeom prst="roundRect">
            <a:avLst>
              <a:gd name="adj" fmla="val 12000"/>
            </a:avLst>
          </a:prstGeom>
          <a:solidFill>
            <a:srgbClr val="C7D8E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8"/>
          <p:cNvSpPr/>
          <p:nvPr/>
        </p:nvSpPr>
        <p:spPr>
          <a:xfrm>
            <a:off x="1812440" y="3142000"/>
            <a:ext cx="560000" cy="176000"/>
          </a:xfrm>
          <a:prstGeom prst="roundRect">
            <a:avLst>
              <a:gd name="adj" fmla="val 12000"/>
            </a:avLst>
          </a:prstGeom>
          <a:solidFill>
            <a:srgbClr val="8FB0D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89"/>
          <p:cNvSpPr/>
          <p:nvPr/>
        </p:nvSpPr>
        <p:spPr>
          <a:xfrm>
            <a:off x="2390440" y="3142000"/>
            <a:ext cx="560000" cy="176000"/>
          </a:xfrm>
          <a:prstGeom prst="roundRect">
            <a:avLst>
              <a:gd name="adj" fmla="val 12000"/>
            </a:avLst>
          </a:prstGeom>
          <a:solidFill>
            <a:srgbClr val="8FB0D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90"/>
          <p:cNvSpPr/>
          <p:nvPr/>
        </p:nvSpPr>
        <p:spPr>
          <a:xfrm>
            <a:off x="2968440" y="3142000"/>
            <a:ext cx="560000" cy="176000"/>
          </a:xfrm>
          <a:prstGeom prst="roundRect">
            <a:avLst>
              <a:gd name="adj" fmla="val 12000"/>
            </a:avLst>
          </a:prstGeom>
          <a:solidFill>
            <a:srgbClr val="4E7CB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91"/>
          <p:cNvSpPr/>
          <p:nvPr/>
        </p:nvSpPr>
        <p:spPr>
          <a:xfrm>
            <a:off x="3546440" y="3142000"/>
            <a:ext cx="560000" cy="176000"/>
          </a:xfrm>
          <a:prstGeom prst="roundRect">
            <a:avLst>
              <a:gd name="adj" fmla="val 12000"/>
            </a:avLst>
          </a:prstGeom>
          <a:solidFill>
            <a:srgbClr val="8FB0D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92"/>
          <p:cNvSpPr/>
          <p:nvPr/>
        </p:nvSpPr>
        <p:spPr>
          <a:xfrm>
            <a:off x="4124440" y="3142000"/>
            <a:ext cx="560000" cy="176000"/>
          </a:xfrm>
          <a:prstGeom prst="roundRect">
            <a:avLst>
              <a:gd name="adj" fmla="val 12000"/>
            </a:avLst>
          </a:prstGeom>
          <a:solidFill>
            <a:srgbClr val="8FB0D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93"/>
          <p:cNvSpPr/>
          <p:nvPr/>
        </p:nvSpPr>
        <p:spPr>
          <a:xfrm>
            <a:off x="4702440" y="3142000"/>
            <a:ext cx="560000" cy="176000"/>
          </a:xfrm>
          <a:prstGeom prst="roundRect">
            <a:avLst>
              <a:gd name="adj" fmla="val 12000"/>
            </a:avLst>
          </a:prstGeom>
          <a:solidFill>
            <a:srgbClr val="8FB0D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4" name="Shape 94"/>
          <p:cNvSpPr/>
          <p:nvPr/>
        </p:nvSpPr>
        <p:spPr>
          <a:xfrm>
            <a:off x="5280440" y="3142000"/>
            <a:ext cx="560000" cy="176000"/>
          </a:xfrm>
          <a:prstGeom prst="roundRect">
            <a:avLst>
              <a:gd name="adj" fmla="val 12000"/>
            </a:avLst>
          </a:prstGeom>
          <a:solidFill>
            <a:srgbClr val="8FB0D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95"/>
          <p:cNvSpPr/>
          <p:nvPr/>
        </p:nvSpPr>
        <p:spPr>
          <a:xfrm>
            <a:off x="5858440" y="3142000"/>
            <a:ext cx="560000" cy="176000"/>
          </a:xfrm>
          <a:prstGeom prst="roundRect">
            <a:avLst>
              <a:gd name="adj" fmla="val 12000"/>
            </a:avLst>
          </a:prstGeom>
          <a:solidFill>
            <a:srgbClr val="4E7CB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96"/>
          <p:cNvSpPr/>
          <p:nvPr/>
        </p:nvSpPr>
        <p:spPr>
          <a:xfrm>
            <a:off x="6436440" y="3142000"/>
            <a:ext cx="560000" cy="176000"/>
          </a:xfrm>
          <a:prstGeom prst="roundRect">
            <a:avLst>
              <a:gd name="adj" fmla="val 12000"/>
            </a:avLst>
          </a:prstGeom>
          <a:solidFill>
            <a:srgbClr val="1F3D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97"/>
          <p:cNvSpPr/>
          <p:nvPr/>
        </p:nvSpPr>
        <p:spPr>
          <a:xfrm>
            <a:off x="7014440" y="3142000"/>
            <a:ext cx="560000" cy="176000"/>
          </a:xfrm>
          <a:prstGeom prst="roundRect">
            <a:avLst>
              <a:gd name="adj" fmla="val 12000"/>
            </a:avLst>
          </a:prstGeom>
          <a:solidFill>
            <a:srgbClr val="1F3D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98"/>
          <p:cNvSpPr/>
          <p:nvPr/>
        </p:nvSpPr>
        <p:spPr>
          <a:xfrm>
            <a:off x="7592440" y="3142000"/>
            <a:ext cx="560000" cy="176000"/>
          </a:xfrm>
          <a:prstGeom prst="roundRect">
            <a:avLst>
              <a:gd name="adj" fmla="val 12000"/>
            </a:avLst>
          </a:prstGeom>
          <a:solidFill>
            <a:srgbClr val="8FB0D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9" name="Text 99"/>
          <p:cNvSpPr/>
          <p:nvPr/>
        </p:nvSpPr>
        <p:spPr>
          <a:xfrm>
            <a:off x="722376" y="3336000"/>
            <a:ext cx="440000" cy="17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40" b="1">
                <a:solidFill>
                  <a:srgbClr val="4A5568"/>
                </a:solidFill>
              </a:rPr>
              <a:t>Fri</a:t>
            </a:r>
          </a:p>
        </p:txBody>
      </p:sp>
      <p:sp>
        <p:nvSpPr>
          <p:cNvPr id="100" name="Shape 100"/>
          <p:cNvSpPr/>
          <p:nvPr/>
        </p:nvSpPr>
        <p:spPr>
          <a:xfrm>
            <a:off x="1234440" y="3336000"/>
            <a:ext cx="560000" cy="176000"/>
          </a:xfrm>
          <a:prstGeom prst="roundRect">
            <a:avLst>
              <a:gd name="adj" fmla="val 12000"/>
            </a:avLst>
          </a:prstGeom>
          <a:solidFill>
            <a:srgbClr val="C7D8E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Shape 101"/>
          <p:cNvSpPr/>
          <p:nvPr/>
        </p:nvSpPr>
        <p:spPr>
          <a:xfrm>
            <a:off x="1812440" y="3336000"/>
            <a:ext cx="560000" cy="176000"/>
          </a:xfrm>
          <a:prstGeom prst="roundRect">
            <a:avLst>
              <a:gd name="adj" fmla="val 12000"/>
            </a:avLst>
          </a:prstGeom>
          <a:solidFill>
            <a:srgbClr val="8FB0D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102"/>
          <p:cNvSpPr/>
          <p:nvPr/>
        </p:nvSpPr>
        <p:spPr>
          <a:xfrm>
            <a:off x="2390440" y="3336000"/>
            <a:ext cx="560000" cy="176000"/>
          </a:xfrm>
          <a:prstGeom prst="roundRect">
            <a:avLst>
              <a:gd name="adj" fmla="val 12000"/>
            </a:avLst>
          </a:prstGeom>
          <a:solidFill>
            <a:srgbClr val="8FB0D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Shape 103"/>
          <p:cNvSpPr/>
          <p:nvPr/>
        </p:nvSpPr>
        <p:spPr>
          <a:xfrm>
            <a:off x="2968440" y="3336000"/>
            <a:ext cx="560000" cy="176000"/>
          </a:xfrm>
          <a:prstGeom prst="roundRect">
            <a:avLst>
              <a:gd name="adj" fmla="val 12000"/>
            </a:avLst>
          </a:prstGeom>
          <a:solidFill>
            <a:srgbClr val="4E7CB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Shape 104"/>
          <p:cNvSpPr/>
          <p:nvPr/>
        </p:nvSpPr>
        <p:spPr>
          <a:xfrm>
            <a:off x="3546440" y="3336000"/>
            <a:ext cx="560000" cy="176000"/>
          </a:xfrm>
          <a:prstGeom prst="roundRect">
            <a:avLst>
              <a:gd name="adj" fmla="val 12000"/>
            </a:avLst>
          </a:prstGeom>
          <a:solidFill>
            <a:srgbClr val="4E7CB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5" name="Shape 105"/>
          <p:cNvSpPr/>
          <p:nvPr/>
        </p:nvSpPr>
        <p:spPr>
          <a:xfrm>
            <a:off x="4124440" y="3336000"/>
            <a:ext cx="560000" cy="176000"/>
          </a:xfrm>
          <a:prstGeom prst="roundRect">
            <a:avLst>
              <a:gd name="adj" fmla="val 12000"/>
            </a:avLst>
          </a:prstGeom>
          <a:solidFill>
            <a:srgbClr val="8FB0D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 106"/>
          <p:cNvSpPr/>
          <p:nvPr/>
        </p:nvSpPr>
        <p:spPr>
          <a:xfrm>
            <a:off x="4702440" y="3336000"/>
            <a:ext cx="560000" cy="176000"/>
          </a:xfrm>
          <a:prstGeom prst="roundRect">
            <a:avLst>
              <a:gd name="adj" fmla="val 12000"/>
            </a:avLst>
          </a:prstGeom>
          <a:solidFill>
            <a:srgbClr val="8FB0D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Shape 107"/>
          <p:cNvSpPr/>
          <p:nvPr/>
        </p:nvSpPr>
        <p:spPr>
          <a:xfrm>
            <a:off x="5280440" y="3336000"/>
            <a:ext cx="560000" cy="176000"/>
          </a:xfrm>
          <a:prstGeom prst="roundRect">
            <a:avLst>
              <a:gd name="adj" fmla="val 12000"/>
            </a:avLst>
          </a:prstGeom>
          <a:solidFill>
            <a:srgbClr val="4E7CB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8" name="Shape 108"/>
          <p:cNvSpPr/>
          <p:nvPr/>
        </p:nvSpPr>
        <p:spPr>
          <a:xfrm>
            <a:off x="5858440" y="3336000"/>
            <a:ext cx="560000" cy="176000"/>
          </a:xfrm>
          <a:prstGeom prst="roundRect">
            <a:avLst>
              <a:gd name="adj" fmla="val 12000"/>
            </a:avLst>
          </a:prstGeom>
          <a:solidFill>
            <a:srgbClr val="1F3D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9" name="Shape 109"/>
          <p:cNvSpPr/>
          <p:nvPr/>
        </p:nvSpPr>
        <p:spPr>
          <a:xfrm>
            <a:off x="6436440" y="3336000"/>
            <a:ext cx="560000" cy="176000"/>
          </a:xfrm>
          <a:prstGeom prst="roundRect">
            <a:avLst>
              <a:gd name="adj" fmla="val 12000"/>
            </a:avLst>
          </a:prstGeom>
          <a:solidFill>
            <a:srgbClr val="1F3D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0" name="Shape 110"/>
          <p:cNvSpPr/>
          <p:nvPr/>
        </p:nvSpPr>
        <p:spPr>
          <a:xfrm>
            <a:off x="7014440" y="3336000"/>
            <a:ext cx="560000" cy="176000"/>
          </a:xfrm>
          <a:prstGeom prst="roundRect">
            <a:avLst>
              <a:gd name="adj" fmla="val 12000"/>
            </a:avLst>
          </a:prstGeom>
          <a:solidFill>
            <a:srgbClr val="1F3D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Shape 111"/>
          <p:cNvSpPr/>
          <p:nvPr/>
        </p:nvSpPr>
        <p:spPr>
          <a:xfrm>
            <a:off x="7592440" y="3336000"/>
            <a:ext cx="560000" cy="176000"/>
          </a:xfrm>
          <a:prstGeom prst="roundRect">
            <a:avLst>
              <a:gd name="adj" fmla="val 12000"/>
            </a:avLst>
          </a:prstGeom>
          <a:solidFill>
            <a:srgbClr val="4E7CB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Text 112"/>
          <p:cNvSpPr/>
          <p:nvPr/>
        </p:nvSpPr>
        <p:spPr>
          <a:xfrm>
            <a:off x="722376" y="3530000"/>
            <a:ext cx="440000" cy="17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40" b="1">
                <a:solidFill>
                  <a:srgbClr val="4A5568"/>
                </a:solidFill>
              </a:rPr>
              <a:t>Sat</a:t>
            </a:r>
          </a:p>
        </p:txBody>
      </p:sp>
      <p:sp>
        <p:nvSpPr>
          <p:cNvPr id="113" name="Shape 113"/>
          <p:cNvSpPr/>
          <p:nvPr/>
        </p:nvSpPr>
        <p:spPr>
          <a:xfrm>
            <a:off x="1234440" y="3530000"/>
            <a:ext cx="560000" cy="176000"/>
          </a:xfrm>
          <a:prstGeom prst="roundRect">
            <a:avLst>
              <a:gd name="adj" fmla="val 12000"/>
            </a:avLst>
          </a:prstGeom>
          <a:solidFill>
            <a:srgbClr val="8FB0D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Shape 114"/>
          <p:cNvSpPr/>
          <p:nvPr/>
        </p:nvSpPr>
        <p:spPr>
          <a:xfrm>
            <a:off x="1812440" y="3530000"/>
            <a:ext cx="560000" cy="176000"/>
          </a:xfrm>
          <a:prstGeom prst="roundRect">
            <a:avLst>
              <a:gd name="adj" fmla="val 12000"/>
            </a:avLst>
          </a:prstGeom>
          <a:solidFill>
            <a:srgbClr val="4E7CB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5" name="Shape 115"/>
          <p:cNvSpPr/>
          <p:nvPr/>
        </p:nvSpPr>
        <p:spPr>
          <a:xfrm>
            <a:off x="2390440" y="3530000"/>
            <a:ext cx="560000" cy="176000"/>
          </a:xfrm>
          <a:prstGeom prst="roundRect">
            <a:avLst>
              <a:gd name="adj" fmla="val 12000"/>
            </a:avLst>
          </a:prstGeom>
          <a:solidFill>
            <a:srgbClr val="1F3D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6" name="Shape 116"/>
          <p:cNvSpPr/>
          <p:nvPr/>
        </p:nvSpPr>
        <p:spPr>
          <a:xfrm>
            <a:off x="2968440" y="3530000"/>
            <a:ext cx="560000" cy="176000"/>
          </a:xfrm>
          <a:prstGeom prst="roundRect">
            <a:avLst>
              <a:gd name="adj" fmla="val 12000"/>
            </a:avLst>
          </a:prstGeom>
          <a:solidFill>
            <a:srgbClr val="1F3D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Shape 117"/>
          <p:cNvSpPr/>
          <p:nvPr/>
        </p:nvSpPr>
        <p:spPr>
          <a:xfrm>
            <a:off x="3546440" y="3530000"/>
            <a:ext cx="560000" cy="176000"/>
          </a:xfrm>
          <a:prstGeom prst="roundRect">
            <a:avLst>
              <a:gd name="adj" fmla="val 12000"/>
            </a:avLst>
          </a:prstGeom>
          <a:solidFill>
            <a:srgbClr val="1F3D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8" name="Shape 118"/>
          <p:cNvSpPr/>
          <p:nvPr/>
        </p:nvSpPr>
        <p:spPr>
          <a:xfrm>
            <a:off x="4124440" y="3530000"/>
            <a:ext cx="560000" cy="176000"/>
          </a:xfrm>
          <a:prstGeom prst="roundRect">
            <a:avLst>
              <a:gd name="adj" fmla="val 12000"/>
            </a:avLst>
          </a:prstGeom>
          <a:solidFill>
            <a:srgbClr val="1F3D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9" name="Shape 119"/>
          <p:cNvSpPr/>
          <p:nvPr/>
        </p:nvSpPr>
        <p:spPr>
          <a:xfrm>
            <a:off x="4702440" y="3530000"/>
            <a:ext cx="560000" cy="176000"/>
          </a:xfrm>
          <a:prstGeom prst="roundRect">
            <a:avLst>
              <a:gd name="adj" fmla="val 12000"/>
            </a:avLst>
          </a:prstGeom>
          <a:solidFill>
            <a:srgbClr val="1F3D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0" name="Shape 120"/>
          <p:cNvSpPr/>
          <p:nvPr/>
        </p:nvSpPr>
        <p:spPr>
          <a:xfrm>
            <a:off x="5280440" y="3530000"/>
            <a:ext cx="560000" cy="176000"/>
          </a:xfrm>
          <a:prstGeom prst="roundRect">
            <a:avLst>
              <a:gd name="adj" fmla="val 12000"/>
            </a:avLst>
          </a:prstGeom>
          <a:solidFill>
            <a:srgbClr val="4E7CB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1" name="Shape 121"/>
          <p:cNvSpPr/>
          <p:nvPr/>
        </p:nvSpPr>
        <p:spPr>
          <a:xfrm>
            <a:off x="5858440" y="3530000"/>
            <a:ext cx="560000" cy="176000"/>
          </a:xfrm>
          <a:prstGeom prst="roundRect">
            <a:avLst>
              <a:gd name="adj" fmla="val 12000"/>
            </a:avLst>
          </a:prstGeom>
          <a:solidFill>
            <a:srgbClr val="4E7CB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2" name="Shape 122"/>
          <p:cNvSpPr/>
          <p:nvPr/>
        </p:nvSpPr>
        <p:spPr>
          <a:xfrm>
            <a:off x="6436440" y="3530000"/>
            <a:ext cx="560000" cy="176000"/>
          </a:xfrm>
          <a:prstGeom prst="roundRect">
            <a:avLst>
              <a:gd name="adj" fmla="val 12000"/>
            </a:avLst>
          </a:prstGeom>
          <a:solidFill>
            <a:srgbClr val="4E7CB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3" name="Shape 123"/>
          <p:cNvSpPr/>
          <p:nvPr/>
        </p:nvSpPr>
        <p:spPr>
          <a:xfrm>
            <a:off x="7014440" y="3530000"/>
            <a:ext cx="560000" cy="176000"/>
          </a:xfrm>
          <a:prstGeom prst="roundRect">
            <a:avLst>
              <a:gd name="adj" fmla="val 12000"/>
            </a:avLst>
          </a:prstGeom>
          <a:solidFill>
            <a:srgbClr val="8FB0D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4" name="Shape 124"/>
          <p:cNvSpPr/>
          <p:nvPr/>
        </p:nvSpPr>
        <p:spPr>
          <a:xfrm>
            <a:off x="7592440" y="3530000"/>
            <a:ext cx="560000" cy="176000"/>
          </a:xfrm>
          <a:prstGeom prst="roundRect">
            <a:avLst>
              <a:gd name="adj" fmla="val 12000"/>
            </a:avLst>
          </a:prstGeom>
          <a:solidFill>
            <a:srgbClr val="8FB0D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5" name="Text 125"/>
          <p:cNvSpPr/>
          <p:nvPr/>
        </p:nvSpPr>
        <p:spPr>
          <a:xfrm>
            <a:off x="722376" y="3724000"/>
            <a:ext cx="440000" cy="17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40" b="1">
                <a:solidFill>
                  <a:srgbClr val="4A5568"/>
                </a:solidFill>
              </a:rPr>
              <a:t>Sun</a:t>
            </a:r>
          </a:p>
        </p:txBody>
      </p:sp>
      <p:sp>
        <p:nvSpPr>
          <p:cNvPr id="126" name="Shape 126"/>
          <p:cNvSpPr/>
          <p:nvPr/>
        </p:nvSpPr>
        <p:spPr>
          <a:xfrm>
            <a:off x="1234440" y="3724000"/>
            <a:ext cx="560000" cy="176000"/>
          </a:xfrm>
          <a:prstGeom prst="roundRect">
            <a:avLst>
              <a:gd name="adj" fmla="val 12000"/>
            </a:avLst>
          </a:prstGeom>
          <a:solidFill>
            <a:srgbClr val="8FB0D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7" name="Shape 127"/>
          <p:cNvSpPr/>
          <p:nvPr/>
        </p:nvSpPr>
        <p:spPr>
          <a:xfrm>
            <a:off x="1812440" y="3724000"/>
            <a:ext cx="560000" cy="176000"/>
          </a:xfrm>
          <a:prstGeom prst="roundRect">
            <a:avLst>
              <a:gd name="adj" fmla="val 12000"/>
            </a:avLst>
          </a:prstGeom>
          <a:solidFill>
            <a:srgbClr val="4E7CB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8" name="Shape 128"/>
          <p:cNvSpPr/>
          <p:nvPr/>
        </p:nvSpPr>
        <p:spPr>
          <a:xfrm>
            <a:off x="2390440" y="3724000"/>
            <a:ext cx="560000" cy="176000"/>
          </a:xfrm>
          <a:prstGeom prst="roundRect">
            <a:avLst>
              <a:gd name="adj" fmla="val 12000"/>
            </a:avLst>
          </a:prstGeom>
          <a:solidFill>
            <a:srgbClr val="1F3D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Shape 129"/>
          <p:cNvSpPr/>
          <p:nvPr/>
        </p:nvSpPr>
        <p:spPr>
          <a:xfrm>
            <a:off x="2968440" y="3724000"/>
            <a:ext cx="560000" cy="176000"/>
          </a:xfrm>
          <a:prstGeom prst="roundRect">
            <a:avLst>
              <a:gd name="adj" fmla="val 12000"/>
            </a:avLst>
          </a:prstGeom>
          <a:solidFill>
            <a:srgbClr val="1F3D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0" name="Shape 130"/>
          <p:cNvSpPr/>
          <p:nvPr/>
        </p:nvSpPr>
        <p:spPr>
          <a:xfrm>
            <a:off x="3546440" y="3724000"/>
            <a:ext cx="560000" cy="176000"/>
          </a:xfrm>
          <a:prstGeom prst="roundRect">
            <a:avLst>
              <a:gd name="adj" fmla="val 12000"/>
            </a:avLst>
          </a:prstGeom>
          <a:solidFill>
            <a:srgbClr val="1F3D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1" name="Shape 131"/>
          <p:cNvSpPr/>
          <p:nvPr/>
        </p:nvSpPr>
        <p:spPr>
          <a:xfrm>
            <a:off x="4124440" y="3724000"/>
            <a:ext cx="560000" cy="176000"/>
          </a:xfrm>
          <a:prstGeom prst="roundRect">
            <a:avLst>
              <a:gd name="adj" fmla="val 12000"/>
            </a:avLst>
          </a:prstGeom>
          <a:solidFill>
            <a:srgbClr val="1F3D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2" name="Shape 132"/>
          <p:cNvSpPr/>
          <p:nvPr/>
        </p:nvSpPr>
        <p:spPr>
          <a:xfrm>
            <a:off x="4702440" y="3724000"/>
            <a:ext cx="560000" cy="176000"/>
          </a:xfrm>
          <a:prstGeom prst="roundRect">
            <a:avLst>
              <a:gd name="adj" fmla="val 12000"/>
            </a:avLst>
          </a:prstGeom>
          <a:solidFill>
            <a:srgbClr val="4E7CB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3" name="Shape 133"/>
          <p:cNvSpPr/>
          <p:nvPr/>
        </p:nvSpPr>
        <p:spPr>
          <a:xfrm>
            <a:off x="5280440" y="3724000"/>
            <a:ext cx="560000" cy="176000"/>
          </a:xfrm>
          <a:prstGeom prst="roundRect">
            <a:avLst>
              <a:gd name="adj" fmla="val 12000"/>
            </a:avLst>
          </a:prstGeom>
          <a:solidFill>
            <a:srgbClr val="4E7CB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4" name="Shape 134"/>
          <p:cNvSpPr/>
          <p:nvPr/>
        </p:nvSpPr>
        <p:spPr>
          <a:xfrm>
            <a:off x="5858440" y="3724000"/>
            <a:ext cx="560000" cy="176000"/>
          </a:xfrm>
          <a:prstGeom prst="roundRect">
            <a:avLst>
              <a:gd name="adj" fmla="val 12000"/>
            </a:avLst>
          </a:prstGeom>
          <a:solidFill>
            <a:srgbClr val="8FB0D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5" name="Shape 135"/>
          <p:cNvSpPr/>
          <p:nvPr/>
        </p:nvSpPr>
        <p:spPr>
          <a:xfrm>
            <a:off x="6436440" y="3724000"/>
            <a:ext cx="560000" cy="176000"/>
          </a:xfrm>
          <a:prstGeom prst="roundRect">
            <a:avLst>
              <a:gd name="adj" fmla="val 12000"/>
            </a:avLst>
          </a:prstGeom>
          <a:solidFill>
            <a:srgbClr val="8FB0D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6" name="Shape 136"/>
          <p:cNvSpPr/>
          <p:nvPr/>
        </p:nvSpPr>
        <p:spPr>
          <a:xfrm>
            <a:off x="7014440" y="3724000"/>
            <a:ext cx="560000" cy="176000"/>
          </a:xfrm>
          <a:prstGeom prst="roundRect">
            <a:avLst>
              <a:gd name="adj" fmla="val 12000"/>
            </a:avLst>
          </a:prstGeom>
          <a:solidFill>
            <a:srgbClr val="8FB0D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7" name="Shape 137"/>
          <p:cNvSpPr/>
          <p:nvPr/>
        </p:nvSpPr>
        <p:spPr>
          <a:xfrm>
            <a:off x="7592440" y="3724000"/>
            <a:ext cx="560000" cy="176000"/>
          </a:xfrm>
          <a:prstGeom prst="roundRect">
            <a:avLst>
              <a:gd name="adj" fmla="val 12000"/>
            </a:avLst>
          </a:prstGeom>
          <a:solidFill>
            <a:srgbClr val="C7D8E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8" name="Text 138"/>
          <p:cNvSpPr/>
          <p:nvPr/>
        </p:nvSpPr>
        <p:spPr>
          <a:xfrm>
            <a:off x="722376" y="3930000"/>
            <a:ext cx="3400000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b="0">
                <a:solidFill>
                  <a:srgbClr val="8A94A6"/>
                </a:solidFill>
              </a:rPr>
              <a:t>Low</a:t>
            </a:r>
          </a:p>
        </p:txBody>
      </p:sp>
      <p:sp>
        <p:nvSpPr>
          <p:cNvPr id="139" name="Shape 139"/>
          <p:cNvSpPr/>
          <p:nvPr/>
        </p:nvSpPr>
        <p:spPr>
          <a:xfrm>
            <a:off x="1050000" y="3930000"/>
            <a:ext cx="160000" cy="110000"/>
          </a:xfrm>
          <a:prstGeom prst="roundRect">
            <a:avLst>
              <a:gd name="adj" fmla="val 15000"/>
            </a:avLst>
          </a:prstGeom>
          <a:solidFill>
            <a:srgbClr val="EDF2F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0" name="Shape 140"/>
          <p:cNvSpPr/>
          <p:nvPr/>
        </p:nvSpPr>
        <p:spPr>
          <a:xfrm>
            <a:off x="1230000" y="3930000"/>
            <a:ext cx="160000" cy="110000"/>
          </a:xfrm>
          <a:prstGeom prst="roundRect">
            <a:avLst>
              <a:gd name="adj" fmla="val 15000"/>
            </a:avLst>
          </a:prstGeom>
          <a:solidFill>
            <a:srgbClr val="C7D8E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1" name="Shape 141"/>
          <p:cNvSpPr/>
          <p:nvPr/>
        </p:nvSpPr>
        <p:spPr>
          <a:xfrm>
            <a:off x="1410000" y="3930000"/>
            <a:ext cx="160000" cy="110000"/>
          </a:xfrm>
          <a:prstGeom prst="roundRect">
            <a:avLst>
              <a:gd name="adj" fmla="val 15000"/>
            </a:avLst>
          </a:prstGeom>
          <a:solidFill>
            <a:srgbClr val="8FB0D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2" name="Shape 142"/>
          <p:cNvSpPr/>
          <p:nvPr/>
        </p:nvSpPr>
        <p:spPr>
          <a:xfrm>
            <a:off x="1590000" y="3930000"/>
            <a:ext cx="160000" cy="110000"/>
          </a:xfrm>
          <a:prstGeom prst="roundRect">
            <a:avLst>
              <a:gd name="adj" fmla="val 15000"/>
            </a:avLst>
          </a:prstGeom>
          <a:solidFill>
            <a:srgbClr val="4E7CB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3" name="Shape 143"/>
          <p:cNvSpPr/>
          <p:nvPr/>
        </p:nvSpPr>
        <p:spPr>
          <a:xfrm>
            <a:off x="1770000" y="3930000"/>
            <a:ext cx="160000" cy="110000"/>
          </a:xfrm>
          <a:prstGeom prst="roundRect">
            <a:avLst>
              <a:gd name="adj" fmla="val 15000"/>
            </a:avLst>
          </a:prstGeom>
          <a:solidFill>
            <a:srgbClr val="1F3D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4" name="Text 144"/>
          <p:cNvSpPr/>
          <p:nvPr/>
        </p:nvSpPr>
        <p:spPr>
          <a:xfrm>
            <a:off x="2010000" y="3930000"/>
            <a:ext cx="600000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b="0">
                <a:solidFill>
                  <a:srgbClr val="8A94A6"/>
                </a:solidFill>
              </a:rPr>
              <a:t>High</a:t>
            </a:r>
          </a:p>
        </p:txBody>
      </p:sp>
      <p:sp>
        <p:nvSpPr>
          <p:cNvPr id="145" name="Text 145"/>
          <p:cNvSpPr/>
          <p:nvPr/>
        </p:nvSpPr>
        <p:spPr>
          <a:xfrm>
            <a:off x="4000000" y="3930000"/>
            <a:ext cx="4200000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b="0">
                <a:solidFill>
                  <a:srgbClr val="2E5FA3"/>
                </a:solidFill>
              </a:rPr>
              <a:t>Click a cell → filter to that time slot  ·  applies in place</a:t>
            </a:r>
          </a:p>
        </p:txBody>
      </p:sp>
      <p:sp>
        <p:nvSpPr>
          <p:cNvPr id="146" name="Shape 146"/>
          <p:cNvSpPr/>
          <p:nvPr/>
        </p:nvSpPr>
        <p:spPr>
          <a:xfrm>
            <a:off x="8586216" y="1938528"/>
            <a:ext cx="3026664" cy="2212848"/>
          </a:xfrm>
          <a:prstGeom prst="roundRect">
            <a:avLst>
              <a:gd name="adj" fmla="val 2500"/>
            </a:avLst>
          </a:prstGeom>
          <a:solidFill>
            <a:srgbClr val="F6F8FB"/>
          </a:solidFill>
          <a:ln w="762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7" name="Shape 147"/>
          <p:cNvSpPr/>
          <p:nvPr/>
        </p:nvSpPr>
        <p:spPr>
          <a:xfrm>
            <a:off x="8586216" y="1938528"/>
            <a:ext cx="45720" cy="2212848"/>
          </a:xfrm>
          <a:prstGeom prst="rect">
            <a:avLst/>
          </a:prstGeom>
          <a:solidFill>
            <a:srgbClr val="D02C8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8" name="Text 148"/>
          <p:cNvSpPr/>
          <p:nvPr/>
        </p:nvSpPr>
        <p:spPr>
          <a:xfrm>
            <a:off x="8714232" y="2020824"/>
            <a:ext cx="2770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30" b="1">
                <a:solidFill>
                  <a:srgbClr val="1F3D6B"/>
                </a:solidFill>
              </a:rPr>
              <a:t>Daypart Composition</a:t>
            </a:r>
          </a:p>
        </p:txBody>
      </p:sp>
      <p:sp>
        <p:nvSpPr>
          <p:cNvPr id="149" name="Text 149"/>
          <p:cNvSpPr/>
          <p:nvPr/>
        </p:nvSpPr>
        <p:spPr>
          <a:xfrm>
            <a:off x="8714232" y="2221992"/>
            <a:ext cx="27706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0">
                <a:solidFill>
                  <a:srgbClr val="8A94A6"/>
                </a:solidFill>
              </a:rPr>
              <a:t>Share of visits · selected period</a:t>
            </a:r>
          </a:p>
        </p:txBody>
      </p:sp>
      <p:sp>
        <p:nvSpPr>
          <p:cNvPr id="150" name="Text 150"/>
          <p:cNvSpPr/>
          <p:nvPr/>
        </p:nvSpPr>
        <p:spPr>
          <a:xfrm>
            <a:off x="8714232" y="2500000"/>
            <a:ext cx="1250000" cy="1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0">
                <a:solidFill>
                  <a:srgbClr val="4A5568"/>
                </a:solidFill>
              </a:rPr>
              <a:t>Morning  9–11</a:t>
            </a:r>
          </a:p>
        </p:txBody>
      </p:sp>
      <p:sp>
        <p:nvSpPr>
          <p:cNvPr id="151" name="Shape 151"/>
          <p:cNvSpPr/>
          <p:nvPr/>
        </p:nvSpPr>
        <p:spPr>
          <a:xfrm>
            <a:off x="9980000" y="2520000"/>
            <a:ext cx="1100000" cy="100000"/>
          </a:xfrm>
          <a:prstGeom prst="roundRect">
            <a:avLst>
              <a:gd name="adj" fmla="val 25000"/>
            </a:avLst>
          </a:prstGeom>
          <a:solidFill>
            <a:srgbClr val="E6ECF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2" name="Shape 152"/>
          <p:cNvSpPr/>
          <p:nvPr/>
        </p:nvSpPr>
        <p:spPr>
          <a:xfrm>
            <a:off x="9980000" y="2520000"/>
            <a:ext cx="481250" cy="100000"/>
          </a:xfrm>
          <a:prstGeom prst="roundRect">
            <a:avLst>
              <a:gd name="adj" fmla="val 25000"/>
            </a:avLst>
          </a:prstGeom>
          <a:solidFill>
            <a:srgbClr val="2E5FA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3" name="Text 153"/>
          <p:cNvSpPr/>
          <p:nvPr/>
        </p:nvSpPr>
        <p:spPr>
          <a:xfrm>
            <a:off x="11130000" y="2500000"/>
            <a:ext cx="480000" cy="1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>
                <a:solidFill>
                  <a:srgbClr val="1F3D6B"/>
                </a:solidFill>
              </a:rPr>
              <a:t>14%</a:t>
            </a:r>
          </a:p>
        </p:txBody>
      </p:sp>
      <p:sp>
        <p:nvSpPr>
          <p:cNvPr id="154" name="Text 154"/>
          <p:cNvSpPr/>
          <p:nvPr/>
        </p:nvSpPr>
        <p:spPr>
          <a:xfrm>
            <a:off x="8714232" y="2800000"/>
            <a:ext cx="1250000" cy="1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0">
                <a:solidFill>
                  <a:srgbClr val="4A5568"/>
                </a:solidFill>
              </a:rPr>
              <a:t>Lunch  11–14</a:t>
            </a:r>
          </a:p>
        </p:txBody>
      </p:sp>
      <p:sp>
        <p:nvSpPr>
          <p:cNvPr id="155" name="Shape 155"/>
          <p:cNvSpPr/>
          <p:nvPr/>
        </p:nvSpPr>
        <p:spPr>
          <a:xfrm>
            <a:off x="9980000" y="2820000"/>
            <a:ext cx="1100000" cy="100000"/>
          </a:xfrm>
          <a:prstGeom prst="roundRect">
            <a:avLst>
              <a:gd name="adj" fmla="val 25000"/>
            </a:avLst>
          </a:prstGeom>
          <a:solidFill>
            <a:srgbClr val="E6ECF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6" name="Shape 156"/>
          <p:cNvSpPr/>
          <p:nvPr/>
        </p:nvSpPr>
        <p:spPr>
          <a:xfrm>
            <a:off x="9980000" y="2820000"/>
            <a:ext cx="893750" cy="100000"/>
          </a:xfrm>
          <a:prstGeom prst="roundRect">
            <a:avLst>
              <a:gd name="adj" fmla="val 25000"/>
            </a:avLst>
          </a:prstGeom>
          <a:solidFill>
            <a:srgbClr val="2E5FA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7" name="Text 157"/>
          <p:cNvSpPr/>
          <p:nvPr/>
        </p:nvSpPr>
        <p:spPr>
          <a:xfrm>
            <a:off x="11130000" y="2800000"/>
            <a:ext cx="480000" cy="1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>
                <a:solidFill>
                  <a:srgbClr val="1F3D6B"/>
                </a:solidFill>
              </a:rPr>
              <a:t>26%</a:t>
            </a:r>
          </a:p>
        </p:txBody>
      </p:sp>
      <p:sp>
        <p:nvSpPr>
          <p:cNvPr id="158" name="Text 158"/>
          <p:cNvSpPr/>
          <p:nvPr/>
        </p:nvSpPr>
        <p:spPr>
          <a:xfrm>
            <a:off x="8714232" y="3100000"/>
            <a:ext cx="1250000" cy="1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0">
                <a:solidFill>
                  <a:srgbClr val="4A5568"/>
                </a:solidFill>
              </a:rPr>
              <a:t>Afternoon  14–17</a:t>
            </a:r>
          </a:p>
        </p:txBody>
      </p:sp>
      <p:sp>
        <p:nvSpPr>
          <p:cNvPr id="159" name="Shape 159"/>
          <p:cNvSpPr/>
          <p:nvPr/>
        </p:nvSpPr>
        <p:spPr>
          <a:xfrm>
            <a:off x="9980000" y="3120000"/>
            <a:ext cx="1100000" cy="100000"/>
          </a:xfrm>
          <a:prstGeom prst="roundRect">
            <a:avLst>
              <a:gd name="adj" fmla="val 25000"/>
            </a:avLst>
          </a:prstGeom>
          <a:solidFill>
            <a:srgbClr val="E6ECF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" name="Shape 160"/>
          <p:cNvSpPr/>
          <p:nvPr/>
        </p:nvSpPr>
        <p:spPr>
          <a:xfrm>
            <a:off x="9980000" y="3120000"/>
            <a:ext cx="756250" cy="100000"/>
          </a:xfrm>
          <a:prstGeom prst="roundRect">
            <a:avLst>
              <a:gd name="adj" fmla="val 25000"/>
            </a:avLst>
          </a:prstGeom>
          <a:solidFill>
            <a:srgbClr val="2E5FA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1" name="Text 161"/>
          <p:cNvSpPr/>
          <p:nvPr/>
        </p:nvSpPr>
        <p:spPr>
          <a:xfrm>
            <a:off x="11130000" y="3100000"/>
            <a:ext cx="480000" cy="1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>
                <a:solidFill>
                  <a:srgbClr val="1F3D6B"/>
                </a:solidFill>
              </a:rPr>
              <a:t>22%</a:t>
            </a:r>
          </a:p>
        </p:txBody>
      </p:sp>
      <p:sp>
        <p:nvSpPr>
          <p:cNvPr id="162" name="Text 162"/>
          <p:cNvSpPr/>
          <p:nvPr/>
        </p:nvSpPr>
        <p:spPr>
          <a:xfrm>
            <a:off x="8714232" y="3400000"/>
            <a:ext cx="1250000" cy="1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0">
                <a:solidFill>
                  <a:srgbClr val="4A5568"/>
                </a:solidFill>
              </a:rPr>
              <a:t>Evening  17–20</a:t>
            </a:r>
          </a:p>
        </p:txBody>
      </p:sp>
      <p:sp>
        <p:nvSpPr>
          <p:cNvPr id="163" name="Shape 163"/>
          <p:cNvSpPr/>
          <p:nvPr/>
        </p:nvSpPr>
        <p:spPr>
          <a:xfrm>
            <a:off x="9980000" y="3420000"/>
            <a:ext cx="1100000" cy="100000"/>
          </a:xfrm>
          <a:prstGeom prst="roundRect">
            <a:avLst>
              <a:gd name="adj" fmla="val 25000"/>
            </a:avLst>
          </a:prstGeom>
          <a:solidFill>
            <a:srgbClr val="E6ECF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4" name="Shape 164"/>
          <p:cNvSpPr/>
          <p:nvPr/>
        </p:nvSpPr>
        <p:spPr>
          <a:xfrm>
            <a:off x="9980000" y="3420000"/>
            <a:ext cx="1065625" cy="100000"/>
          </a:xfrm>
          <a:prstGeom prst="roundRect">
            <a:avLst>
              <a:gd name="adj" fmla="val 25000"/>
            </a:avLst>
          </a:prstGeom>
          <a:solidFill>
            <a:srgbClr val="2E5FA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5" name="Text 165"/>
          <p:cNvSpPr/>
          <p:nvPr/>
        </p:nvSpPr>
        <p:spPr>
          <a:xfrm>
            <a:off x="11130000" y="3400000"/>
            <a:ext cx="480000" cy="1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>
                <a:solidFill>
                  <a:srgbClr val="1F3D6B"/>
                </a:solidFill>
              </a:rPr>
              <a:t>31%</a:t>
            </a:r>
          </a:p>
        </p:txBody>
      </p:sp>
      <p:sp>
        <p:nvSpPr>
          <p:cNvPr id="166" name="Text 166"/>
          <p:cNvSpPr/>
          <p:nvPr/>
        </p:nvSpPr>
        <p:spPr>
          <a:xfrm>
            <a:off x="8714232" y="3700000"/>
            <a:ext cx="1250000" cy="1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0">
                <a:solidFill>
                  <a:srgbClr val="4A5568"/>
                </a:solidFill>
              </a:rPr>
              <a:t>Night  20–22</a:t>
            </a:r>
          </a:p>
        </p:txBody>
      </p:sp>
      <p:sp>
        <p:nvSpPr>
          <p:cNvPr id="167" name="Shape 167"/>
          <p:cNvSpPr/>
          <p:nvPr/>
        </p:nvSpPr>
        <p:spPr>
          <a:xfrm>
            <a:off x="9980000" y="3720000"/>
            <a:ext cx="1100000" cy="100000"/>
          </a:xfrm>
          <a:prstGeom prst="roundRect">
            <a:avLst>
              <a:gd name="adj" fmla="val 25000"/>
            </a:avLst>
          </a:prstGeom>
          <a:solidFill>
            <a:srgbClr val="E6ECF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8" name="Shape 168"/>
          <p:cNvSpPr/>
          <p:nvPr/>
        </p:nvSpPr>
        <p:spPr>
          <a:xfrm>
            <a:off x="9980000" y="3720000"/>
            <a:ext cx="240625" cy="100000"/>
          </a:xfrm>
          <a:prstGeom prst="roundRect">
            <a:avLst>
              <a:gd name="adj" fmla="val 25000"/>
            </a:avLst>
          </a:prstGeom>
          <a:solidFill>
            <a:srgbClr val="2E5FA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9" name="Text 169"/>
          <p:cNvSpPr/>
          <p:nvPr/>
        </p:nvSpPr>
        <p:spPr>
          <a:xfrm>
            <a:off x="11130000" y="3700000"/>
            <a:ext cx="480000" cy="1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>
                <a:solidFill>
                  <a:srgbClr val="1F3D6B"/>
                </a:solidFill>
              </a:rPr>
              <a:t>7%</a:t>
            </a:r>
          </a:p>
        </p:txBody>
      </p:sp>
      <p:sp>
        <p:nvSpPr>
          <p:cNvPr id="170" name="Text 170"/>
          <p:cNvSpPr/>
          <p:nvPr/>
        </p:nvSpPr>
        <p:spPr>
          <a:xfrm>
            <a:off x="8714232" y="4020000"/>
            <a:ext cx="2770632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40" b="0">
                <a:solidFill>
                  <a:srgbClr val="2E5FA3"/>
                </a:solidFill>
              </a:rPr>
              <a:t>Evening is the largest and fastest-growing daypart.</a:t>
            </a:r>
          </a:p>
        </p:txBody>
      </p:sp>
      <p:sp>
        <p:nvSpPr>
          <p:cNvPr id="171" name="Shape 171"/>
          <p:cNvSpPr/>
          <p:nvPr/>
        </p:nvSpPr>
        <p:spPr>
          <a:xfrm>
            <a:off x="594360" y="4297680"/>
            <a:ext cx="3550000" cy="1760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762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2" name="Shape 172"/>
          <p:cNvSpPr/>
          <p:nvPr/>
        </p:nvSpPr>
        <p:spPr>
          <a:xfrm>
            <a:off x="594360" y="4297680"/>
            <a:ext cx="45720" cy="17600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3" name="Text 173"/>
          <p:cNvSpPr/>
          <p:nvPr/>
        </p:nvSpPr>
        <p:spPr>
          <a:xfrm>
            <a:off x="722376" y="4387680"/>
            <a:ext cx="3300000" cy="1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1F3D6B"/>
                </a:solidFill>
              </a:rPr>
              <a:t>Peak Hours</a:t>
            </a:r>
          </a:p>
        </p:txBody>
      </p:sp>
      <p:sp>
        <p:nvSpPr>
          <p:cNvPr id="174" name="Text 174"/>
          <p:cNvSpPr/>
          <p:nvPr/>
        </p:nvSpPr>
        <p:spPr>
          <a:xfrm>
            <a:off x="722376" y="4577680"/>
            <a:ext cx="3300000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0">
                <a:solidFill>
                  <a:srgbClr val="8A94A6"/>
                </a:solidFill>
              </a:rPr>
              <a:t>Highest traffic window by day type</a:t>
            </a:r>
          </a:p>
        </p:txBody>
      </p:sp>
      <p:sp>
        <p:nvSpPr>
          <p:cNvPr id="175" name="Text 175"/>
          <p:cNvSpPr/>
          <p:nvPr/>
        </p:nvSpPr>
        <p:spPr>
          <a:xfrm>
            <a:off x="722376" y="4817680"/>
            <a:ext cx="1200000" cy="1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80" b="0">
                <a:solidFill>
                  <a:srgbClr val="4A5568"/>
                </a:solidFill>
              </a:rPr>
              <a:t>Weekday peak</a:t>
            </a:r>
          </a:p>
        </p:txBody>
      </p:sp>
      <p:sp>
        <p:nvSpPr>
          <p:cNvPr id="176" name="Text 176"/>
          <p:cNvSpPr/>
          <p:nvPr/>
        </p:nvSpPr>
        <p:spPr>
          <a:xfrm>
            <a:off x="1980000" y="4817680"/>
            <a:ext cx="1150000" cy="1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>
                <a:solidFill>
                  <a:srgbClr val="1F3D6B"/>
                </a:solidFill>
              </a:rPr>
              <a:t>18:00–19:00</a:t>
            </a:r>
          </a:p>
        </p:txBody>
      </p:sp>
      <p:sp>
        <p:nvSpPr>
          <p:cNvPr id="177" name="Text 177"/>
          <p:cNvSpPr/>
          <p:nvPr/>
        </p:nvSpPr>
        <p:spPr>
          <a:xfrm>
            <a:off x="3150000" y="4817680"/>
            <a:ext cx="900000" cy="1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0">
                <a:solidFill>
                  <a:srgbClr val="8A94A6"/>
                </a:solidFill>
              </a:rPr>
              <a:t>11.4K trx</a:t>
            </a:r>
          </a:p>
        </p:txBody>
      </p:sp>
      <p:sp>
        <p:nvSpPr>
          <p:cNvPr id="178" name="Text 178"/>
          <p:cNvSpPr/>
          <p:nvPr/>
        </p:nvSpPr>
        <p:spPr>
          <a:xfrm>
            <a:off x="722376" y="5097680"/>
            <a:ext cx="1200000" cy="1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80" b="0">
                <a:solidFill>
                  <a:srgbClr val="4A5568"/>
                </a:solidFill>
              </a:rPr>
              <a:t>Weekend peak</a:t>
            </a:r>
          </a:p>
        </p:txBody>
      </p:sp>
      <p:sp>
        <p:nvSpPr>
          <p:cNvPr id="179" name="Text 179"/>
          <p:cNvSpPr/>
          <p:nvPr/>
        </p:nvSpPr>
        <p:spPr>
          <a:xfrm>
            <a:off x="1980000" y="5097680"/>
            <a:ext cx="1150000" cy="1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>
                <a:solidFill>
                  <a:srgbClr val="1F3D6B"/>
                </a:solidFill>
              </a:rPr>
              <a:t>14:00–15:00</a:t>
            </a:r>
          </a:p>
        </p:txBody>
      </p:sp>
      <p:sp>
        <p:nvSpPr>
          <p:cNvPr id="180" name="Text 180"/>
          <p:cNvSpPr/>
          <p:nvPr/>
        </p:nvSpPr>
        <p:spPr>
          <a:xfrm>
            <a:off x="3150000" y="5097680"/>
            <a:ext cx="900000" cy="1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0">
                <a:solidFill>
                  <a:srgbClr val="8A94A6"/>
                </a:solidFill>
              </a:rPr>
              <a:t>13.8K trx</a:t>
            </a:r>
          </a:p>
        </p:txBody>
      </p:sp>
      <p:sp>
        <p:nvSpPr>
          <p:cNvPr id="181" name="Text 181"/>
          <p:cNvSpPr/>
          <p:nvPr/>
        </p:nvSpPr>
        <p:spPr>
          <a:xfrm>
            <a:off x="722376" y="5377680"/>
            <a:ext cx="1200000" cy="1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80" b="0">
                <a:solidFill>
                  <a:srgbClr val="4A5568"/>
                </a:solidFill>
              </a:rPr>
              <a:t>Lunch peak</a:t>
            </a:r>
          </a:p>
        </p:txBody>
      </p:sp>
      <p:sp>
        <p:nvSpPr>
          <p:cNvPr id="182" name="Text 182"/>
          <p:cNvSpPr/>
          <p:nvPr/>
        </p:nvSpPr>
        <p:spPr>
          <a:xfrm>
            <a:off x="1980000" y="5377680"/>
            <a:ext cx="1150000" cy="1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>
                <a:solidFill>
                  <a:srgbClr val="1F3D6B"/>
                </a:solidFill>
              </a:rPr>
              <a:t>12:00–13:00</a:t>
            </a:r>
          </a:p>
        </p:txBody>
      </p:sp>
      <p:sp>
        <p:nvSpPr>
          <p:cNvPr id="183" name="Text 183"/>
          <p:cNvSpPr/>
          <p:nvPr/>
        </p:nvSpPr>
        <p:spPr>
          <a:xfrm>
            <a:off x="3150000" y="5377680"/>
            <a:ext cx="900000" cy="1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0">
                <a:solidFill>
                  <a:srgbClr val="8A94A6"/>
                </a:solidFill>
              </a:rPr>
              <a:t>9.6K trx</a:t>
            </a:r>
          </a:p>
        </p:txBody>
      </p:sp>
      <p:sp>
        <p:nvSpPr>
          <p:cNvPr id="184" name="Text 184"/>
          <p:cNvSpPr/>
          <p:nvPr/>
        </p:nvSpPr>
        <p:spPr>
          <a:xfrm>
            <a:off x="722376" y="5657680"/>
            <a:ext cx="1200000" cy="1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80" b="0">
                <a:solidFill>
                  <a:srgbClr val="4A5568"/>
                </a:solidFill>
              </a:rPr>
              <a:t>Quietest hour</a:t>
            </a:r>
          </a:p>
        </p:txBody>
      </p:sp>
      <p:sp>
        <p:nvSpPr>
          <p:cNvPr id="185" name="Text 185"/>
          <p:cNvSpPr/>
          <p:nvPr/>
        </p:nvSpPr>
        <p:spPr>
          <a:xfrm>
            <a:off x="1980000" y="5657680"/>
            <a:ext cx="1150000" cy="1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>
                <a:solidFill>
                  <a:srgbClr val="1F3D6B"/>
                </a:solidFill>
              </a:rPr>
              <a:t>20:00–21:00</a:t>
            </a:r>
          </a:p>
        </p:txBody>
      </p:sp>
      <p:sp>
        <p:nvSpPr>
          <p:cNvPr id="186" name="Text 186"/>
          <p:cNvSpPr/>
          <p:nvPr/>
        </p:nvSpPr>
        <p:spPr>
          <a:xfrm>
            <a:off x="3150000" y="5657680"/>
            <a:ext cx="900000" cy="1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0">
                <a:solidFill>
                  <a:srgbClr val="8A94A6"/>
                </a:solidFill>
              </a:rPr>
              <a:t>2.1K trx</a:t>
            </a:r>
          </a:p>
        </p:txBody>
      </p:sp>
      <p:sp>
        <p:nvSpPr>
          <p:cNvPr id="187" name="Shape 187"/>
          <p:cNvSpPr/>
          <p:nvPr/>
        </p:nvSpPr>
        <p:spPr>
          <a:xfrm>
            <a:off x="4400000" y="4297680"/>
            <a:ext cx="3550000" cy="1760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762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8" name="Shape 188"/>
          <p:cNvSpPr/>
          <p:nvPr/>
        </p:nvSpPr>
        <p:spPr>
          <a:xfrm>
            <a:off x="4400000" y="4297680"/>
            <a:ext cx="45720" cy="17600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9" name="Text 189"/>
          <p:cNvSpPr/>
          <p:nvPr/>
        </p:nvSpPr>
        <p:spPr>
          <a:xfrm>
            <a:off x="4528016" y="4387680"/>
            <a:ext cx="3300000" cy="1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1F3D6B"/>
                </a:solidFill>
              </a:rPr>
              <a:t>Timing Shift vs Last Month</a:t>
            </a:r>
          </a:p>
        </p:txBody>
      </p:sp>
      <p:sp>
        <p:nvSpPr>
          <p:cNvPr id="190" name="Text 190"/>
          <p:cNvSpPr/>
          <p:nvPr/>
        </p:nvSpPr>
        <p:spPr>
          <a:xfrm>
            <a:off x="4528016" y="4577680"/>
            <a:ext cx="3300000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0">
                <a:solidFill>
                  <a:srgbClr val="8A94A6"/>
                </a:solidFill>
              </a:rPr>
              <a:t>Change in share of visits by time band</a:t>
            </a:r>
          </a:p>
        </p:txBody>
      </p:sp>
      <p:sp>
        <p:nvSpPr>
          <p:cNvPr id="191" name="Text 191"/>
          <p:cNvSpPr/>
          <p:nvPr/>
        </p:nvSpPr>
        <p:spPr>
          <a:xfrm>
            <a:off x="4528016" y="4817680"/>
            <a:ext cx="1500000" cy="1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80" b="0">
                <a:solidFill>
                  <a:srgbClr val="4A5568"/>
                </a:solidFill>
              </a:rPr>
              <a:t>17–20 Evening</a:t>
            </a:r>
          </a:p>
        </p:txBody>
      </p:sp>
      <p:sp>
        <p:nvSpPr>
          <p:cNvPr id="192" name="Shape 192"/>
          <p:cNvSpPr/>
          <p:nvPr/>
        </p:nvSpPr>
        <p:spPr>
          <a:xfrm>
            <a:off x="6300000" y="4842680"/>
            <a:ext cx="798000" cy="100000"/>
          </a:xfrm>
          <a:prstGeom prst="roundRect">
            <a:avLst>
              <a:gd name="adj" fmla="val 25000"/>
            </a:avLst>
          </a:prstGeom>
          <a:solidFill>
            <a:srgbClr val="2E8B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3" name="Text 193"/>
          <p:cNvSpPr/>
          <p:nvPr/>
        </p:nvSpPr>
        <p:spPr>
          <a:xfrm>
            <a:off x="7150000" y="4817680"/>
            <a:ext cx="720000" cy="1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>
                <a:solidFill>
                  <a:srgbClr val="2E8B57"/>
                </a:solidFill>
              </a:rPr>
              <a:t>+2.1pt</a:t>
            </a:r>
          </a:p>
        </p:txBody>
      </p:sp>
      <p:sp>
        <p:nvSpPr>
          <p:cNvPr id="194" name="Text 194"/>
          <p:cNvSpPr/>
          <p:nvPr/>
        </p:nvSpPr>
        <p:spPr>
          <a:xfrm>
            <a:off x="4528016" y="5097680"/>
            <a:ext cx="1500000" cy="1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80" b="0">
                <a:solidFill>
                  <a:srgbClr val="4A5568"/>
                </a:solidFill>
              </a:rPr>
              <a:t>11–14 Lunch</a:t>
            </a:r>
          </a:p>
        </p:txBody>
      </p:sp>
      <p:sp>
        <p:nvSpPr>
          <p:cNvPr id="195" name="Shape 195"/>
          <p:cNvSpPr/>
          <p:nvPr/>
        </p:nvSpPr>
        <p:spPr>
          <a:xfrm>
            <a:off x="6300000" y="5122680"/>
            <a:ext cx="684000" cy="100000"/>
          </a:xfrm>
          <a:prstGeom prst="roundRect">
            <a:avLst>
              <a:gd name="adj" fmla="val 25000"/>
            </a:avLst>
          </a:prstGeom>
          <a:solidFill>
            <a:srgbClr val="2E8B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6" name="Text 196"/>
          <p:cNvSpPr/>
          <p:nvPr/>
        </p:nvSpPr>
        <p:spPr>
          <a:xfrm>
            <a:off x="7150000" y="5097680"/>
            <a:ext cx="720000" cy="1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>
                <a:solidFill>
                  <a:srgbClr val="2E8B57"/>
                </a:solidFill>
              </a:rPr>
              <a:t>+1.8pt</a:t>
            </a:r>
          </a:p>
        </p:txBody>
      </p:sp>
      <p:sp>
        <p:nvSpPr>
          <p:cNvPr id="197" name="Text 197"/>
          <p:cNvSpPr/>
          <p:nvPr/>
        </p:nvSpPr>
        <p:spPr>
          <a:xfrm>
            <a:off x="4528016" y="5377680"/>
            <a:ext cx="1500000" cy="1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80" b="0">
                <a:solidFill>
                  <a:srgbClr val="4A5568"/>
                </a:solidFill>
              </a:rPr>
              <a:t>14–17 Afternoon</a:t>
            </a:r>
          </a:p>
        </p:txBody>
      </p:sp>
      <p:sp>
        <p:nvSpPr>
          <p:cNvPr id="198" name="Shape 198"/>
          <p:cNvSpPr/>
          <p:nvPr/>
        </p:nvSpPr>
        <p:spPr>
          <a:xfrm>
            <a:off x="6300000" y="5402680"/>
            <a:ext cx="228000" cy="100000"/>
          </a:xfrm>
          <a:prstGeom prst="roundRect">
            <a:avLst>
              <a:gd name="adj" fmla="val 25000"/>
            </a:avLst>
          </a:prstGeom>
          <a:solidFill>
            <a:srgbClr val="C0392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9" name="Text 199"/>
          <p:cNvSpPr/>
          <p:nvPr/>
        </p:nvSpPr>
        <p:spPr>
          <a:xfrm>
            <a:off x="7150000" y="5377680"/>
            <a:ext cx="720000" cy="1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>
                <a:solidFill>
                  <a:srgbClr val="C0392B"/>
                </a:solidFill>
              </a:rPr>
              <a:t>-0.6pt</a:t>
            </a:r>
          </a:p>
        </p:txBody>
      </p:sp>
      <p:sp>
        <p:nvSpPr>
          <p:cNvPr id="200" name="Text 200"/>
          <p:cNvSpPr/>
          <p:nvPr/>
        </p:nvSpPr>
        <p:spPr>
          <a:xfrm>
            <a:off x="4528016" y="5657680"/>
            <a:ext cx="1500000" cy="1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80" b="0">
                <a:solidFill>
                  <a:srgbClr val="4A5568"/>
                </a:solidFill>
              </a:rPr>
              <a:t>20–22 Night</a:t>
            </a:r>
          </a:p>
        </p:txBody>
      </p:sp>
      <p:sp>
        <p:nvSpPr>
          <p:cNvPr id="201" name="Shape 201"/>
          <p:cNvSpPr/>
          <p:nvPr/>
        </p:nvSpPr>
        <p:spPr>
          <a:xfrm>
            <a:off x="6300000" y="5682680"/>
            <a:ext cx="342000" cy="100000"/>
          </a:xfrm>
          <a:prstGeom prst="roundRect">
            <a:avLst>
              <a:gd name="adj" fmla="val 25000"/>
            </a:avLst>
          </a:prstGeom>
          <a:solidFill>
            <a:srgbClr val="C0392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2" name="Text 202"/>
          <p:cNvSpPr/>
          <p:nvPr/>
        </p:nvSpPr>
        <p:spPr>
          <a:xfrm>
            <a:off x="7150000" y="5657680"/>
            <a:ext cx="720000" cy="1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>
                <a:solidFill>
                  <a:srgbClr val="C0392B"/>
                </a:solidFill>
              </a:rPr>
              <a:t>-0.9pt</a:t>
            </a:r>
          </a:p>
        </p:txBody>
      </p:sp>
      <p:sp>
        <p:nvSpPr>
          <p:cNvPr id="203" name="Shape 203"/>
          <p:cNvSpPr/>
          <p:nvPr/>
        </p:nvSpPr>
        <p:spPr>
          <a:xfrm>
            <a:off x="8206000" y="4297680"/>
            <a:ext cx="3406880" cy="17600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762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4" name="Shape 204"/>
          <p:cNvSpPr/>
          <p:nvPr/>
        </p:nvSpPr>
        <p:spPr>
          <a:xfrm>
            <a:off x="8206000" y="4297680"/>
            <a:ext cx="45720" cy="1760000"/>
          </a:xfrm>
          <a:prstGeom prst="rect">
            <a:avLst/>
          </a:prstGeom>
          <a:solidFill>
            <a:srgbClr val="D89A1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5" name="Text 205"/>
          <p:cNvSpPr/>
          <p:nvPr/>
        </p:nvSpPr>
        <p:spPr>
          <a:xfrm>
            <a:off x="8334016" y="4387680"/>
            <a:ext cx="3150000" cy="1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>
                <a:solidFill>
                  <a:srgbClr val="1F3D6B"/>
                </a:solidFill>
              </a:rPr>
              <a:t>Cross-Filter from Here</a:t>
            </a:r>
          </a:p>
        </p:txBody>
      </p:sp>
      <p:sp>
        <p:nvSpPr>
          <p:cNvPr id="206" name="Text 206"/>
          <p:cNvSpPr/>
          <p:nvPr/>
        </p:nvSpPr>
        <p:spPr>
          <a:xfrm>
            <a:off x="8334016" y="4577680"/>
            <a:ext cx="3150000" cy="1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0">
                <a:solidFill>
                  <a:srgbClr val="8A94A6"/>
                </a:solidFill>
              </a:rPr>
              <a:t>Stays on this screen</a:t>
            </a:r>
          </a:p>
        </p:txBody>
      </p:sp>
      <p:sp>
        <p:nvSpPr>
          <p:cNvPr id="207" name="Shape 207"/>
          <p:cNvSpPr/>
          <p:nvPr/>
        </p:nvSpPr>
        <p:spPr>
          <a:xfrm>
            <a:off x="8334016" y="4817680"/>
            <a:ext cx="300000" cy="150000"/>
          </a:xfrm>
          <a:prstGeom prst="roundRect">
            <a:avLst>
              <a:gd name="adj" fmla="val 20000"/>
            </a:avLst>
          </a:prstGeom>
          <a:solidFill>
            <a:srgbClr val="E8EEF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8" name="Text 208"/>
          <p:cNvSpPr/>
          <p:nvPr/>
        </p:nvSpPr>
        <p:spPr>
          <a:xfrm>
            <a:off x="8334016" y="4817680"/>
            <a:ext cx="300000" cy="1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>
                <a:solidFill>
                  <a:srgbClr val="2E5FA3"/>
                </a:solidFill>
              </a:rPr>
              <a:t>L2</a:t>
            </a:r>
          </a:p>
        </p:txBody>
      </p:sp>
      <p:sp>
        <p:nvSpPr>
          <p:cNvPr id="209" name="Text 209"/>
          <p:cNvSpPr/>
          <p:nvPr/>
        </p:nvSpPr>
        <p:spPr>
          <a:xfrm>
            <a:off x="8700000" y="4817680"/>
            <a:ext cx="2650000" cy="1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>
                <a:solidFill>
                  <a:srgbClr val="1F3D6B"/>
                </a:solidFill>
              </a:rPr>
              <a:t>Time slot focus</a:t>
            </a:r>
          </a:p>
        </p:txBody>
      </p:sp>
      <p:sp>
        <p:nvSpPr>
          <p:cNvPr id="210" name="Text 210"/>
          <p:cNvSpPr/>
          <p:nvPr/>
        </p:nvSpPr>
        <p:spPr>
          <a:xfrm>
            <a:off x="8700000" y="4987680"/>
            <a:ext cx="2650000" cy="1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40" b="0">
                <a:solidFill>
                  <a:srgbClr val="8A94A6"/>
                </a:solidFill>
              </a:rPr>
              <a:t>Re-filters every panel on this screen</a:t>
            </a:r>
          </a:p>
        </p:txBody>
      </p:sp>
      <p:sp>
        <p:nvSpPr>
          <p:cNvPr id="211" name="Shape 211"/>
          <p:cNvSpPr/>
          <p:nvPr/>
        </p:nvSpPr>
        <p:spPr>
          <a:xfrm>
            <a:off x="8334016" y="5217680"/>
            <a:ext cx="300000" cy="150000"/>
          </a:xfrm>
          <a:prstGeom prst="roundRect">
            <a:avLst>
              <a:gd name="adj" fmla="val 20000"/>
            </a:avLst>
          </a:prstGeom>
          <a:solidFill>
            <a:srgbClr val="E8EEF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2" name="Text 212"/>
          <p:cNvSpPr/>
          <p:nvPr/>
        </p:nvSpPr>
        <p:spPr>
          <a:xfrm>
            <a:off x="8334016" y="5217680"/>
            <a:ext cx="300000" cy="1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>
                <a:solidFill>
                  <a:srgbClr val="2E5FA3"/>
                </a:solidFill>
              </a:rPr>
              <a:t>L2</a:t>
            </a:r>
          </a:p>
        </p:txBody>
      </p:sp>
      <p:sp>
        <p:nvSpPr>
          <p:cNvPr id="213" name="Text 213"/>
          <p:cNvSpPr/>
          <p:nvPr/>
        </p:nvSpPr>
        <p:spPr>
          <a:xfrm>
            <a:off x="8700000" y="5217680"/>
            <a:ext cx="2650000" cy="1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>
                <a:solidFill>
                  <a:srgbClr val="1F3D6B"/>
                </a:solidFill>
              </a:rPr>
              <a:t>Staffing comparison</a:t>
            </a:r>
          </a:p>
        </p:txBody>
      </p:sp>
      <p:sp>
        <p:nvSpPr>
          <p:cNvPr id="214" name="Text 214"/>
          <p:cNvSpPr/>
          <p:nvPr/>
        </p:nvSpPr>
        <p:spPr>
          <a:xfrm>
            <a:off x="8700000" y="5387680"/>
            <a:ext cx="2650000" cy="1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40" b="0">
                <a:solidFill>
                  <a:srgbClr val="8A94A6"/>
                </a:solidFill>
              </a:rPr>
              <a:t>Overlays traffic against staffed hours</a:t>
            </a:r>
          </a:p>
        </p:txBody>
      </p:sp>
      <p:sp>
        <p:nvSpPr>
          <p:cNvPr id="215" name="Shape 215"/>
          <p:cNvSpPr/>
          <p:nvPr/>
        </p:nvSpPr>
        <p:spPr>
          <a:xfrm>
            <a:off x="8334016" y="5627680"/>
            <a:ext cx="300000" cy="150000"/>
          </a:xfrm>
          <a:prstGeom prst="roundRect">
            <a:avLst>
              <a:gd name="adj" fmla="val 20000"/>
            </a:avLst>
          </a:prstGeom>
          <a:solidFill>
            <a:srgbClr val="FDE8E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6" name="Text 216"/>
          <p:cNvSpPr/>
          <p:nvPr/>
        </p:nvSpPr>
        <p:spPr>
          <a:xfrm>
            <a:off x="8334016" y="5627680"/>
            <a:ext cx="300000" cy="1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" b="1">
                <a:solidFill>
                  <a:srgbClr val="C0392B"/>
                </a:solidFill>
              </a:rPr>
              <a:t>ALERT</a:t>
            </a:r>
          </a:p>
        </p:txBody>
      </p:sp>
      <p:sp>
        <p:nvSpPr>
          <p:cNvPr id="217" name="Text 217"/>
          <p:cNvSpPr/>
          <p:nvPr/>
        </p:nvSpPr>
        <p:spPr>
          <a:xfrm>
            <a:off x="8700000" y="5627680"/>
            <a:ext cx="2650000" cy="1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>
                <a:solidFill>
                  <a:srgbClr val="1F3D6B"/>
                </a:solidFill>
              </a:rPr>
              <a:t>Evening staffing gap on Fri</a:t>
            </a:r>
          </a:p>
        </p:txBody>
      </p:sp>
      <p:sp>
        <p:nvSpPr>
          <p:cNvPr id="218" name="Text 218"/>
          <p:cNvSpPr/>
          <p:nvPr/>
        </p:nvSpPr>
        <p:spPr>
          <a:xfrm>
            <a:off x="8700000" y="5797680"/>
            <a:ext cx="2650000" cy="1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40" b="0">
                <a:solidFill>
                  <a:srgbClr val="8A94A6"/>
                </a:solidFill>
              </a:rPr>
              <a:t>Traffic up 9.4% while staffed hours flat</a:t>
            </a:r>
          </a:p>
        </p:txBody>
      </p:sp>
      <p:sp>
        <p:nvSpPr>
          <p:cNvPr id="219" name="Text 219"/>
          <p:cNvSpPr/>
          <p:nvPr/>
        </p:nvSpPr>
        <p:spPr>
          <a:xfrm>
            <a:off x="722376" y="6062472"/>
            <a:ext cx="3383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b="0">
                <a:solidFill>
                  <a:srgbClr val="8A94A6"/>
                </a:solidFill>
              </a:rPr>
              <a:t>Click a bar → filter to that daypart  ·  applies in place</a:t>
            </a:r>
          </a:p>
        </p:txBody>
      </p:sp>
      <p:sp>
        <p:nvSpPr>
          <p:cNvPr id="220" name="Text 220"/>
          <p:cNvSpPr/>
          <p:nvPr/>
        </p:nvSpPr>
        <p:spPr>
          <a:xfrm>
            <a:off x="4528016" y="6062472"/>
            <a:ext cx="3383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b="0">
                <a:solidFill>
                  <a:srgbClr val="8A94A6"/>
                </a:solidFill>
              </a:rPr>
              <a:t>Click a row → filter to that time slot  ·  applies in place</a:t>
            </a:r>
          </a:p>
        </p:txBody>
      </p:sp>
      <p:sp>
        <p:nvSpPr>
          <p:cNvPr id="221" name="Text 221"/>
          <p:cNvSpPr/>
          <p:nvPr/>
        </p:nvSpPr>
        <p:spPr>
          <a:xfrm>
            <a:off x="8334016" y="6062472"/>
            <a:ext cx="32788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b="0">
                <a:solidFill>
                  <a:srgbClr val="8A94A6"/>
                </a:solidFill>
              </a:rPr>
              <a:t>Selections carry across L1 and L2 — no deeper screen</a:t>
            </a:r>
          </a:p>
        </p:txBody>
      </p:sp>
      <p:sp>
        <p:nvSpPr>
          <p:cNvPr id="89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0000" y="640000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1551">
                <a:solidFill>
                  <a:srgbClr val="8B95A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02A999-1CA8-E967-B295-177B89E92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F17CBF1-EA82-CBC7-D5F7-9A1C1B15DEEC}"/>
              </a:ext>
            </a:extLst>
          </p:cNvPr>
          <p:cNvSpPr/>
          <p:nvPr/>
        </p:nvSpPr>
        <p:spPr>
          <a:xfrm>
            <a:off x="274320" y="10972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42" b="1">
                <a:solidFill>
                  <a:srgbClr val="1F3D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L2 · Decile Analysis</a:t>
            </a:r>
            <a:endParaRPr lang="en-US" sz="2542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8B03011-13BF-6A8D-6FFF-44AAC1302EDE}"/>
              </a:ext>
            </a:extLst>
          </p:cNvPr>
          <p:cNvSpPr/>
          <p:nvPr/>
        </p:nvSpPr>
        <p:spPr>
          <a:xfrm>
            <a:off x="274320" y="502920"/>
            <a:ext cx="11521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6">
                <a:solidFill>
                  <a:srgbClr val="4A5568"/>
                </a:solidFill>
              </a:rPr>
              <a:t>Members are ranked by net sales and split into ten equal groups, so it is clear how much of sales the top deciles carry and how members move between them.</a:t>
            </a:r>
            <a:endParaRPr lang="en-US" sz="1076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D929DC09-03B2-A3FE-E2F8-65CB279FC308}"/>
              </a:ext>
            </a:extLst>
          </p:cNvPr>
          <p:cNvSpPr/>
          <p:nvPr/>
        </p:nvSpPr>
        <p:spPr>
          <a:xfrm>
            <a:off x="320040" y="1056456"/>
            <a:ext cx="11567160" cy="5349240"/>
          </a:xfrm>
          <a:prstGeom prst="roundRect">
            <a:avLst>
              <a:gd name="adj" fmla="val 1026"/>
            </a:avLst>
          </a:prstGeom>
          <a:solidFill>
            <a:srgbClr val="FFFFFF"/>
          </a:solidFill>
          <a:ln w="762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4D1211C8-C903-2A9E-9E78-04554ECF0635}"/>
              </a:ext>
            </a:extLst>
          </p:cNvPr>
          <p:cNvSpPr/>
          <p:nvPr/>
        </p:nvSpPr>
        <p:spPr>
          <a:xfrm>
            <a:off x="320040" y="1056456"/>
            <a:ext cx="11567160" cy="411480"/>
          </a:xfrm>
          <a:prstGeom prst="rect">
            <a:avLst/>
          </a:prstGeom>
          <a:solidFill>
            <a:srgbClr val="1F3D6B"/>
          </a:solidFill>
          <a:ln w="12700">
            <a:solidFill>
              <a:srgbClr val="1F3D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3060C8D8-56FF-B33A-666C-E9A00C31C7D9}"/>
              </a:ext>
            </a:extLst>
          </p:cNvPr>
          <p:cNvSpPr/>
          <p:nvPr/>
        </p:nvSpPr>
        <p:spPr>
          <a:xfrm>
            <a:off x="502920" y="117532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1" b="1">
                <a:solidFill>
                  <a:srgbClr val="FFFFFF"/>
                </a:solidFill>
              </a:rPr>
              <a:t>Merchant Insight Dashboard · L2 Decile</a:t>
            </a:r>
            <a:endParaRPr lang="en-US" sz="1121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E3C376F0-E40E-C2AD-F0C9-DF4176C37516}"/>
              </a:ext>
            </a:extLst>
          </p:cNvPr>
          <p:cNvSpPr/>
          <p:nvPr/>
        </p:nvSpPr>
        <p:spPr>
          <a:xfrm>
            <a:off x="3900000" y="1147896"/>
            <a:ext cx="1205000" cy="2286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1F6D1F5B-AC1F-B61F-D06A-121C26029F43}"/>
              </a:ext>
            </a:extLst>
          </p:cNvPr>
          <p:cNvSpPr/>
          <p:nvPr/>
        </p:nvSpPr>
        <p:spPr>
          <a:xfrm>
            <a:off x="3936576" y="1198188"/>
            <a:ext cx="11318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7" b="1">
                <a:solidFill>
                  <a:srgbClr val="1F3D6B"/>
                </a:solidFill>
              </a:rPr>
              <a:t>Operation Unit</a:t>
            </a:r>
            <a:endParaRPr lang="en-US" sz="837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958B54BB-DB0B-FD7C-8460-9AC9B765759D}"/>
              </a:ext>
            </a:extLst>
          </p:cNvPr>
          <p:cNvSpPr/>
          <p:nvPr/>
        </p:nvSpPr>
        <p:spPr>
          <a:xfrm>
            <a:off x="5176000" y="1147896"/>
            <a:ext cx="1205000" cy="2286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E4FC8A6C-4930-41B8-99A0-34F17AE7AC29}"/>
              </a:ext>
            </a:extLst>
          </p:cNvPr>
          <p:cNvSpPr/>
          <p:nvPr/>
        </p:nvSpPr>
        <p:spPr>
          <a:xfrm>
            <a:off x="5212576" y="1198188"/>
            <a:ext cx="11318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7" b="1">
                <a:solidFill>
                  <a:srgbClr val="1F3D6B"/>
                </a:solidFill>
              </a:rPr>
              <a:t>Store</a:t>
            </a:r>
            <a:endParaRPr lang="en-US" sz="837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AF6DBF2D-A3C3-49AB-6EAE-48B9760E9982}"/>
              </a:ext>
            </a:extLst>
          </p:cNvPr>
          <p:cNvSpPr/>
          <p:nvPr/>
        </p:nvSpPr>
        <p:spPr>
          <a:xfrm>
            <a:off x="6452000" y="1147896"/>
            <a:ext cx="1205000" cy="2286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439471ED-638B-892A-9C35-F21CACFB997C}"/>
              </a:ext>
            </a:extLst>
          </p:cNvPr>
          <p:cNvSpPr/>
          <p:nvPr/>
        </p:nvSpPr>
        <p:spPr>
          <a:xfrm>
            <a:off x="6488576" y="1198188"/>
            <a:ext cx="11318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7" b="1">
                <a:solidFill>
                  <a:srgbClr val="1F3D6B"/>
                </a:solidFill>
              </a:rPr>
              <a:t>Business Category</a:t>
            </a:r>
            <a:endParaRPr lang="en-US" sz="837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74E9552D-5C31-0560-F510-EB368A138FEF}"/>
              </a:ext>
            </a:extLst>
          </p:cNvPr>
          <p:cNvSpPr/>
          <p:nvPr/>
        </p:nvSpPr>
        <p:spPr>
          <a:xfrm>
            <a:off x="7728000" y="1147896"/>
            <a:ext cx="1205000" cy="2286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DAFFF9D9-9475-B1DB-542E-1FCC4C8A603D}"/>
              </a:ext>
            </a:extLst>
          </p:cNvPr>
          <p:cNvSpPr/>
          <p:nvPr/>
        </p:nvSpPr>
        <p:spPr>
          <a:xfrm>
            <a:off x="7764576" y="1198188"/>
            <a:ext cx="11318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7" b="1">
                <a:solidFill>
                  <a:srgbClr val="1F3D6B"/>
                </a:solidFill>
              </a:rPr>
              <a:t>Tenant</a:t>
            </a:r>
            <a:endParaRPr lang="en-US" sz="837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A4F355E9-3F5D-F03C-ED3B-93DE52A06B16}"/>
              </a:ext>
            </a:extLst>
          </p:cNvPr>
          <p:cNvSpPr/>
          <p:nvPr/>
        </p:nvSpPr>
        <p:spPr>
          <a:xfrm>
            <a:off x="9004000" y="1147896"/>
            <a:ext cx="1205000" cy="2286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591E24DE-4A2D-80DB-C731-FFB670A6F756}"/>
              </a:ext>
            </a:extLst>
          </p:cNvPr>
          <p:cNvSpPr/>
          <p:nvPr/>
        </p:nvSpPr>
        <p:spPr>
          <a:xfrm>
            <a:off x="9040576" y="1198188"/>
            <a:ext cx="11318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7" b="1">
                <a:solidFill>
                  <a:srgbClr val="1F3D6B"/>
                </a:solidFill>
              </a:rPr>
              <a:t>Date Range</a:t>
            </a:r>
            <a:endParaRPr lang="en-US" sz="837"/>
          </a:p>
        </p:txBody>
      </p:sp>
      <p:sp>
        <p:nvSpPr>
          <p:cNvPr id="900" name="Shape 900"/>
          <p:cNvSpPr/>
          <p:nvPr/>
        </p:nvSpPr>
        <p:spPr>
          <a:xfrm>
            <a:off x="10280000" y="1147896"/>
            <a:ext cx="1205000" cy="2286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1" name="Text 901"/>
          <p:cNvSpPr/>
          <p:nvPr/>
        </p:nvSpPr>
        <p:spPr>
          <a:xfrm>
            <a:off x="10316576" y="1198188"/>
            <a:ext cx="11318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7" b="1">
                <a:solidFill>
                  <a:srgbClr val="1F3D6B"/>
                </a:solidFill>
              </a:rPr>
              <a:t>Compare With</a:t>
            </a:r>
            <a:endParaRPr lang="en-US" sz="837"/>
          </a:p>
        </p:txBody>
      </p:sp>
      <p:sp>
        <p:nvSpPr>
          <p:cNvPr id="1001" name="Text 1001"/>
          <p:cNvSpPr/>
          <p:nvPr/>
        </p:nvSpPr>
        <p:spPr>
          <a:xfrm>
            <a:off x="594360" y="1609344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>
                <a:solidFill>
                  <a:srgbClr val="2E5FA3"/>
                </a:solidFill>
              </a:rPr>
              <a:t>L1 Overview  ›  Decile Analysis</a:t>
            </a:r>
            <a:endParaRPr lang="en-US" sz="800"/>
          </a:p>
        </p:txBody>
      </p:sp>
      <p:sp>
        <p:nvSpPr>
          <p:cNvPr id="1002" name="Text 1002"/>
          <p:cNvSpPr/>
          <p:nvPr/>
        </p:nvSpPr>
        <p:spPr>
          <a:xfrm>
            <a:off x="5532120" y="162763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50" b="1">
                <a:solidFill>
                  <a:srgbClr val="8A94A6"/>
                </a:solidFill>
              </a:rPr>
              <a:t>METRIC MODE</a:t>
            </a:r>
            <a:endParaRPr lang="en-US" sz="650"/>
          </a:p>
        </p:txBody>
      </p:sp>
      <p:sp>
        <p:nvSpPr>
          <p:cNvPr id="1003" name="Shape 1003"/>
          <p:cNvSpPr/>
          <p:nvPr/>
        </p:nvSpPr>
        <p:spPr>
          <a:xfrm>
            <a:off x="7086600" y="1600200"/>
            <a:ext cx="868680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CF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4" name="Text 1004"/>
          <p:cNvSpPr/>
          <p:nvPr/>
        </p:nvSpPr>
        <p:spPr>
          <a:xfrm>
            <a:off x="7086600" y="1636776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>
                <a:solidFill>
                  <a:srgbClr val="4A5568"/>
                </a:solidFill>
              </a:rPr>
              <a:t>Count</a:t>
            </a:r>
            <a:endParaRPr lang="en-US" sz="700"/>
          </a:p>
        </p:txBody>
      </p:sp>
      <p:sp>
        <p:nvSpPr>
          <p:cNvPr id="1005" name="Shape 1005"/>
          <p:cNvSpPr/>
          <p:nvPr/>
        </p:nvSpPr>
        <p:spPr>
          <a:xfrm>
            <a:off x="8028432" y="1600200"/>
            <a:ext cx="868680" cy="219456"/>
          </a:xfrm>
          <a:prstGeom prst="roundRect">
            <a:avLst>
              <a:gd name="adj" fmla="val 25000"/>
            </a:avLst>
          </a:prstGeom>
          <a:solidFill>
            <a:srgbClr val="2E5FA3"/>
          </a:solidFill>
          <a:ln w="635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6" name="Text 1006"/>
          <p:cNvSpPr/>
          <p:nvPr/>
        </p:nvSpPr>
        <p:spPr>
          <a:xfrm>
            <a:off x="8028432" y="1636776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>
                <a:solidFill>
                  <a:srgbClr val="FFFFFF"/>
                </a:solidFill>
              </a:rPr>
              <a:t>Share %</a:t>
            </a:r>
            <a:endParaRPr lang="en-US" sz="700"/>
          </a:p>
        </p:txBody>
      </p:sp>
      <p:sp>
        <p:nvSpPr>
          <p:cNvPr id="1007" name="Shape 1007"/>
          <p:cNvSpPr/>
          <p:nvPr/>
        </p:nvSpPr>
        <p:spPr>
          <a:xfrm>
            <a:off x="8970264" y="1600200"/>
            <a:ext cx="960120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CF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8" name="Text 1008"/>
          <p:cNvSpPr/>
          <p:nvPr/>
        </p:nvSpPr>
        <p:spPr>
          <a:xfrm>
            <a:off x="8970264" y="1636776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>
                <a:solidFill>
                  <a:srgbClr val="4A5568"/>
                </a:solidFill>
              </a:rPr>
              <a:t>Growth %</a:t>
            </a:r>
            <a:endParaRPr lang="en-US" sz="700"/>
          </a:p>
        </p:txBody>
      </p:sp>
      <p:sp>
        <p:nvSpPr>
          <p:cNvPr id="1009" name="Shape 1009"/>
          <p:cNvSpPr/>
          <p:nvPr/>
        </p:nvSpPr>
        <p:spPr>
          <a:xfrm>
            <a:off x="10003536" y="1600200"/>
            <a:ext cx="777240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CF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0" name="Text 1010"/>
          <p:cNvSpPr/>
          <p:nvPr/>
        </p:nvSpPr>
        <p:spPr>
          <a:xfrm>
            <a:off x="10003536" y="1636776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>
                <a:solidFill>
                  <a:srgbClr val="4A5568"/>
                </a:solidFill>
              </a:rPr>
              <a:t>Index</a:t>
            </a:r>
            <a:endParaRPr lang="en-US" sz="700"/>
          </a:p>
        </p:txBody>
      </p:sp>
      <p:sp>
        <p:nvSpPr>
          <p:cNvPr id="1011" name="Shape 1011"/>
          <p:cNvSpPr/>
          <p:nvPr/>
        </p:nvSpPr>
        <p:spPr>
          <a:xfrm>
            <a:off x="10853928" y="1600200"/>
            <a:ext cx="987552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CF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2" name="Text 1012"/>
          <p:cNvSpPr/>
          <p:nvPr/>
        </p:nvSpPr>
        <p:spPr>
          <a:xfrm>
            <a:off x="10853928" y="1636776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>
                <a:solidFill>
                  <a:srgbClr val="4A5568"/>
                </a:solidFill>
              </a:rPr>
              <a:t>Export</a:t>
            </a:r>
            <a:endParaRPr lang="en-US" sz="700"/>
          </a:p>
        </p:txBody>
      </p:sp>
      <p:sp>
        <p:nvSpPr>
          <p:cNvPr id="1013" name="Shape 1013"/>
          <p:cNvSpPr/>
          <p:nvPr/>
        </p:nvSpPr>
        <p:spPr>
          <a:xfrm>
            <a:off x="3063240" y="1627632"/>
            <a:ext cx="1325880" cy="182880"/>
          </a:xfrm>
          <a:prstGeom prst="roundRect">
            <a:avLst>
              <a:gd name="adj" fmla="val 25000"/>
            </a:avLst>
          </a:prstGeom>
          <a:solidFill>
            <a:srgbClr val="FCE7F3"/>
          </a:solidFill>
          <a:ln w="12700">
            <a:solidFill>
              <a:srgbClr val="FCE7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4" name="Text 1014"/>
          <p:cNvSpPr/>
          <p:nvPr/>
        </p:nvSpPr>
        <p:spPr>
          <a:xfrm>
            <a:off x="3063240" y="1645920"/>
            <a:ext cx="1325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1">
                <a:solidFill>
                  <a:srgbClr val="D02C8C"/>
                </a:solidFill>
              </a:rPr>
              <a:t>Sales decile view</a:t>
            </a:r>
            <a:endParaRPr lang="en-US" sz="650"/>
          </a:p>
        </p:txBody>
      </p:sp>
      <p:sp>
        <p:nvSpPr>
          <p:cNvPr id="1015" name="Shape 1015"/>
          <p:cNvSpPr/>
          <p:nvPr/>
        </p:nvSpPr>
        <p:spPr>
          <a:xfrm>
            <a:off x="594360" y="1938528"/>
            <a:ext cx="7818120" cy="2212848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7620">
            <a:solidFill>
              <a:srgbClr val="D8E1EA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16" name="Shape 1016"/>
          <p:cNvSpPr/>
          <p:nvPr/>
        </p:nvSpPr>
        <p:spPr>
          <a:xfrm>
            <a:off x="594360" y="1938528"/>
            <a:ext cx="45720" cy="2212848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7" name="Text 1017"/>
          <p:cNvSpPr/>
          <p:nvPr/>
        </p:nvSpPr>
        <p:spPr>
          <a:xfrm>
            <a:off x="722376" y="2020824"/>
            <a:ext cx="7562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>
                <a:solidFill>
                  <a:srgbClr val="1F3D6B"/>
                </a:solidFill>
              </a:rPr>
              <a:t>Cumulative Sales Share by Decile</a:t>
            </a:r>
            <a:endParaRPr lang="en-US" sz="1000"/>
          </a:p>
        </p:txBody>
      </p:sp>
      <p:sp>
        <p:nvSpPr>
          <p:cNvPr id="1018" name="Text 1018"/>
          <p:cNvSpPr/>
          <p:nvPr/>
        </p:nvSpPr>
        <p:spPr>
          <a:xfrm>
            <a:off x="722376" y="2221992"/>
            <a:ext cx="75620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0">
                <a:solidFill>
                  <a:srgbClr val="8A94A6"/>
                </a:solidFill>
              </a:rPr>
              <a:t>Share of net sales by decile D1–D10 · cumulative curve</a:t>
            </a:r>
            <a:endParaRPr lang="en-US" sz="700"/>
          </a:p>
        </p:txBody>
      </p:sp>
      <p:sp>
        <p:nvSpPr>
          <p:cNvPr id="1019" name="Shape 1019"/>
          <p:cNvSpPr/>
          <p:nvPr/>
        </p:nvSpPr>
        <p:spPr>
          <a:xfrm>
            <a:off x="5760720" y="2039112"/>
            <a:ext cx="566928" cy="192024"/>
          </a:xfrm>
          <a:prstGeom prst="roundRect">
            <a:avLst>
              <a:gd name="adj" fmla="val 25000"/>
            </a:avLst>
          </a:prstGeom>
          <a:solidFill>
            <a:srgbClr val="2E5FA3"/>
          </a:solidFill>
          <a:ln w="635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0" name="Text 1020"/>
          <p:cNvSpPr/>
          <p:nvPr/>
        </p:nvSpPr>
        <p:spPr>
          <a:xfrm>
            <a:off x="5760720" y="2066544"/>
            <a:ext cx="5669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1">
                <a:solidFill>
                  <a:srgbClr val="FFFFFF"/>
                </a:solidFill>
              </a:rPr>
              <a:t>Sales</a:t>
            </a:r>
            <a:endParaRPr lang="en-US" sz="650"/>
          </a:p>
        </p:txBody>
      </p:sp>
      <p:sp>
        <p:nvSpPr>
          <p:cNvPr id="1021" name="Shape 1021"/>
          <p:cNvSpPr/>
          <p:nvPr/>
        </p:nvSpPr>
        <p:spPr>
          <a:xfrm>
            <a:off x="6373368" y="2039112"/>
            <a:ext cx="640080" cy="19202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CF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2" name="Text 1022"/>
          <p:cNvSpPr/>
          <p:nvPr/>
        </p:nvSpPr>
        <p:spPr>
          <a:xfrm>
            <a:off x="6373368" y="2066544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1">
                <a:solidFill>
                  <a:srgbClr val="4A5568"/>
                </a:solidFill>
              </a:rPr>
              <a:t>Transactions</a:t>
            </a:r>
            <a:endParaRPr lang="en-US" sz="650"/>
          </a:p>
        </p:txBody>
      </p:sp>
      <p:sp>
        <p:nvSpPr>
          <p:cNvPr id="1023" name="Shape 1023"/>
          <p:cNvSpPr/>
          <p:nvPr/>
        </p:nvSpPr>
        <p:spPr>
          <a:xfrm>
            <a:off x="7059168" y="2039112"/>
            <a:ext cx="1005840" cy="19202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CF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4" name="Text 1024"/>
          <p:cNvSpPr/>
          <p:nvPr/>
        </p:nvSpPr>
        <p:spPr>
          <a:xfrm>
            <a:off x="7059168" y="2066544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1">
                <a:solidFill>
                  <a:srgbClr val="4A5568"/>
                </a:solidFill>
              </a:rPr>
              <a:t>Frequency</a:t>
            </a:r>
            <a:endParaRPr lang="en-US" sz="650"/>
          </a:p>
        </p:txBody>
      </p:sp>
      <p:sp>
        <p:nvSpPr>
          <p:cNvPr id="1025" name="Shape 1025"/>
          <p:cNvSpPr/>
          <p:nvPr/>
        </p:nvSpPr>
        <p:spPr>
          <a:xfrm>
            <a:off x="1207008" y="2395728"/>
            <a:ext cx="6967728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6" name="Shape 1026"/>
          <p:cNvSpPr/>
          <p:nvPr/>
        </p:nvSpPr>
        <p:spPr>
          <a:xfrm>
            <a:off x="1207008" y="2715768"/>
            <a:ext cx="6967728" cy="0"/>
          </a:xfrm>
          <a:prstGeom prst="line">
            <a:avLst/>
          </a:prstGeom>
          <a:noFill/>
          <a:ln w="4445">
            <a:solidFill>
              <a:srgbClr val="EDF1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7" name="Text 1027"/>
          <p:cNvSpPr/>
          <p:nvPr/>
        </p:nvSpPr>
        <p:spPr>
          <a:xfrm>
            <a:off x="640080" y="2651760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00" b="0">
                <a:solidFill>
                  <a:srgbClr val="8A94A6"/>
                </a:solidFill>
              </a:rPr>
              <a:t>75%</a:t>
            </a:r>
            <a:endParaRPr lang="en-US" sz="600"/>
          </a:p>
        </p:txBody>
      </p:sp>
      <p:sp>
        <p:nvSpPr>
          <p:cNvPr id="1028" name="Shape 1028"/>
          <p:cNvSpPr/>
          <p:nvPr/>
        </p:nvSpPr>
        <p:spPr>
          <a:xfrm>
            <a:off x="1207008" y="3035808"/>
            <a:ext cx="6967728" cy="0"/>
          </a:xfrm>
          <a:prstGeom prst="line">
            <a:avLst/>
          </a:prstGeom>
          <a:noFill/>
          <a:ln w="4445">
            <a:solidFill>
              <a:srgbClr val="EDF1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9" name="Text 1029"/>
          <p:cNvSpPr/>
          <p:nvPr/>
        </p:nvSpPr>
        <p:spPr>
          <a:xfrm>
            <a:off x="640080" y="2971800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00" b="0">
                <a:solidFill>
                  <a:srgbClr val="8A94A6"/>
                </a:solidFill>
              </a:rPr>
              <a:t>50%</a:t>
            </a:r>
            <a:endParaRPr lang="en-US" sz="600"/>
          </a:p>
        </p:txBody>
      </p:sp>
      <p:sp>
        <p:nvSpPr>
          <p:cNvPr id="1030" name="Shape 1030"/>
          <p:cNvSpPr/>
          <p:nvPr/>
        </p:nvSpPr>
        <p:spPr>
          <a:xfrm>
            <a:off x="1207008" y="3355848"/>
            <a:ext cx="6967728" cy="0"/>
          </a:xfrm>
          <a:prstGeom prst="line">
            <a:avLst/>
          </a:prstGeom>
          <a:noFill/>
          <a:ln w="4445">
            <a:solidFill>
              <a:srgbClr val="EDF1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1" name="Text 1031"/>
          <p:cNvSpPr/>
          <p:nvPr/>
        </p:nvSpPr>
        <p:spPr>
          <a:xfrm>
            <a:off x="640080" y="3291840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00" b="0">
                <a:solidFill>
                  <a:srgbClr val="8A94A6"/>
                </a:solidFill>
              </a:rPr>
              <a:t>25%</a:t>
            </a:r>
            <a:endParaRPr lang="en-US" sz="600"/>
          </a:p>
        </p:txBody>
      </p:sp>
      <p:sp>
        <p:nvSpPr>
          <p:cNvPr id="1032" name="Shape 1032"/>
          <p:cNvSpPr/>
          <p:nvPr/>
        </p:nvSpPr>
        <p:spPr>
          <a:xfrm>
            <a:off x="1317330" y="3394253"/>
            <a:ext cx="359999" cy="281635"/>
          </a:xfrm>
          <a:prstGeom prst="rect">
            <a:avLst/>
          </a:prstGeom>
          <a:solidFill>
            <a:srgbClr val="1F3D6B"/>
          </a:solidFill>
          <a:ln w="6350">
            <a:solidFill>
              <a:srgbClr val="1F3D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3" name="Shape 1033"/>
          <p:cNvSpPr/>
          <p:nvPr/>
        </p:nvSpPr>
        <p:spPr>
          <a:xfrm>
            <a:off x="1317330" y="3061411"/>
            <a:ext cx="359999" cy="332842"/>
          </a:xfrm>
          <a:prstGeom prst="rect">
            <a:avLst/>
          </a:prstGeom>
          <a:solidFill>
            <a:srgbClr val="2E5FA3"/>
          </a:solidFill>
          <a:ln w="635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4" name="Shape 1034"/>
          <p:cNvSpPr/>
          <p:nvPr/>
        </p:nvSpPr>
        <p:spPr>
          <a:xfrm>
            <a:off x="1317330" y="2779776"/>
            <a:ext cx="359999" cy="281635"/>
          </a:xfrm>
          <a:prstGeom prst="rect">
            <a:avLst/>
          </a:prstGeom>
          <a:solidFill>
            <a:srgbClr val="4F84C4"/>
          </a:solidFill>
          <a:ln w="6350">
            <a:solidFill>
              <a:srgbClr val="4F84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5" name="Shape 1035"/>
          <p:cNvSpPr/>
          <p:nvPr/>
        </p:nvSpPr>
        <p:spPr>
          <a:xfrm>
            <a:off x="1317330" y="2549347"/>
            <a:ext cx="359999" cy="230429"/>
          </a:xfrm>
          <a:prstGeom prst="rect">
            <a:avLst/>
          </a:prstGeom>
          <a:solidFill>
            <a:srgbClr val="8FB3DE"/>
          </a:solidFill>
          <a:ln w="6350">
            <a:solidFill>
              <a:srgbClr val="8FB3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6" name="Shape 1036"/>
          <p:cNvSpPr/>
          <p:nvPr/>
        </p:nvSpPr>
        <p:spPr>
          <a:xfrm>
            <a:off x="1317330" y="2395728"/>
            <a:ext cx="359999" cy="153619"/>
          </a:xfrm>
          <a:prstGeom prst="rect">
            <a:avLst/>
          </a:prstGeom>
          <a:solidFill>
            <a:srgbClr val="C9D9EF"/>
          </a:solidFill>
          <a:ln w="6350">
            <a:solidFill>
              <a:srgbClr val="C9D9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7" name="Text 1037"/>
          <p:cNvSpPr/>
          <p:nvPr/>
        </p:nvSpPr>
        <p:spPr>
          <a:xfrm>
            <a:off x="1207008" y="3712464"/>
            <a:ext cx="5806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00" b="0">
                <a:solidFill>
                  <a:srgbClr val="8A94A6"/>
                </a:solidFill>
              </a:rPr>
              <a:t>D1</a:t>
            </a:r>
            <a:endParaRPr lang="en-US" sz="600"/>
          </a:p>
        </p:txBody>
      </p:sp>
      <p:sp>
        <p:nvSpPr>
          <p:cNvPr id="1038" name="Shape 1038"/>
          <p:cNvSpPr/>
          <p:nvPr/>
        </p:nvSpPr>
        <p:spPr>
          <a:xfrm>
            <a:off x="1897974" y="3387270"/>
            <a:ext cx="359999" cy="288618"/>
          </a:xfrm>
          <a:prstGeom prst="rect">
            <a:avLst/>
          </a:prstGeom>
          <a:solidFill>
            <a:srgbClr val="1F3D6B"/>
          </a:solidFill>
          <a:ln w="6350">
            <a:solidFill>
              <a:srgbClr val="1F3D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9" name="Shape 1039"/>
          <p:cNvSpPr/>
          <p:nvPr/>
        </p:nvSpPr>
        <p:spPr>
          <a:xfrm>
            <a:off x="1897974" y="3053265"/>
            <a:ext cx="359999" cy="334005"/>
          </a:xfrm>
          <a:prstGeom prst="rect">
            <a:avLst/>
          </a:prstGeom>
          <a:solidFill>
            <a:srgbClr val="2E5FA3"/>
          </a:solidFill>
          <a:ln w="635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0" name="Shape 1040"/>
          <p:cNvSpPr/>
          <p:nvPr/>
        </p:nvSpPr>
        <p:spPr>
          <a:xfrm>
            <a:off x="1897974" y="2772793"/>
            <a:ext cx="359999" cy="280471"/>
          </a:xfrm>
          <a:prstGeom prst="rect">
            <a:avLst/>
          </a:prstGeom>
          <a:solidFill>
            <a:srgbClr val="4F84C4"/>
          </a:solidFill>
          <a:ln w="6350">
            <a:solidFill>
              <a:srgbClr val="4F84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1" name="Shape 1041"/>
          <p:cNvSpPr/>
          <p:nvPr/>
        </p:nvSpPr>
        <p:spPr>
          <a:xfrm>
            <a:off x="1897974" y="2545856"/>
            <a:ext cx="359999" cy="226937"/>
          </a:xfrm>
          <a:prstGeom prst="rect">
            <a:avLst/>
          </a:prstGeom>
          <a:solidFill>
            <a:srgbClr val="8FB3DE"/>
          </a:solidFill>
          <a:ln w="6350">
            <a:solidFill>
              <a:srgbClr val="8FB3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2" name="Shape 1042"/>
          <p:cNvSpPr/>
          <p:nvPr/>
        </p:nvSpPr>
        <p:spPr>
          <a:xfrm>
            <a:off x="1897974" y="2395728"/>
            <a:ext cx="359999" cy="150128"/>
          </a:xfrm>
          <a:prstGeom prst="rect">
            <a:avLst/>
          </a:prstGeom>
          <a:solidFill>
            <a:srgbClr val="C9D9EF"/>
          </a:solidFill>
          <a:ln w="6350">
            <a:solidFill>
              <a:srgbClr val="C9D9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3" name="Text 1043"/>
          <p:cNvSpPr/>
          <p:nvPr/>
        </p:nvSpPr>
        <p:spPr>
          <a:xfrm>
            <a:off x="1787652" y="3712464"/>
            <a:ext cx="5806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00" b="0">
                <a:solidFill>
                  <a:srgbClr val="8A94A6"/>
                </a:solidFill>
              </a:rPr>
              <a:t>D2</a:t>
            </a:r>
            <a:endParaRPr lang="en-US" sz="600"/>
          </a:p>
        </p:txBody>
      </p:sp>
      <p:sp>
        <p:nvSpPr>
          <p:cNvPr id="1044" name="Shape 1044"/>
          <p:cNvSpPr/>
          <p:nvPr/>
        </p:nvSpPr>
        <p:spPr>
          <a:xfrm>
            <a:off x="2478618" y="3380287"/>
            <a:ext cx="359999" cy="295601"/>
          </a:xfrm>
          <a:prstGeom prst="rect">
            <a:avLst/>
          </a:prstGeom>
          <a:solidFill>
            <a:srgbClr val="1F3D6B"/>
          </a:solidFill>
          <a:ln w="6350">
            <a:solidFill>
              <a:srgbClr val="1F3D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5" name="Shape 1045"/>
          <p:cNvSpPr/>
          <p:nvPr/>
        </p:nvSpPr>
        <p:spPr>
          <a:xfrm>
            <a:off x="2478618" y="3045118"/>
            <a:ext cx="359999" cy="335169"/>
          </a:xfrm>
          <a:prstGeom prst="rect">
            <a:avLst/>
          </a:prstGeom>
          <a:solidFill>
            <a:srgbClr val="2E5FA3"/>
          </a:solidFill>
          <a:ln w="635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6" name="Shape 1046"/>
          <p:cNvSpPr/>
          <p:nvPr/>
        </p:nvSpPr>
        <p:spPr>
          <a:xfrm>
            <a:off x="2478618" y="2765811"/>
            <a:ext cx="359999" cy="279308"/>
          </a:xfrm>
          <a:prstGeom prst="rect">
            <a:avLst/>
          </a:prstGeom>
          <a:solidFill>
            <a:srgbClr val="4F84C4"/>
          </a:solidFill>
          <a:ln w="6350">
            <a:solidFill>
              <a:srgbClr val="4F84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7" name="Shape 1047"/>
          <p:cNvSpPr/>
          <p:nvPr/>
        </p:nvSpPr>
        <p:spPr>
          <a:xfrm>
            <a:off x="2478618" y="2542365"/>
            <a:ext cx="359999" cy="223446"/>
          </a:xfrm>
          <a:prstGeom prst="rect">
            <a:avLst/>
          </a:prstGeom>
          <a:solidFill>
            <a:srgbClr val="8FB3DE"/>
          </a:solidFill>
          <a:ln w="6350">
            <a:solidFill>
              <a:srgbClr val="8FB3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8" name="Shape 1048"/>
          <p:cNvSpPr/>
          <p:nvPr/>
        </p:nvSpPr>
        <p:spPr>
          <a:xfrm>
            <a:off x="2478618" y="2395728"/>
            <a:ext cx="359999" cy="146637"/>
          </a:xfrm>
          <a:prstGeom prst="rect">
            <a:avLst/>
          </a:prstGeom>
          <a:solidFill>
            <a:srgbClr val="C9D9EF"/>
          </a:solidFill>
          <a:ln w="6350">
            <a:solidFill>
              <a:srgbClr val="C9D9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9" name="Text 1049"/>
          <p:cNvSpPr/>
          <p:nvPr/>
        </p:nvSpPr>
        <p:spPr>
          <a:xfrm>
            <a:off x="2368296" y="3712464"/>
            <a:ext cx="5806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00" b="0">
                <a:solidFill>
                  <a:srgbClr val="8A94A6"/>
                </a:solidFill>
              </a:rPr>
              <a:t>D3</a:t>
            </a:r>
            <a:endParaRPr lang="en-US" sz="600"/>
          </a:p>
        </p:txBody>
      </p:sp>
      <p:sp>
        <p:nvSpPr>
          <p:cNvPr id="1050" name="Shape 1050"/>
          <p:cNvSpPr/>
          <p:nvPr/>
        </p:nvSpPr>
        <p:spPr>
          <a:xfrm>
            <a:off x="3059262" y="3373305"/>
            <a:ext cx="359999" cy="302583"/>
          </a:xfrm>
          <a:prstGeom prst="rect">
            <a:avLst/>
          </a:prstGeom>
          <a:solidFill>
            <a:srgbClr val="1F3D6B"/>
          </a:solidFill>
          <a:ln w="6350">
            <a:solidFill>
              <a:srgbClr val="1F3D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1" name="Shape 1051"/>
          <p:cNvSpPr/>
          <p:nvPr/>
        </p:nvSpPr>
        <p:spPr>
          <a:xfrm>
            <a:off x="3059262" y="3036972"/>
            <a:ext cx="359999" cy="336333"/>
          </a:xfrm>
          <a:prstGeom prst="rect">
            <a:avLst/>
          </a:prstGeom>
          <a:solidFill>
            <a:srgbClr val="2E5FA3"/>
          </a:solidFill>
          <a:ln w="635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2" name="Shape 1052"/>
          <p:cNvSpPr/>
          <p:nvPr/>
        </p:nvSpPr>
        <p:spPr>
          <a:xfrm>
            <a:off x="3059262" y="2758828"/>
            <a:ext cx="359999" cy="278144"/>
          </a:xfrm>
          <a:prstGeom prst="rect">
            <a:avLst/>
          </a:prstGeom>
          <a:solidFill>
            <a:srgbClr val="4F84C4"/>
          </a:solidFill>
          <a:ln w="6350">
            <a:solidFill>
              <a:srgbClr val="4F84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3" name="Shape 1053"/>
          <p:cNvSpPr/>
          <p:nvPr/>
        </p:nvSpPr>
        <p:spPr>
          <a:xfrm>
            <a:off x="3059262" y="2538873"/>
            <a:ext cx="359999" cy="219955"/>
          </a:xfrm>
          <a:prstGeom prst="rect">
            <a:avLst/>
          </a:prstGeom>
          <a:solidFill>
            <a:srgbClr val="8FB3DE"/>
          </a:solidFill>
          <a:ln w="6350">
            <a:solidFill>
              <a:srgbClr val="8FB3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4" name="Shape 1054"/>
          <p:cNvSpPr/>
          <p:nvPr/>
        </p:nvSpPr>
        <p:spPr>
          <a:xfrm>
            <a:off x="3059262" y="2395728"/>
            <a:ext cx="359999" cy="143145"/>
          </a:xfrm>
          <a:prstGeom prst="rect">
            <a:avLst/>
          </a:prstGeom>
          <a:solidFill>
            <a:srgbClr val="C9D9EF"/>
          </a:solidFill>
          <a:ln w="6350">
            <a:solidFill>
              <a:srgbClr val="C9D9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5" name="Text 1055"/>
          <p:cNvSpPr/>
          <p:nvPr/>
        </p:nvSpPr>
        <p:spPr>
          <a:xfrm>
            <a:off x="2948940" y="3712464"/>
            <a:ext cx="5806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00" b="0">
                <a:solidFill>
                  <a:srgbClr val="8A94A6"/>
                </a:solidFill>
              </a:rPr>
              <a:t>D4</a:t>
            </a:r>
            <a:endParaRPr lang="en-US" sz="600"/>
          </a:p>
        </p:txBody>
      </p:sp>
      <p:sp>
        <p:nvSpPr>
          <p:cNvPr id="1056" name="Shape 1056"/>
          <p:cNvSpPr/>
          <p:nvPr/>
        </p:nvSpPr>
        <p:spPr>
          <a:xfrm>
            <a:off x="3639906" y="3366322"/>
            <a:ext cx="359999" cy="309566"/>
          </a:xfrm>
          <a:prstGeom prst="rect">
            <a:avLst/>
          </a:prstGeom>
          <a:solidFill>
            <a:srgbClr val="1F3D6B"/>
          </a:solidFill>
          <a:ln w="6350">
            <a:solidFill>
              <a:srgbClr val="1F3D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7" name="Shape 1057"/>
          <p:cNvSpPr/>
          <p:nvPr/>
        </p:nvSpPr>
        <p:spPr>
          <a:xfrm>
            <a:off x="3639906" y="3028825"/>
            <a:ext cx="359999" cy="337497"/>
          </a:xfrm>
          <a:prstGeom prst="rect">
            <a:avLst/>
          </a:prstGeom>
          <a:solidFill>
            <a:srgbClr val="2E5FA3"/>
          </a:solidFill>
          <a:ln w="635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8" name="Shape 1058"/>
          <p:cNvSpPr/>
          <p:nvPr/>
        </p:nvSpPr>
        <p:spPr>
          <a:xfrm>
            <a:off x="3639906" y="2751845"/>
            <a:ext cx="359999" cy="276980"/>
          </a:xfrm>
          <a:prstGeom prst="rect">
            <a:avLst/>
          </a:prstGeom>
          <a:solidFill>
            <a:srgbClr val="4F84C4"/>
          </a:solidFill>
          <a:ln w="6350">
            <a:solidFill>
              <a:srgbClr val="4F84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9" name="Shape 1059"/>
          <p:cNvSpPr/>
          <p:nvPr/>
        </p:nvSpPr>
        <p:spPr>
          <a:xfrm>
            <a:off x="3639906" y="2535382"/>
            <a:ext cx="359999" cy="216463"/>
          </a:xfrm>
          <a:prstGeom prst="rect">
            <a:avLst/>
          </a:prstGeom>
          <a:solidFill>
            <a:srgbClr val="8FB3DE"/>
          </a:solidFill>
          <a:ln w="6350">
            <a:solidFill>
              <a:srgbClr val="8FB3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0" name="Shape 1060"/>
          <p:cNvSpPr/>
          <p:nvPr/>
        </p:nvSpPr>
        <p:spPr>
          <a:xfrm>
            <a:off x="3639906" y="2395728"/>
            <a:ext cx="359999" cy="139654"/>
          </a:xfrm>
          <a:prstGeom prst="rect">
            <a:avLst/>
          </a:prstGeom>
          <a:solidFill>
            <a:srgbClr val="C9D9EF"/>
          </a:solidFill>
          <a:ln w="6350">
            <a:solidFill>
              <a:srgbClr val="C9D9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1" name="Text 1061"/>
          <p:cNvSpPr/>
          <p:nvPr/>
        </p:nvSpPr>
        <p:spPr>
          <a:xfrm>
            <a:off x="3529584" y="3712464"/>
            <a:ext cx="5806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00" b="0">
                <a:solidFill>
                  <a:srgbClr val="8A94A6"/>
                </a:solidFill>
              </a:rPr>
              <a:t>D5</a:t>
            </a:r>
            <a:endParaRPr lang="en-US" sz="600"/>
          </a:p>
        </p:txBody>
      </p:sp>
      <p:sp>
        <p:nvSpPr>
          <p:cNvPr id="1062" name="Shape 1062"/>
          <p:cNvSpPr/>
          <p:nvPr/>
        </p:nvSpPr>
        <p:spPr>
          <a:xfrm>
            <a:off x="4220550" y="3359339"/>
            <a:ext cx="359999" cy="316549"/>
          </a:xfrm>
          <a:prstGeom prst="rect">
            <a:avLst/>
          </a:prstGeom>
          <a:solidFill>
            <a:srgbClr val="1F3D6B"/>
          </a:solidFill>
          <a:ln w="6350">
            <a:solidFill>
              <a:srgbClr val="1F3D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3" name="Shape 1063"/>
          <p:cNvSpPr/>
          <p:nvPr/>
        </p:nvSpPr>
        <p:spPr>
          <a:xfrm>
            <a:off x="4220550" y="3020679"/>
            <a:ext cx="359999" cy="338661"/>
          </a:xfrm>
          <a:prstGeom prst="rect">
            <a:avLst/>
          </a:prstGeom>
          <a:solidFill>
            <a:srgbClr val="2E5FA3"/>
          </a:solidFill>
          <a:ln w="635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4" name="Shape 1064"/>
          <p:cNvSpPr/>
          <p:nvPr/>
        </p:nvSpPr>
        <p:spPr>
          <a:xfrm>
            <a:off x="4220550" y="2744863"/>
            <a:ext cx="359999" cy="275816"/>
          </a:xfrm>
          <a:prstGeom prst="rect">
            <a:avLst/>
          </a:prstGeom>
          <a:solidFill>
            <a:srgbClr val="4F84C4"/>
          </a:solidFill>
          <a:ln w="6350">
            <a:solidFill>
              <a:srgbClr val="4F84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5" name="Shape 1065"/>
          <p:cNvSpPr/>
          <p:nvPr/>
        </p:nvSpPr>
        <p:spPr>
          <a:xfrm>
            <a:off x="4220550" y="2531890"/>
            <a:ext cx="359999" cy="212972"/>
          </a:xfrm>
          <a:prstGeom prst="rect">
            <a:avLst/>
          </a:prstGeom>
          <a:solidFill>
            <a:srgbClr val="8FB3DE"/>
          </a:solidFill>
          <a:ln w="6350">
            <a:solidFill>
              <a:srgbClr val="8FB3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6" name="Shape 1066"/>
          <p:cNvSpPr/>
          <p:nvPr/>
        </p:nvSpPr>
        <p:spPr>
          <a:xfrm>
            <a:off x="4220550" y="2395728"/>
            <a:ext cx="359999" cy="136162"/>
          </a:xfrm>
          <a:prstGeom prst="rect">
            <a:avLst/>
          </a:prstGeom>
          <a:solidFill>
            <a:srgbClr val="C9D9EF"/>
          </a:solidFill>
          <a:ln w="6350">
            <a:solidFill>
              <a:srgbClr val="C9D9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7" name="Text 1067"/>
          <p:cNvSpPr/>
          <p:nvPr/>
        </p:nvSpPr>
        <p:spPr>
          <a:xfrm>
            <a:off x="4110228" y="3712464"/>
            <a:ext cx="5806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00" b="0">
                <a:solidFill>
                  <a:srgbClr val="8A94A6"/>
                </a:solidFill>
              </a:rPr>
              <a:t>D6</a:t>
            </a:r>
            <a:endParaRPr lang="en-US" sz="600"/>
          </a:p>
        </p:txBody>
      </p:sp>
      <p:sp>
        <p:nvSpPr>
          <p:cNvPr id="1068" name="Shape 1068"/>
          <p:cNvSpPr/>
          <p:nvPr/>
        </p:nvSpPr>
        <p:spPr>
          <a:xfrm>
            <a:off x="4801194" y="3352357"/>
            <a:ext cx="359999" cy="323531"/>
          </a:xfrm>
          <a:prstGeom prst="rect">
            <a:avLst/>
          </a:prstGeom>
          <a:solidFill>
            <a:srgbClr val="1F3D6B"/>
          </a:solidFill>
          <a:ln w="6350">
            <a:solidFill>
              <a:srgbClr val="1F3D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9" name="Shape 1069"/>
          <p:cNvSpPr/>
          <p:nvPr/>
        </p:nvSpPr>
        <p:spPr>
          <a:xfrm>
            <a:off x="4801194" y="3012532"/>
            <a:ext cx="359999" cy="339824"/>
          </a:xfrm>
          <a:prstGeom prst="rect">
            <a:avLst/>
          </a:prstGeom>
          <a:solidFill>
            <a:srgbClr val="2E5FA3"/>
          </a:solidFill>
          <a:ln w="635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0" name="Shape 1070"/>
          <p:cNvSpPr/>
          <p:nvPr/>
        </p:nvSpPr>
        <p:spPr>
          <a:xfrm>
            <a:off x="4801194" y="2737880"/>
            <a:ext cx="359999" cy="274653"/>
          </a:xfrm>
          <a:prstGeom prst="rect">
            <a:avLst/>
          </a:prstGeom>
          <a:solidFill>
            <a:srgbClr val="4F84C4"/>
          </a:solidFill>
          <a:ln w="6350">
            <a:solidFill>
              <a:srgbClr val="4F84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1" name="Shape 1071"/>
          <p:cNvSpPr/>
          <p:nvPr/>
        </p:nvSpPr>
        <p:spPr>
          <a:xfrm>
            <a:off x="4801194" y="2528399"/>
            <a:ext cx="359999" cy="209481"/>
          </a:xfrm>
          <a:prstGeom prst="rect">
            <a:avLst/>
          </a:prstGeom>
          <a:solidFill>
            <a:srgbClr val="8FB3DE"/>
          </a:solidFill>
          <a:ln w="6350">
            <a:solidFill>
              <a:srgbClr val="8FB3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2" name="Shape 1072"/>
          <p:cNvSpPr/>
          <p:nvPr/>
        </p:nvSpPr>
        <p:spPr>
          <a:xfrm>
            <a:off x="4801194" y="2395728"/>
            <a:ext cx="359999" cy="132671"/>
          </a:xfrm>
          <a:prstGeom prst="rect">
            <a:avLst/>
          </a:prstGeom>
          <a:solidFill>
            <a:srgbClr val="C9D9EF"/>
          </a:solidFill>
          <a:ln w="6350">
            <a:solidFill>
              <a:srgbClr val="C9D9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3" name="Text 1073"/>
          <p:cNvSpPr/>
          <p:nvPr/>
        </p:nvSpPr>
        <p:spPr>
          <a:xfrm>
            <a:off x="4690872" y="3712464"/>
            <a:ext cx="5806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00" b="0">
                <a:solidFill>
                  <a:srgbClr val="8A94A6"/>
                </a:solidFill>
              </a:rPr>
              <a:t>D7</a:t>
            </a:r>
            <a:endParaRPr lang="en-US" sz="600"/>
          </a:p>
        </p:txBody>
      </p:sp>
      <p:sp>
        <p:nvSpPr>
          <p:cNvPr id="1074" name="Shape 1074"/>
          <p:cNvSpPr/>
          <p:nvPr/>
        </p:nvSpPr>
        <p:spPr>
          <a:xfrm>
            <a:off x="5381838" y="3345374"/>
            <a:ext cx="359999" cy="330514"/>
          </a:xfrm>
          <a:prstGeom prst="rect">
            <a:avLst/>
          </a:prstGeom>
          <a:solidFill>
            <a:srgbClr val="1F3D6B"/>
          </a:solidFill>
          <a:ln w="6350">
            <a:solidFill>
              <a:srgbClr val="1F3D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5" name="Shape 1075"/>
          <p:cNvSpPr/>
          <p:nvPr/>
        </p:nvSpPr>
        <p:spPr>
          <a:xfrm>
            <a:off x="5381838" y="3004386"/>
            <a:ext cx="359999" cy="340988"/>
          </a:xfrm>
          <a:prstGeom prst="rect">
            <a:avLst/>
          </a:prstGeom>
          <a:solidFill>
            <a:srgbClr val="2E5FA3"/>
          </a:solidFill>
          <a:ln w="635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6" name="Shape 1076"/>
          <p:cNvSpPr/>
          <p:nvPr/>
        </p:nvSpPr>
        <p:spPr>
          <a:xfrm>
            <a:off x="5381838" y="2730897"/>
            <a:ext cx="359999" cy="273489"/>
          </a:xfrm>
          <a:prstGeom prst="rect">
            <a:avLst/>
          </a:prstGeom>
          <a:solidFill>
            <a:srgbClr val="4F84C4"/>
          </a:solidFill>
          <a:ln w="6350">
            <a:solidFill>
              <a:srgbClr val="4F84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7" name="Shape 1077"/>
          <p:cNvSpPr/>
          <p:nvPr/>
        </p:nvSpPr>
        <p:spPr>
          <a:xfrm>
            <a:off x="5381838" y="2524908"/>
            <a:ext cx="359999" cy="205989"/>
          </a:xfrm>
          <a:prstGeom prst="rect">
            <a:avLst/>
          </a:prstGeom>
          <a:solidFill>
            <a:srgbClr val="8FB3DE"/>
          </a:solidFill>
          <a:ln w="6350">
            <a:solidFill>
              <a:srgbClr val="8FB3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8" name="Shape 1078"/>
          <p:cNvSpPr/>
          <p:nvPr/>
        </p:nvSpPr>
        <p:spPr>
          <a:xfrm>
            <a:off x="5381838" y="2395728"/>
            <a:ext cx="359999" cy="129180"/>
          </a:xfrm>
          <a:prstGeom prst="rect">
            <a:avLst/>
          </a:prstGeom>
          <a:solidFill>
            <a:srgbClr val="C9D9EF"/>
          </a:solidFill>
          <a:ln w="6350">
            <a:solidFill>
              <a:srgbClr val="C9D9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9" name="Text 1079"/>
          <p:cNvSpPr/>
          <p:nvPr/>
        </p:nvSpPr>
        <p:spPr>
          <a:xfrm>
            <a:off x="5271516" y="3712464"/>
            <a:ext cx="5806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00" b="0">
                <a:solidFill>
                  <a:srgbClr val="8A94A6"/>
                </a:solidFill>
              </a:rPr>
              <a:t>D8</a:t>
            </a:r>
            <a:endParaRPr lang="en-US" sz="600"/>
          </a:p>
        </p:txBody>
      </p:sp>
      <p:sp>
        <p:nvSpPr>
          <p:cNvPr id="1080" name="Shape 1080"/>
          <p:cNvSpPr/>
          <p:nvPr/>
        </p:nvSpPr>
        <p:spPr>
          <a:xfrm>
            <a:off x="5962482" y="3338391"/>
            <a:ext cx="359999" cy="337497"/>
          </a:xfrm>
          <a:prstGeom prst="rect">
            <a:avLst/>
          </a:prstGeom>
          <a:solidFill>
            <a:srgbClr val="1F3D6B"/>
          </a:solidFill>
          <a:ln w="6350">
            <a:solidFill>
              <a:srgbClr val="1F3D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1" name="Shape 1081"/>
          <p:cNvSpPr/>
          <p:nvPr/>
        </p:nvSpPr>
        <p:spPr>
          <a:xfrm>
            <a:off x="5962482" y="2996239"/>
            <a:ext cx="359999" cy="342152"/>
          </a:xfrm>
          <a:prstGeom prst="rect">
            <a:avLst/>
          </a:prstGeom>
          <a:solidFill>
            <a:srgbClr val="2E5FA3"/>
          </a:solidFill>
          <a:ln w="635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2" name="Shape 1082"/>
          <p:cNvSpPr/>
          <p:nvPr/>
        </p:nvSpPr>
        <p:spPr>
          <a:xfrm>
            <a:off x="5962482" y="2723914"/>
            <a:ext cx="359999" cy="272325"/>
          </a:xfrm>
          <a:prstGeom prst="rect">
            <a:avLst/>
          </a:prstGeom>
          <a:solidFill>
            <a:srgbClr val="4F84C4"/>
          </a:solidFill>
          <a:ln w="6350">
            <a:solidFill>
              <a:srgbClr val="4F84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3" name="Shape 1083"/>
          <p:cNvSpPr/>
          <p:nvPr/>
        </p:nvSpPr>
        <p:spPr>
          <a:xfrm>
            <a:off x="5962482" y="2521416"/>
            <a:ext cx="359999" cy="202498"/>
          </a:xfrm>
          <a:prstGeom prst="rect">
            <a:avLst/>
          </a:prstGeom>
          <a:solidFill>
            <a:srgbClr val="8FB3DE"/>
          </a:solidFill>
          <a:ln w="6350">
            <a:solidFill>
              <a:srgbClr val="8FB3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4" name="Shape 1084"/>
          <p:cNvSpPr/>
          <p:nvPr/>
        </p:nvSpPr>
        <p:spPr>
          <a:xfrm>
            <a:off x="5962482" y="2395728"/>
            <a:ext cx="359999" cy="125688"/>
          </a:xfrm>
          <a:prstGeom prst="rect">
            <a:avLst/>
          </a:prstGeom>
          <a:solidFill>
            <a:srgbClr val="C9D9EF"/>
          </a:solidFill>
          <a:ln w="6350">
            <a:solidFill>
              <a:srgbClr val="C9D9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5" name="Text 1085"/>
          <p:cNvSpPr/>
          <p:nvPr/>
        </p:nvSpPr>
        <p:spPr>
          <a:xfrm>
            <a:off x="5852160" y="3712464"/>
            <a:ext cx="5806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00" b="0">
                <a:solidFill>
                  <a:srgbClr val="8A94A6"/>
                </a:solidFill>
              </a:rPr>
              <a:t>D9</a:t>
            </a:r>
            <a:endParaRPr lang="en-US" sz="600"/>
          </a:p>
        </p:txBody>
      </p:sp>
      <p:sp>
        <p:nvSpPr>
          <p:cNvPr id="1086" name="Shape 1086"/>
          <p:cNvSpPr/>
          <p:nvPr/>
        </p:nvSpPr>
        <p:spPr>
          <a:xfrm>
            <a:off x="6543126" y="3331409"/>
            <a:ext cx="359999" cy="344479"/>
          </a:xfrm>
          <a:prstGeom prst="rect">
            <a:avLst/>
          </a:prstGeom>
          <a:solidFill>
            <a:srgbClr val="1F3D6B"/>
          </a:solidFill>
          <a:ln w="6350">
            <a:solidFill>
              <a:srgbClr val="1F3D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7" name="Shape 1087"/>
          <p:cNvSpPr/>
          <p:nvPr/>
        </p:nvSpPr>
        <p:spPr>
          <a:xfrm>
            <a:off x="6543126" y="2988093"/>
            <a:ext cx="359999" cy="343316"/>
          </a:xfrm>
          <a:prstGeom prst="rect">
            <a:avLst/>
          </a:prstGeom>
          <a:solidFill>
            <a:srgbClr val="2E5FA3"/>
          </a:solidFill>
          <a:ln w="635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8" name="Shape 1088"/>
          <p:cNvSpPr/>
          <p:nvPr/>
        </p:nvSpPr>
        <p:spPr>
          <a:xfrm>
            <a:off x="6543126" y="2716932"/>
            <a:ext cx="359999" cy="271161"/>
          </a:xfrm>
          <a:prstGeom prst="rect">
            <a:avLst/>
          </a:prstGeom>
          <a:solidFill>
            <a:srgbClr val="4F84C4"/>
          </a:solidFill>
          <a:ln w="6350">
            <a:solidFill>
              <a:srgbClr val="4F84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9" name="Shape 1089"/>
          <p:cNvSpPr/>
          <p:nvPr/>
        </p:nvSpPr>
        <p:spPr>
          <a:xfrm>
            <a:off x="6543126" y="2517925"/>
            <a:ext cx="359999" cy="199007"/>
          </a:xfrm>
          <a:prstGeom prst="rect">
            <a:avLst/>
          </a:prstGeom>
          <a:solidFill>
            <a:srgbClr val="8FB3DE"/>
          </a:solidFill>
          <a:ln w="6350">
            <a:solidFill>
              <a:srgbClr val="8FB3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0" name="Shape 1090"/>
          <p:cNvSpPr/>
          <p:nvPr/>
        </p:nvSpPr>
        <p:spPr>
          <a:xfrm>
            <a:off x="6543126" y="2395728"/>
            <a:ext cx="359999" cy="122197"/>
          </a:xfrm>
          <a:prstGeom prst="rect">
            <a:avLst/>
          </a:prstGeom>
          <a:solidFill>
            <a:srgbClr val="C9D9EF"/>
          </a:solidFill>
          <a:ln w="6350">
            <a:solidFill>
              <a:srgbClr val="C9D9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1" name="Text 1091"/>
          <p:cNvSpPr/>
          <p:nvPr/>
        </p:nvSpPr>
        <p:spPr>
          <a:xfrm>
            <a:off x="6432804" y="3712464"/>
            <a:ext cx="5806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00" b="0">
                <a:solidFill>
                  <a:srgbClr val="8A94A6"/>
                </a:solidFill>
              </a:rPr>
              <a:t>D10</a:t>
            </a:r>
            <a:endParaRPr lang="en-US" sz="600"/>
          </a:p>
        </p:txBody>
      </p:sp>
      <p:sp>
        <p:nvSpPr>
          <p:cNvPr id="1092" name="Shape 1092"/>
          <p:cNvSpPr/>
          <p:nvPr/>
        </p:nvSpPr>
        <p:spPr>
          <a:xfrm>
            <a:off x="7123770" y="3324426"/>
            <a:ext cx="359999" cy="351462"/>
          </a:xfrm>
          <a:prstGeom prst="rect">
            <a:avLst/>
          </a:prstGeom>
          <a:solidFill>
            <a:srgbClr val="1F3D6B"/>
          </a:solidFill>
          <a:ln w="6350">
            <a:solidFill>
              <a:srgbClr val="1F3D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3" name="Shape 1093"/>
          <p:cNvSpPr/>
          <p:nvPr/>
        </p:nvSpPr>
        <p:spPr>
          <a:xfrm>
            <a:off x="7123770" y="2979946"/>
            <a:ext cx="359999" cy="344479"/>
          </a:xfrm>
          <a:prstGeom prst="rect">
            <a:avLst/>
          </a:prstGeom>
          <a:solidFill>
            <a:srgbClr val="2E5FA3"/>
          </a:solidFill>
          <a:ln w="635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4" name="Shape 1094"/>
          <p:cNvSpPr/>
          <p:nvPr/>
        </p:nvSpPr>
        <p:spPr>
          <a:xfrm>
            <a:off x="7123770" y="2709949"/>
            <a:ext cx="359999" cy="269997"/>
          </a:xfrm>
          <a:prstGeom prst="rect">
            <a:avLst/>
          </a:prstGeom>
          <a:solidFill>
            <a:srgbClr val="4F84C4"/>
          </a:solidFill>
          <a:ln w="6350">
            <a:solidFill>
              <a:srgbClr val="4F84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5" name="Shape 1095"/>
          <p:cNvSpPr/>
          <p:nvPr/>
        </p:nvSpPr>
        <p:spPr>
          <a:xfrm>
            <a:off x="7123770" y="2514434"/>
            <a:ext cx="359999" cy="195515"/>
          </a:xfrm>
          <a:prstGeom prst="rect">
            <a:avLst/>
          </a:prstGeom>
          <a:solidFill>
            <a:srgbClr val="8FB3DE"/>
          </a:solidFill>
          <a:ln w="6350">
            <a:solidFill>
              <a:srgbClr val="8FB3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6" name="Shape 1096"/>
          <p:cNvSpPr/>
          <p:nvPr/>
        </p:nvSpPr>
        <p:spPr>
          <a:xfrm>
            <a:off x="7123770" y="2395728"/>
            <a:ext cx="359999" cy="118706"/>
          </a:xfrm>
          <a:prstGeom prst="rect">
            <a:avLst/>
          </a:prstGeom>
          <a:solidFill>
            <a:srgbClr val="C9D9EF"/>
          </a:solidFill>
          <a:ln w="6350">
            <a:solidFill>
              <a:srgbClr val="C9D9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7" name="Text 1097"/>
          <p:cNvSpPr/>
          <p:nvPr/>
        </p:nvSpPr>
        <p:spPr>
          <a:xfrm>
            <a:off x="7013448" y="3712464"/>
            <a:ext cx="5806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00" b="0">
                <a:solidFill>
                  <a:srgbClr val="8A94A6"/>
                </a:solidFill>
              </a:rPr>
              <a:t>Top 30%</a:t>
            </a:r>
            <a:endParaRPr lang="en-US" sz="600"/>
          </a:p>
        </p:txBody>
      </p:sp>
      <p:sp>
        <p:nvSpPr>
          <p:cNvPr id="1098" name="Shape 1098"/>
          <p:cNvSpPr/>
          <p:nvPr/>
        </p:nvSpPr>
        <p:spPr>
          <a:xfrm>
            <a:off x="7704414" y="3317443"/>
            <a:ext cx="359999" cy="358445"/>
          </a:xfrm>
          <a:prstGeom prst="rect">
            <a:avLst/>
          </a:prstGeom>
          <a:solidFill>
            <a:srgbClr val="1F3D6B"/>
          </a:solidFill>
          <a:ln w="6350">
            <a:solidFill>
              <a:srgbClr val="1F3D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9" name="Shape 1099"/>
          <p:cNvSpPr/>
          <p:nvPr/>
        </p:nvSpPr>
        <p:spPr>
          <a:xfrm>
            <a:off x="7704414" y="2971800"/>
            <a:ext cx="359999" cy="345643"/>
          </a:xfrm>
          <a:prstGeom prst="rect">
            <a:avLst/>
          </a:prstGeom>
          <a:solidFill>
            <a:srgbClr val="2E5FA3"/>
          </a:solidFill>
          <a:ln w="635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0" name="Shape 1100"/>
          <p:cNvSpPr/>
          <p:nvPr/>
        </p:nvSpPr>
        <p:spPr>
          <a:xfrm>
            <a:off x="7704414" y="2702966"/>
            <a:ext cx="359999" cy="268834"/>
          </a:xfrm>
          <a:prstGeom prst="rect">
            <a:avLst/>
          </a:prstGeom>
          <a:solidFill>
            <a:srgbClr val="4F84C4"/>
          </a:solidFill>
          <a:ln w="6350">
            <a:solidFill>
              <a:srgbClr val="4F84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1" name="Shape 1101"/>
          <p:cNvSpPr/>
          <p:nvPr/>
        </p:nvSpPr>
        <p:spPr>
          <a:xfrm>
            <a:off x="7704414" y="2510942"/>
            <a:ext cx="359999" cy="192024"/>
          </a:xfrm>
          <a:prstGeom prst="rect">
            <a:avLst/>
          </a:prstGeom>
          <a:solidFill>
            <a:srgbClr val="8FB3DE"/>
          </a:solidFill>
          <a:ln w="6350">
            <a:solidFill>
              <a:srgbClr val="8FB3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2" name="Shape 1102"/>
          <p:cNvSpPr/>
          <p:nvPr/>
        </p:nvSpPr>
        <p:spPr>
          <a:xfrm>
            <a:off x="7704414" y="2395728"/>
            <a:ext cx="359999" cy="115214"/>
          </a:xfrm>
          <a:prstGeom prst="rect">
            <a:avLst/>
          </a:prstGeom>
          <a:solidFill>
            <a:srgbClr val="C9D9EF"/>
          </a:solidFill>
          <a:ln w="6350">
            <a:solidFill>
              <a:srgbClr val="C9D9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3" name="Text 1103"/>
          <p:cNvSpPr/>
          <p:nvPr/>
        </p:nvSpPr>
        <p:spPr>
          <a:xfrm>
            <a:off x="7594092" y="3712464"/>
            <a:ext cx="58064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00" b="0">
                <a:solidFill>
                  <a:srgbClr val="8A94A6"/>
                </a:solidFill>
              </a:rPr>
              <a:t>Bottom 50%</a:t>
            </a:r>
            <a:endParaRPr lang="en-US" sz="600"/>
          </a:p>
        </p:txBody>
      </p:sp>
      <p:sp>
        <p:nvSpPr>
          <p:cNvPr id="1104" name="Shape 1104"/>
          <p:cNvSpPr/>
          <p:nvPr/>
        </p:nvSpPr>
        <p:spPr>
          <a:xfrm>
            <a:off x="1207008" y="3877056"/>
            <a:ext cx="118872" cy="118872"/>
          </a:xfrm>
          <a:prstGeom prst="rect">
            <a:avLst/>
          </a:prstGeom>
          <a:solidFill>
            <a:srgbClr val="1F3D6B"/>
          </a:solidFill>
          <a:ln w="6350">
            <a:solidFill>
              <a:srgbClr val="1F3D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5" name="Text 1105"/>
          <p:cNvSpPr/>
          <p:nvPr/>
        </p:nvSpPr>
        <p:spPr>
          <a:xfrm>
            <a:off x="1371600" y="3867912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20" b="0">
                <a:solidFill>
                  <a:srgbClr val="4A5568"/>
                </a:solidFill>
              </a:rPr>
              <a:t>D1</a:t>
            </a:r>
            <a:endParaRPr lang="en-US" sz="620"/>
          </a:p>
        </p:txBody>
      </p:sp>
      <p:sp>
        <p:nvSpPr>
          <p:cNvPr id="1106" name="Shape 1106"/>
          <p:cNvSpPr/>
          <p:nvPr/>
        </p:nvSpPr>
        <p:spPr>
          <a:xfrm>
            <a:off x="1773936" y="3877056"/>
            <a:ext cx="118872" cy="118872"/>
          </a:xfrm>
          <a:prstGeom prst="rect">
            <a:avLst/>
          </a:prstGeom>
          <a:solidFill>
            <a:srgbClr val="2E5FA3"/>
          </a:solidFill>
          <a:ln w="635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7" name="Text 1107"/>
          <p:cNvSpPr/>
          <p:nvPr/>
        </p:nvSpPr>
        <p:spPr>
          <a:xfrm>
            <a:off x="1938528" y="3867912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20" b="0">
                <a:solidFill>
                  <a:srgbClr val="4A5568"/>
                </a:solidFill>
              </a:rPr>
              <a:t>D2</a:t>
            </a:r>
            <a:endParaRPr lang="en-US" sz="620"/>
          </a:p>
        </p:txBody>
      </p:sp>
      <p:sp>
        <p:nvSpPr>
          <p:cNvPr id="1108" name="Shape 1108"/>
          <p:cNvSpPr/>
          <p:nvPr/>
        </p:nvSpPr>
        <p:spPr>
          <a:xfrm>
            <a:off x="2340864" y="3877056"/>
            <a:ext cx="118872" cy="118872"/>
          </a:xfrm>
          <a:prstGeom prst="rect">
            <a:avLst/>
          </a:prstGeom>
          <a:solidFill>
            <a:srgbClr val="4F84C4"/>
          </a:solidFill>
          <a:ln w="6350">
            <a:solidFill>
              <a:srgbClr val="4F84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9" name="Text 1109"/>
          <p:cNvSpPr/>
          <p:nvPr/>
        </p:nvSpPr>
        <p:spPr>
          <a:xfrm>
            <a:off x="2505456" y="3867912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20" b="0">
                <a:solidFill>
                  <a:srgbClr val="4A5568"/>
                </a:solidFill>
              </a:rPr>
              <a:t>D3</a:t>
            </a:r>
            <a:endParaRPr lang="en-US" sz="620"/>
          </a:p>
        </p:txBody>
      </p:sp>
      <p:sp>
        <p:nvSpPr>
          <p:cNvPr id="1110" name="Shape 1110"/>
          <p:cNvSpPr/>
          <p:nvPr/>
        </p:nvSpPr>
        <p:spPr>
          <a:xfrm>
            <a:off x="2907792" y="3877056"/>
            <a:ext cx="118872" cy="118872"/>
          </a:xfrm>
          <a:prstGeom prst="rect">
            <a:avLst/>
          </a:prstGeom>
          <a:solidFill>
            <a:srgbClr val="8FB3DE"/>
          </a:solidFill>
          <a:ln w="6350">
            <a:solidFill>
              <a:srgbClr val="8FB3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1" name="Text 1111"/>
          <p:cNvSpPr/>
          <p:nvPr/>
        </p:nvSpPr>
        <p:spPr>
          <a:xfrm>
            <a:off x="3072384" y="3867912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20" b="0">
                <a:solidFill>
                  <a:srgbClr val="4A5568"/>
                </a:solidFill>
              </a:rPr>
              <a:t>D4-D6</a:t>
            </a:r>
            <a:endParaRPr lang="en-US" sz="620"/>
          </a:p>
        </p:txBody>
      </p:sp>
      <p:sp>
        <p:nvSpPr>
          <p:cNvPr id="1112" name="Shape 1112"/>
          <p:cNvSpPr/>
          <p:nvPr/>
        </p:nvSpPr>
        <p:spPr>
          <a:xfrm>
            <a:off x="3474720" y="3877056"/>
            <a:ext cx="118872" cy="118872"/>
          </a:xfrm>
          <a:prstGeom prst="rect">
            <a:avLst/>
          </a:prstGeom>
          <a:solidFill>
            <a:srgbClr val="C9D9EF"/>
          </a:solidFill>
          <a:ln w="6350">
            <a:solidFill>
              <a:srgbClr val="C9D9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3" name="Text 1113"/>
          <p:cNvSpPr/>
          <p:nvPr/>
        </p:nvSpPr>
        <p:spPr>
          <a:xfrm>
            <a:off x="3639312" y="3867912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20" b="0">
                <a:solidFill>
                  <a:srgbClr val="4A5568"/>
                </a:solidFill>
              </a:rPr>
              <a:t>D7-D10</a:t>
            </a:r>
            <a:endParaRPr lang="en-US" sz="620"/>
          </a:p>
        </p:txBody>
      </p:sp>
      <p:sp>
        <p:nvSpPr>
          <p:cNvPr id="1114" name="Text 1114"/>
          <p:cNvSpPr/>
          <p:nvPr/>
        </p:nvSpPr>
        <p:spPr>
          <a:xfrm>
            <a:off x="2578608" y="3877056"/>
            <a:ext cx="5577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50" b="0">
                <a:solidFill>
                  <a:srgbClr val="8A94A6"/>
                </a:solidFill>
              </a:rPr>
              <a:t>Click a decile → filter this screen to that group  ·  Switch to Count</a:t>
            </a:r>
            <a:endParaRPr lang="en-US" sz="650"/>
          </a:p>
        </p:txBody>
      </p:sp>
      <p:sp>
        <p:nvSpPr>
          <p:cNvPr id="1115" name="Shape 1115"/>
          <p:cNvSpPr/>
          <p:nvPr/>
        </p:nvSpPr>
        <p:spPr>
          <a:xfrm>
            <a:off x="8595360" y="1938528"/>
            <a:ext cx="3246120" cy="2212848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7620">
            <a:solidFill>
              <a:srgbClr val="D8E1EA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16" name="Shape 1116"/>
          <p:cNvSpPr/>
          <p:nvPr/>
        </p:nvSpPr>
        <p:spPr>
          <a:xfrm>
            <a:off x="8595360" y="1938528"/>
            <a:ext cx="45720" cy="2212848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7" name="Text 1117"/>
          <p:cNvSpPr/>
          <p:nvPr/>
        </p:nvSpPr>
        <p:spPr>
          <a:xfrm>
            <a:off x="8723376" y="2020824"/>
            <a:ext cx="2990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>
                <a:solidFill>
                  <a:srgbClr val="1F3D6B"/>
                </a:solidFill>
              </a:rPr>
              <a:t>Decile Snapshot</a:t>
            </a:r>
            <a:endParaRPr lang="en-US" sz="1000"/>
          </a:p>
        </p:txBody>
      </p:sp>
      <p:sp>
        <p:nvSpPr>
          <p:cNvPr id="1118" name="Text 1118"/>
          <p:cNvSpPr/>
          <p:nvPr/>
        </p:nvSpPr>
        <p:spPr>
          <a:xfrm>
            <a:off x="8723376" y="2221992"/>
            <a:ext cx="29900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0">
                <a:solidFill>
                  <a:srgbClr val="8A94A6"/>
                </a:solidFill>
              </a:rPr>
              <a:t>Selected period · Sep 2026</a:t>
            </a:r>
            <a:endParaRPr lang="en-US" sz="700"/>
          </a:p>
        </p:txBody>
      </p:sp>
      <p:sp>
        <p:nvSpPr>
          <p:cNvPr id="1119" name="Text 1119"/>
          <p:cNvSpPr/>
          <p:nvPr/>
        </p:nvSpPr>
        <p:spPr>
          <a:xfrm>
            <a:off x="8741664" y="2450592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0">
                <a:solidFill>
                  <a:srgbClr val="1F3D6B"/>
                </a:solidFill>
              </a:rPr>
              <a:t>D1</a:t>
            </a:r>
            <a:endParaRPr lang="en-US" sz="700"/>
          </a:p>
        </p:txBody>
      </p:sp>
      <p:sp>
        <p:nvSpPr>
          <p:cNvPr id="1120" name="Shape 1120"/>
          <p:cNvSpPr/>
          <p:nvPr/>
        </p:nvSpPr>
        <p:spPr>
          <a:xfrm>
            <a:off x="9692640" y="2459736"/>
            <a:ext cx="1417320" cy="118872"/>
          </a:xfrm>
          <a:prstGeom prst="rect">
            <a:avLst/>
          </a:prstGeom>
          <a:solidFill>
            <a:srgbClr val="EDF1F6"/>
          </a:solidFill>
          <a:ln w="6350">
            <a:solidFill>
              <a:srgbClr val="EDF1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1" name="Shape 1121"/>
          <p:cNvSpPr/>
          <p:nvPr/>
        </p:nvSpPr>
        <p:spPr>
          <a:xfrm>
            <a:off x="9692640" y="2459736"/>
            <a:ext cx="822046" cy="118872"/>
          </a:xfrm>
          <a:prstGeom prst="rect">
            <a:avLst/>
          </a:prstGeom>
          <a:solidFill>
            <a:srgbClr val="D02C8C"/>
          </a:solidFill>
          <a:ln w="6350">
            <a:solidFill>
              <a:srgbClr val="D02C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2" name="Text 1122"/>
          <p:cNvSpPr/>
          <p:nvPr/>
        </p:nvSpPr>
        <p:spPr>
          <a:xfrm>
            <a:off x="11173968" y="2450592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b="1">
                <a:solidFill>
                  <a:srgbClr val="D02C8C"/>
                </a:solidFill>
              </a:rPr>
              <a:t>34%</a:t>
            </a:r>
            <a:endParaRPr lang="en-US" sz="700"/>
          </a:p>
        </p:txBody>
      </p:sp>
      <p:sp>
        <p:nvSpPr>
          <p:cNvPr id="1123" name="Text 1123"/>
          <p:cNvSpPr/>
          <p:nvPr/>
        </p:nvSpPr>
        <p:spPr>
          <a:xfrm>
            <a:off x="8741664" y="2724912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0">
                <a:solidFill>
                  <a:srgbClr val="1F3D6B"/>
                </a:solidFill>
              </a:rPr>
              <a:t>D2</a:t>
            </a:r>
            <a:endParaRPr lang="en-US" sz="700"/>
          </a:p>
        </p:txBody>
      </p:sp>
      <p:sp>
        <p:nvSpPr>
          <p:cNvPr id="1124" name="Shape 1124"/>
          <p:cNvSpPr/>
          <p:nvPr/>
        </p:nvSpPr>
        <p:spPr>
          <a:xfrm>
            <a:off x="9692640" y="2734056"/>
            <a:ext cx="1417320" cy="118872"/>
          </a:xfrm>
          <a:prstGeom prst="rect">
            <a:avLst/>
          </a:prstGeom>
          <a:solidFill>
            <a:srgbClr val="EDF1F6"/>
          </a:solidFill>
          <a:ln w="6350">
            <a:solidFill>
              <a:srgbClr val="EDF1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5" name="Shape 1125"/>
          <p:cNvSpPr/>
          <p:nvPr/>
        </p:nvSpPr>
        <p:spPr>
          <a:xfrm>
            <a:off x="9692640" y="2734056"/>
            <a:ext cx="595274" cy="118872"/>
          </a:xfrm>
          <a:prstGeom prst="rect">
            <a:avLst/>
          </a:prstGeom>
          <a:solidFill>
            <a:srgbClr val="2E5FA3"/>
          </a:solidFill>
          <a:ln w="635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6" name="Text 1126"/>
          <p:cNvSpPr/>
          <p:nvPr/>
        </p:nvSpPr>
        <p:spPr>
          <a:xfrm>
            <a:off x="11173968" y="2724912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b="1">
                <a:solidFill>
                  <a:srgbClr val="2E5FA3"/>
                </a:solidFill>
              </a:rPr>
              <a:t>19%</a:t>
            </a:r>
            <a:endParaRPr lang="en-US" sz="700"/>
          </a:p>
        </p:txBody>
      </p:sp>
      <p:sp>
        <p:nvSpPr>
          <p:cNvPr id="1127" name="Text 1127"/>
          <p:cNvSpPr/>
          <p:nvPr/>
        </p:nvSpPr>
        <p:spPr>
          <a:xfrm>
            <a:off x="8741664" y="2999232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0">
                <a:solidFill>
                  <a:srgbClr val="1F3D6B"/>
                </a:solidFill>
              </a:rPr>
              <a:t>D3</a:t>
            </a:r>
            <a:endParaRPr lang="en-US" sz="700"/>
          </a:p>
        </p:txBody>
      </p:sp>
      <p:sp>
        <p:nvSpPr>
          <p:cNvPr id="1128" name="Shape 1128"/>
          <p:cNvSpPr/>
          <p:nvPr/>
        </p:nvSpPr>
        <p:spPr>
          <a:xfrm>
            <a:off x="9692640" y="3008376"/>
            <a:ext cx="1417320" cy="118872"/>
          </a:xfrm>
          <a:prstGeom prst="rect">
            <a:avLst/>
          </a:prstGeom>
          <a:solidFill>
            <a:srgbClr val="EDF1F6"/>
          </a:solidFill>
          <a:ln w="6350">
            <a:solidFill>
              <a:srgbClr val="EDF1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9" name="Shape 1129"/>
          <p:cNvSpPr/>
          <p:nvPr/>
        </p:nvSpPr>
        <p:spPr>
          <a:xfrm>
            <a:off x="9692640" y="3008376"/>
            <a:ext cx="439369" cy="118872"/>
          </a:xfrm>
          <a:prstGeom prst="rect">
            <a:avLst/>
          </a:prstGeom>
          <a:solidFill>
            <a:srgbClr val="1E8E5A"/>
          </a:solidFill>
          <a:ln w="6350">
            <a:solidFill>
              <a:srgbClr val="1E8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0" name="Text 1130"/>
          <p:cNvSpPr/>
          <p:nvPr/>
        </p:nvSpPr>
        <p:spPr>
          <a:xfrm>
            <a:off x="11173968" y="2999232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b="1">
                <a:solidFill>
                  <a:srgbClr val="1E8E5A"/>
                </a:solidFill>
              </a:rPr>
              <a:t>15%</a:t>
            </a:r>
            <a:endParaRPr lang="en-US" sz="700"/>
          </a:p>
        </p:txBody>
      </p:sp>
      <p:sp>
        <p:nvSpPr>
          <p:cNvPr id="1131" name="Text 1131"/>
          <p:cNvSpPr/>
          <p:nvPr/>
        </p:nvSpPr>
        <p:spPr>
          <a:xfrm>
            <a:off x="8741664" y="3273552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0">
                <a:solidFill>
                  <a:srgbClr val="1F3D6B"/>
                </a:solidFill>
              </a:rPr>
              <a:t>D4-D10</a:t>
            </a:r>
            <a:endParaRPr lang="en-US" sz="700"/>
          </a:p>
        </p:txBody>
      </p:sp>
      <p:sp>
        <p:nvSpPr>
          <p:cNvPr id="1132" name="Shape 1132"/>
          <p:cNvSpPr/>
          <p:nvPr/>
        </p:nvSpPr>
        <p:spPr>
          <a:xfrm>
            <a:off x="9692640" y="3282696"/>
            <a:ext cx="1417320" cy="118872"/>
          </a:xfrm>
          <a:prstGeom prst="rect">
            <a:avLst/>
          </a:prstGeom>
          <a:solidFill>
            <a:srgbClr val="EDF1F6"/>
          </a:solidFill>
          <a:ln w="6350">
            <a:solidFill>
              <a:srgbClr val="EDF1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3" name="Shape 1133"/>
          <p:cNvSpPr/>
          <p:nvPr/>
        </p:nvSpPr>
        <p:spPr>
          <a:xfrm>
            <a:off x="9692640" y="3282696"/>
            <a:ext cx="977951" cy="118872"/>
          </a:xfrm>
          <a:prstGeom prst="rect">
            <a:avLst/>
          </a:prstGeom>
          <a:solidFill>
            <a:srgbClr val="4F84C4"/>
          </a:solidFill>
          <a:ln w="6350">
            <a:solidFill>
              <a:srgbClr val="4F84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4" name="Text 1134"/>
          <p:cNvSpPr/>
          <p:nvPr/>
        </p:nvSpPr>
        <p:spPr>
          <a:xfrm>
            <a:off x="11173968" y="3273552"/>
            <a:ext cx="502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b="1">
                <a:solidFill>
                  <a:srgbClr val="4F84C4"/>
                </a:solidFill>
              </a:rPr>
              <a:t>32%</a:t>
            </a:r>
            <a:endParaRPr lang="en-US" sz="700"/>
          </a:p>
        </p:txBody>
      </p:sp>
      <p:sp>
        <p:nvSpPr>
          <p:cNvPr id="1135" name="Shape 1135"/>
          <p:cNvSpPr/>
          <p:nvPr/>
        </p:nvSpPr>
        <p:spPr>
          <a:xfrm>
            <a:off x="8741664" y="3584448"/>
            <a:ext cx="2953512" cy="274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6" name="Text 1136"/>
          <p:cNvSpPr/>
          <p:nvPr/>
        </p:nvSpPr>
        <p:spPr>
          <a:xfrm>
            <a:off x="8851392" y="3648456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0">
                <a:solidFill>
                  <a:srgbClr val="8A94A6"/>
                </a:solidFill>
              </a:rPr>
              <a:t>Top decile share</a:t>
            </a:r>
            <a:endParaRPr lang="en-US" sz="700"/>
          </a:p>
        </p:txBody>
      </p:sp>
      <p:sp>
        <p:nvSpPr>
          <p:cNvPr id="1137" name="Text 1137"/>
          <p:cNvSpPr/>
          <p:nvPr/>
        </p:nvSpPr>
        <p:spPr>
          <a:xfrm>
            <a:off x="10332720" y="363931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b="1">
                <a:solidFill>
                  <a:srgbClr val="1F3D6B"/>
                </a:solidFill>
              </a:rPr>
              <a:t>D1 · 34%</a:t>
            </a:r>
            <a:endParaRPr lang="en-US" sz="800"/>
          </a:p>
        </p:txBody>
      </p:sp>
      <p:sp>
        <p:nvSpPr>
          <p:cNvPr id="1138" name="Text 1138"/>
          <p:cNvSpPr/>
          <p:nvPr/>
        </p:nvSpPr>
        <p:spPr>
          <a:xfrm>
            <a:off x="8741664" y="3913632"/>
            <a:ext cx="29535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00" b="0">
                <a:solidFill>
                  <a:srgbClr val="8A94A6"/>
                </a:solidFill>
              </a:rPr>
              <a:t>sum(net_sales) by decile · ntile(10) over member_id · agg_member_daily</a:t>
            </a:r>
            <a:endParaRPr lang="en-US" sz="600"/>
          </a:p>
        </p:txBody>
      </p:sp>
      <p:sp>
        <p:nvSpPr>
          <p:cNvPr id="1139" name="Shape 1139"/>
          <p:cNvSpPr/>
          <p:nvPr/>
        </p:nvSpPr>
        <p:spPr>
          <a:xfrm>
            <a:off x="594360" y="4279392"/>
            <a:ext cx="3703320" cy="1993392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7620">
            <a:solidFill>
              <a:srgbClr val="D8E1EA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40" name="Shape 1140"/>
          <p:cNvSpPr/>
          <p:nvPr/>
        </p:nvSpPr>
        <p:spPr>
          <a:xfrm>
            <a:off x="594360" y="4279392"/>
            <a:ext cx="45720" cy="1993392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1" name="Text 1141"/>
          <p:cNvSpPr/>
          <p:nvPr/>
        </p:nvSpPr>
        <p:spPr>
          <a:xfrm>
            <a:off x="722376" y="4361688"/>
            <a:ext cx="3447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>
                <a:solidFill>
                  <a:srgbClr val="1F3D6B"/>
                </a:solidFill>
              </a:rPr>
              <a:t>Decile Movement</a:t>
            </a:r>
            <a:endParaRPr lang="en-US" sz="1000"/>
          </a:p>
        </p:txBody>
      </p:sp>
      <p:sp>
        <p:nvSpPr>
          <p:cNvPr id="1142" name="Text 1142"/>
          <p:cNvSpPr/>
          <p:nvPr/>
        </p:nvSpPr>
        <p:spPr>
          <a:xfrm>
            <a:off x="722376" y="4562856"/>
            <a:ext cx="34472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0">
                <a:solidFill>
                  <a:srgbClr val="8A94A6"/>
                </a:solidFill>
              </a:rPr>
              <a:t>Share change vs last month</a:t>
            </a:r>
            <a:endParaRPr lang="en-US" sz="700"/>
          </a:p>
        </p:txBody>
      </p:sp>
      <p:sp>
        <p:nvSpPr>
          <p:cNvPr id="1143" name="Text 1143"/>
          <p:cNvSpPr/>
          <p:nvPr/>
        </p:nvSpPr>
        <p:spPr>
          <a:xfrm>
            <a:off x="722376" y="4754880"/>
            <a:ext cx="1463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00" b="1">
                <a:solidFill>
                  <a:srgbClr val="8A94A6"/>
                </a:solidFill>
              </a:rPr>
              <a:t>DECILE</a:t>
            </a:r>
            <a:endParaRPr lang="en-US" sz="600"/>
          </a:p>
        </p:txBody>
      </p:sp>
      <p:sp>
        <p:nvSpPr>
          <p:cNvPr id="1144" name="Text 1144"/>
          <p:cNvSpPr/>
          <p:nvPr/>
        </p:nvSpPr>
        <p:spPr>
          <a:xfrm>
            <a:off x="3630168" y="4754880"/>
            <a:ext cx="548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00" b="1">
                <a:solidFill>
                  <a:srgbClr val="8A94A6"/>
                </a:solidFill>
              </a:rPr>
              <a:t>pt</a:t>
            </a:r>
            <a:endParaRPr lang="en-US" sz="600"/>
          </a:p>
        </p:txBody>
      </p:sp>
      <p:sp>
        <p:nvSpPr>
          <p:cNvPr id="1145" name="Text 1145"/>
          <p:cNvSpPr/>
          <p:nvPr/>
        </p:nvSpPr>
        <p:spPr>
          <a:xfrm>
            <a:off x="722376" y="4882896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0">
                <a:solidFill>
                  <a:srgbClr val="1F3D6B"/>
                </a:solidFill>
              </a:rPr>
              <a:t>D1</a:t>
            </a:r>
            <a:endParaRPr lang="en-US" sz="700"/>
          </a:p>
        </p:txBody>
      </p:sp>
      <p:sp>
        <p:nvSpPr>
          <p:cNvPr id="1146" name="Shape 1146"/>
          <p:cNvSpPr/>
          <p:nvPr/>
        </p:nvSpPr>
        <p:spPr>
          <a:xfrm>
            <a:off x="2157984" y="4892040"/>
            <a:ext cx="1417320" cy="118872"/>
          </a:xfrm>
          <a:prstGeom prst="rect">
            <a:avLst/>
          </a:prstGeom>
          <a:solidFill>
            <a:srgbClr val="EDF1F6"/>
          </a:solidFill>
          <a:ln w="6350">
            <a:solidFill>
              <a:srgbClr val="EDF1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7" name="Shape 1147"/>
          <p:cNvSpPr/>
          <p:nvPr/>
        </p:nvSpPr>
        <p:spPr>
          <a:xfrm>
            <a:off x="2157984" y="4892040"/>
            <a:ext cx="1133856" cy="118872"/>
          </a:xfrm>
          <a:prstGeom prst="rect">
            <a:avLst/>
          </a:prstGeom>
          <a:solidFill>
            <a:srgbClr val="1E8E5A"/>
          </a:solidFill>
          <a:ln w="6350">
            <a:solidFill>
              <a:srgbClr val="1E8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8" name="Text 1148"/>
          <p:cNvSpPr/>
          <p:nvPr/>
        </p:nvSpPr>
        <p:spPr>
          <a:xfrm>
            <a:off x="3630168" y="4882896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b="1">
                <a:solidFill>
                  <a:srgbClr val="1E8E5A"/>
                </a:solidFill>
              </a:rPr>
              <a:t>+2.6</a:t>
            </a:r>
            <a:endParaRPr lang="en-US" sz="700"/>
          </a:p>
        </p:txBody>
      </p:sp>
      <p:sp>
        <p:nvSpPr>
          <p:cNvPr id="1149" name="Text 1149"/>
          <p:cNvSpPr/>
          <p:nvPr/>
        </p:nvSpPr>
        <p:spPr>
          <a:xfrm>
            <a:off x="722376" y="5120640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0">
                <a:solidFill>
                  <a:srgbClr val="1F3D6B"/>
                </a:solidFill>
              </a:rPr>
              <a:t>D2</a:t>
            </a:r>
            <a:endParaRPr lang="en-US" sz="700"/>
          </a:p>
        </p:txBody>
      </p:sp>
      <p:sp>
        <p:nvSpPr>
          <p:cNvPr id="1150" name="Shape 1150"/>
          <p:cNvSpPr/>
          <p:nvPr/>
        </p:nvSpPr>
        <p:spPr>
          <a:xfrm>
            <a:off x="2157984" y="5129784"/>
            <a:ext cx="1417320" cy="118872"/>
          </a:xfrm>
          <a:prstGeom prst="rect">
            <a:avLst/>
          </a:prstGeom>
          <a:solidFill>
            <a:srgbClr val="EDF1F6"/>
          </a:solidFill>
          <a:ln w="6350">
            <a:solidFill>
              <a:srgbClr val="EDF1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1" name="Shape 1151"/>
          <p:cNvSpPr/>
          <p:nvPr/>
        </p:nvSpPr>
        <p:spPr>
          <a:xfrm>
            <a:off x="2157984" y="5129784"/>
            <a:ext cx="425196" cy="118872"/>
          </a:xfrm>
          <a:prstGeom prst="rect">
            <a:avLst/>
          </a:prstGeom>
          <a:solidFill>
            <a:srgbClr val="1E8E5A"/>
          </a:solidFill>
          <a:ln w="6350">
            <a:solidFill>
              <a:srgbClr val="1E8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2" name="Text 1152"/>
          <p:cNvSpPr/>
          <p:nvPr/>
        </p:nvSpPr>
        <p:spPr>
          <a:xfrm>
            <a:off x="3630168" y="512064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b="1">
                <a:solidFill>
                  <a:srgbClr val="1E8E5A"/>
                </a:solidFill>
              </a:rPr>
              <a:t>+1.1</a:t>
            </a:r>
            <a:endParaRPr lang="en-US" sz="700"/>
          </a:p>
        </p:txBody>
      </p:sp>
      <p:sp>
        <p:nvSpPr>
          <p:cNvPr id="1153" name="Text 1153"/>
          <p:cNvSpPr/>
          <p:nvPr/>
        </p:nvSpPr>
        <p:spPr>
          <a:xfrm>
            <a:off x="722376" y="5358384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0">
                <a:solidFill>
                  <a:srgbClr val="4A5568"/>
                </a:solidFill>
              </a:rPr>
              <a:t>D5</a:t>
            </a:r>
            <a:endParaRPr lang="en-US" sz="700"/>
          </a:p>
        </p:txBody>
      </p:sp>
      <p:sp>
        <p:nvSpPr>
          <p:cNvPr id="1154" name="Shape 1154"/>
          <p:cNvSpPr/>
          <p:nvPr/>
        </p:nvSpPr>
        <p:spPr>
          <a:xfrm>
            <a:off x="2157984" y="5367528"/>
            <a:ext cx="1417320" cy="118872"/>
          </a:xfrm>
          <a:prstGeom prst="rect">
            <a:avLst/>
          </a:prstGeom>
          <a:solidFill>
            <a:srgbClr val="EDF1F6"/>
          </a:solidFill>
          <a:ln w="6350">
            <a:solidFill>
              <a:srgbClr val="EDF1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5" name="Shape 1155"/>
          <p:cNvSpPr/>
          <p:nvPr/>
        </p:nvSpPr>
        <p:spPr>
          <a:xfrm>
            <a:off x="3433572" y="5367528"/>
            <a:ext cx="141732" cy="118872"/>
          </a:xfrm>
          <a:prstGeom prst="rect">
            <a:avLst/>
          </a:prstGeom>
          <a:solidFill>
            <a:srgbClr val="C0392B"/>
          </a:solidFill>
          <a:ln w="63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6" name="Text 1156"/>
          <p:cNvSpPr/>
          <p:nvPr/>
        </p:nvSpPr>
        <p:spPr>
          <a:xfrm>
            <a:off x="3630168" y="5358384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b="1">
                <a:solidFill>
                  <a:srgbClr val="C0392B"/>
                </a:solidFill>
              </a:rPr>
              <a:t>-0.4</a:t>
            </a:r>
            <a:endParaRPr lang="en-US" sz="700"/>
          </a:p>
        </p:txBody>
      </p:sp>
      <p:sp>
        <p:nvSpPr>
          <p:cNvPr id="1157" name="Text 1157"/>
          <p:cNvSpPr/>
          <p:nvPr/>
        </p:nvSpPr>
        <p:spPr>
          <a:xfrm>
            <a:off x="722376" y="5596128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0">
                <a:solidFill>
                  <a:srgbClr val="4A5568"/>
                </a:solidFill>
              </a:rPr>
              <a:t>D8</a:t>
            </a:r>
            <a:endParaRPr lang="en-US" sz="700"/>
          </a:p>
        </p:txBody>
      </p:sp>
      <p:sp>
        <p:nvSpPr>
          <p:cNvPr id="1158" name="Shape 1158"/>
          <p:cNvSpPr/>
          <p:nvPr/>
        </p:nvSpPr>
        <p:spPr>
          <a:xfrm>
            <a:off x="2157984" y="5605272"/>
            <a:ext cx="1417320" cy="118872"/>
          </a:xfrm>
          <a:prstGeom prst="rect">
            <a:avLst/>
          </a:prstGeom>
          <a:solidFill>
            <a:srgbClr val="EDF1F6"/>
          </a:solidFill>
          <a:ln w="6350">
            <a:solidFill>
              <a:srgbClr val="EDF1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9" name="Shape 1159"/>
          <p:cNvSpPr/>
          <p:nvPr/>
        </p:nvSpPr>
        <p:spPr>
          <a:xfrm>
            <a:off x="3008376" y="5605272"/>
            <a:ext cx="566928" cy="118872"/>
          </a:xfrm>
          <a:prstGeom prst="rect">
            <a:avLst/>
          </a:prstGeom>
          <a:solidFill>
            <a:srgbClr val="C0392B"/>
          </a:solidFill>
          <a:ln w="63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0" name="Text 1160"/>
          <p:cNvSpPr/>
          <p:nvPr/>
        </p:nvSpPr>
        <p:spPr>
          <a:xfrm>
            <a:off x="3630168" y="5596128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b="1">
                <a:solidFill>
                  <a:srgbClr val="C0392B"/>
                </a:solidFill>
              </a:rPr>
              <a:t>-1.3</a:t>
            </a:r>
            <a:endParaRPr lang="en-US" sz="700"/>
          </a:p>
        </p:txBody>
      </p:sp>
      <p:sp>
        <p:nvSpPr>
          <p:cNvPr id="1161" name="Text 1161"/>
          <p:cNvSpPr/>
          <p:nvPr/>
        </p:nvSpPr>
        <p:spPr>
          <a:xfrm>
            <a:off x="722376" y="5833872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0">
                <a:solidFill>
                  <a:srgbClr val="4A5568"/>
                </a:solidFill>
              </a:rPr>
              <a:t>D10</a:t>
            </a:r>
            <a:endParaRPr lang="en-US" sz="700"/>
          </a:p>
        </p:txBody>
      </p:sp>
      <p:sp>
        <p:nvSpPr>
          <p:cNvPr id="1162" name="Shape 1162"/>
          <p:cNvSpPr/>
          <p:nvPr/>
        </p:nvSpPr>
        <p:spPr>
          <a:xfrm>
            <a:off x="2157984" y="5843016"/>
            <a:ext cx="1417320" cy="118872"/>
          </a:xfrm>
          <a:prstGeom prst="rect">
            <a:avLst/>
          </a:prstGeom>
          <a:solidFill>
            <a:srgbClr val="EDF1F6"/>
          </a:solidFill>
          <a:ln w="6350">
            <a:solidFill>
              <a:srgbClr val="EDF1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3" name="Shape 1163"/>
          <p:cNvSpPr/>
          <p:nvPr/>
        </p:nvSpPr>
        <p:spPr>
          <a:xfrm>
            <a:off x="2724912" y="5843016"/>
            <a:ext cx="850392" cy="118872"/>
          </a:xfrm>
          <a:prstGeom prst="rect">
            <a:avLst/>
          </a:prstGeom>
          <a:solidFill>
            <a:srgbClr val="C0392B"/>
          </a:solidFill>
          <a:ln w="63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4" name="Text 1164"/>
          <p:cNvSpPr/>
          <p:nvPr/>
        </p:nvSpPr>
        <p:spPr>
          <a:xfrm>
            <a:off x="3630168" y="5833872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b="1">
                <a:solidFill>
                  <a:srgbClr val="C0392B"/>
                </a:solidFill>
              </a:rPr>
              <a:t>-2.0</a:t>
            </a:r>
            <a:endParaRPr lang="en-US" sz="700"/>
          </a:p>
        </p:txBody>
      </p:sp>
      <p:sp>
        <p:nvSpPr>
          <p:cNvPr id="1165" name="Text 1165"/>
          <p:cNvSpPr/>
          <p:nvPr/>
        </p:nvSpPr>
        <p:spPr>
          <a:xfrm>
            <a:off x="722376" y="6062472"/>
            <a:ext cx="3383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50" b="0">
                <a:solidFill>
                  <a:srgbClr val="8A94A6"/>
                </a:solidFill>
              </a:rPr>
              <a:t>Click a bar → filter to that decile  ·  applies in place</a:t>
            </a:r>
            <a:endParaRPr lang="en-US" sz="650"/>
          </a:p>
        </p:txBody>
      </p:sp>
      <p:sp>
        <p:nvSpPr>
          <p:cNvPr id="1166" name="Shape 1166"/>
          <p:cNvSpPr/>
          <p:nvPr/>
        </p:nvSpPr>
        <p:spPr>
          <a:xfrm>
            <a:off x="4526280" y="4279392"/>
            <a:ext cx="3703320" cy="1993392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7620">
            <a:solidFill>
              <a:srgbClr val="D8E1EA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67" name="Shape 1167"/>
          <p:cNvSpPr/>
          <p:nvPr/>
        </p:nvSpPr>
        <p:spPr>
          <a:xfrm>
            <a:off x="4526280" y="4279392"/>
            <a:ext cx="45720" cy="1993392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8" name="Text 1168"/>
          <p:cNvSpPr/>
          <p:nvPr/>
        </p:nvSpPr>
        <p:spPr>
          <a:xfrm>
            <a:off x="4654296" y="4361688"/>
            <a:ext cx="3447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>
                <a:solidFill>
                  <a:srgbClr val="1F3D6B"/>
                </a:solidFill>
              </a:rPr>
              <a:t>Decile Table</a:t>
            </a:r>
            <a:endParaRPr lang="en-US" sz="1000"/>
          </a:p>
        </p:txBody>
      </p:sp>
      <p:sp>
        <p:nvSpPr>
          <p:cNvPr id="1169" name="Text 1169"/>
          <p:cNvSpPr/>
          <p:nvPr/>
        </p:nvSpPr>
        <p:spPr>
          <a:xfrm>
            <a:off x="4654296" y="4562856"/>
            <a:ext cx="34472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0">
                <a:solidFill>
                  <a:srgbClr val="8A94A6"/>
                </a:solidFill>
              </a:rPr>
              <a:t>Members, sales, share and growth by decile</a:t>
            </a:r>
            <a:endParaRPr lang="en-US" sz="700"/>
          </a:p>
        </p:txBody>
      </p:sp>
      <p:sp>
        <p:nvSpPr>
          <p:cNvPr id="1170" name="Text 1170"/>
          <p:cNvSpPr/>
          <p:nvPr/>
        </p:nvSpPr>
        <p:spPr>
          <a:xfrm>
            <a:off x="4654296" y="4754880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00" b="1">
                <a:solidFill>
                  <a:srgbClr val="8A94A6"/>
                </a:solidFill>
              </a:rPr>
              <a:t>DECILE</a:t>
            </a:r>
            <a:endParaRPr lang="en-US" sz="600"/>
          </a:p>
        </p:txBody>
      </p:sp>
      <p:sp>
        <p:nvSpPr>
          <p:cNvPr id="1171" name="Text 1171"/>
          <p:cNvSpPr/>
          <p:nvPr/>
        </p:nvSpPr>
        <p:spPr>
          <a:xfrm>
            <a:off x="5897880" y="4754880"/>
            <a:ext cx="777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00" b="1">
                <a:solidFill>
                  <a:srgbClr val="8A94A6"/>
                </a:solidFill>
              </a:rPr>
              <a:t>MEMBERS</a:t>
            </a:r>
            <a:endParaRPr lang="en-US" sz="600"/>
          </a:p>
        </p:txBody>
      </p:sp>
      <p:sp>
        <p:nvSpPr>
          <p:cNvPr id="1172" name="Text 1172"/>
          <p:cNvSpPr/>
          <p:nvPr/>
        </p:nvSpPr>
        <p:spPr>
          <a:xfrm>
            <a:off x="6766560" y="4754880"/>
            <a:ext cx="640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00" b="1">
                <a:solidFill>
                  <a:srgbClr val="8A94A6"/>
                </a:solidFill>
              </a:rPr>
              <a:t>SALES SHARE</a:t>
            </a:r>
            <a:endParaRPr lang="en-US" sz="600"/>
          </a:p>
        </p:txBody>
      </p:sp>
      <p:sp>
        <p:nvSpPr>
          <p:cNvPr id="1173" name="Text 1173"/>
          <p:cNvSpPr/>
          <p:nvPr/>
        </p:nvSpPr>
        <p:spPr>
          <a:xfrm>
            <a:off x="7452360" y="4754880"/>
            <a:ext cx="640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600" b="1">
                <a:solidFill>
                  <a:srgbClr val="8A94A6"/>
                </a:solidFill>
              </a:rPr>
              <a:t>MoM</a:t>
            </a:r>
            <a:endParaRPr lang="en-US" sz="600"/>
          </a:p>
        </p:txBody>
      </p:sp>
      <p:sp>
        <p:nvSpPr>
          <p:cNvPr id="1174" name="Shape 1174"/>
          <p:cNvSpPr/>
          <p:nvPr/>
        </p:nvSpPr>
        <p:spPr>
          <a:xfrm>
            <a:off x="4617720" y="4855464"/>
            <a:ext cx="35204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5" name="Text 1175"/>
          <p:cNvSpPr/>
          <p:nvPr/>
        </p:nvSpPr>
        <p:spPr>
          <a:xfrm>
            <a:off x="4654296" y="4882896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0">
                <a:solidFill>
                  <a:srgbClr val="1F3D6B"/>
                </a:solidFill>
              </a:rPr>
              <a:t>D1</a:t>
            </a:r>
            <a:endParaRPr lang="en-US" sz="700"/>
          </a:p>
        </p:txBody>
      </p:sp>
      <p:sp>
        <p:nvSpPr>
          <p:cNvPr id="1176" name="Text 1176"/>
          <p:cNvSpPr/>
          <p:nvPr/>
        </p:nvSpPr>
        <p:spPr>
          <a:xfrm>
            <a:off x="5897880" y="4882896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b="1">
                <a:solidFill>
                  <a:srgbClr val="1F3D6B"/>
                </a:solidFill>
              </a:rPr>
              <a:t>27.2K</a:t>
            </a:r>
            <a:endParaRPr lang="en-US" sz="700"/>
          </a:p>
        </p:txBody>
      </p:sp>
      <p:sp>
        <p:nvSpPr>
          <p:cNvPr id="1177" name="Text 1177"/>
          <p:cNvSpPr/>
          <p:nvPr/>
        </p:nvSpPr>
        <p:spPr>
          <a:xfrm>
            <a:off x="6766560" y="4882896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b="0">
                <a:solidFill>
                  <a:srgbClr val="4A5568"/>
                </a:solidFill>
              </a:rPr>
              <a:t>34.1%</a:t>
            </a:r>
            <a:endParaRPr lang="en-US" sz="700"/>
          </a:p>
        </p:txBody>
      </p:sp>
      <p:sp>
        <p:nvSpPr>
          <p:cNvPr id="1178" name="Text 1178"/>
          <p:cNvSpPr/>
          <p:nvPr/>
        </p:nvSpPr>
        <p:spPr>
          <a:xfrm>
            <a:off x="7452360" y="4882896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b="1">
                <a:solidFill>
                  <a:srgbClr val="1E8E5A"/>
                </a:solidFill>
              </a:rPr>
              <a:t>+3.4%</a:t>
            </a:r>
            <a:endParaRPr lang="en-US" sz="700"/>
          </a:p>
        </p:txBody>
      </p:sp>
      <p:sp>
        <p:nvSpPr>
          <p:cNvPr id="1179" name="Text 1179"/>
          <p:cNvSpPr/>
          <p:nvPr/>
        </p:nvSpPr>
        <p:spPr>
          <a:xfrm>
            <a:off x="4654296" y="5120640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0">
                <a:solidFill>
                  <a:srgbClr val="1F3D6B"/>
                </a:solidFill>
              </a:rPr>
              <a:t>D2</a:t>
            </a:r>
            <a:endParaRPr lang="en-US" sz="700"/>
          </a:p>
        </p:txBody>
      </p:sp>
      <p:sp>
        <p:nvSpPr>
          <p:cNvPr id="1180" name="Text 1180"/>
          <p:cNvSpPr/>
          <p:nvPr/>
        </p:nvSpPr>
        <p:spPr>
          <a:xfrm>
            <a:off x="5897880" y="5120640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b="1">
                <a:solidFill>
                  <a:srgbClr val="1F3D6B"/>
                </a:solidFill>
              </a:rPr>
              <a:t>27.2K</a:t>
            </a:r>
            <a:endParaRPr lang="en-US" sz="700"/>
          </a:p>
        </p:txBody>
      </p:sp>
      <p:sp>
        <p:nvSpPr>
          <p:cNvPr id="1181" name="Text 1181"/>
          <p:cNvSpPr/>
          <p:nvPr/>
        </p:nvSpPr>
        <p:spPr>
          <a:xfrm>
            <a:off x="6766560" y="5120640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b="0">
                <a:solidFill>
                  <a:srgbClr val="4A5568"/>
                </a:solidFill>
              </a:rPr>
              <a:t>19.3%</a:t>
            </a:r>
            <a:endParaRPr lang="en-US" sz="700"/>
          </a:p>
        </p:txBody>
      </p:sp>
      <p:sp>
        <p:nvSpPr>
          <p:cNvPr id="1182" name="Text 1182"/>
          <p:cNvSpPr/>
          <p:nvPr/>
        </p:nvSpPr>
        <p:spPr>
          <a:xfrm>
            <a:off x="7452360" y="5120640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b="1">
                <a:solidFill>
                  <a:srgbClr val="1E8E5A"/>
                </a:solidFill>
              </a:rPr>
              <a:t>+2.2%</a:t>
            </a:r>
            <a:endParaRPr lang="en-US" sz="700"/>
          </a:p>
        </p:txBody>
      </p:sp>
      <p:sp>
        <p:nvSpPr>
          <p:cNvPr id="1183" name="Shape 1183"/>
          <p:cNvSpPr/>
          <p:nvPr/>
        </p:nvSpPr>
        <p:spPr>
          <a:xfrm>
            <a:off x="4617720" y="5330952"/>
            <a:ext cx="35204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4" name="Text 1184"/>
          <p:cNvSpPr/>
          <p:nvPr/>
        </p:nvSpPr>
        <p:spPr>
          <a:xfrm>
            <a:off x="4654296" y="5358384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0">
                <a:solidFill>
                  <a:srgbClr val="1F3D6B"/>
                </a:solidFill>
              </a:rPr>
              <a:t>D3</a:t>
            </a:r>
            <a:endParaRPr lang="en-US" sz="700"/>
          </a:p>
        </p:txBody>
      </p:sp>
      <p:sp>
        <p:nvSpPr>
          <p:cNvPr id="1185" name="Text 1185"/>
          <p:cNvSpPr/>
          <p:nvPr/>
        </p:nvSpPr>
        <p:spPr>
          <a:xfrm>
            <a:off x="5897880" y="5358384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b="1">
                <a:solidFill>
                  <a:srgbClr val="1F3D6B"/>
                </a:solidFill>
              </a:rPr>
              <a:t>27.2K</a:t>
            </a:r>
            <a:endParaRPr lang="en-US" sz="700"/>
          </a:p>
        </p:txBody>
      </p:sp>
      <p:sp>
        <p:nvSpPr>
          <p:cNvPr id="1186" name="Text 1186"/>
          <p:cNvSpPr/>
          <p:nvPr/>
        </p:nvSpPr>
        <p:spPr>
          <a:xfrm>
            <a:off x="6766560" y="5358384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b="0">
                <a:solidFill>
                  <a:srgbClr val="4A5568"/>
                </a:solidFill>
              </a:rPr>
              <a:t>14.6%</a:t>
            </a:r>
            <a:endParaRPr lang="en-US" sz="700"/>
          </a:p>
        </p:txBody>
      </p:sp>
      <p:sp>
        <p:nvSpPr>
          <p:cNvPr id="1187" name="Text 1187"/>
          <p:cNvSpPr/>
          <p:nvPr/>
        </p:nvSpPr>
        <p:spPr>
          <a:xfrm>
            <a:off x="7452360" y="5358384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b="1">
                <a:solidFill>
                  <a:srgbClr val="1E8E5A"/>
                </a:solidFill>
              </a:rPr>
              <a:t>+1.0%</a:t>
            </a:r>
            <a:endParaRPr lang="en-US" sz="700"/>
          </a:p>
        </p:txBody>
      </p:sp>
      <p:sp>
        <p:nvSpPr>
          <p:cNvPr id="1188" name="Text 1188"/>
          <p:cNvSpPr/>
          <p:nvPr/>
        </p:nvSpPr>
        <p:spPr>
          <a:xfrm>
            <a:off x="4654296" y="5596128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0">
                <a:solidFill>
                  <a:srgbClr val="1F3D6B"/>
                </a:solidFill>
              </a:rPr>
              <a:t>D5</a:t>
            </a:r>
            <a:endParaRPr lang="en-US" sz="700"/>
          </a:p>
        </p:txBody>
      </p:sp>
      <p:sp>
        <p:nvSpPr>
          <p:cNvPr id="1189" name="Text 1189"/>
          <p:cNvSpPr/>
          <p:nvPr/>
        </p:nvSpPr>
        <p:spPr>
          <a:xfrm>
            <a:off x="5897880" y="5596128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b="1">
                <a:solidFill>
                  <a:srgbClr val="1F3D6B"/>
                </a:solidFill>
              </a:rPr>
              <a:t>27.2K</a:t>
            </a:r>
            <a:endParaRPr lang="en-US" sz="700"/>
          </a:p>
        </p:txBody>
      </p:sp>
      <p:sp>
        <p:nvSpPr>
          <p:cNvPr id="1190" name="Text 1190"/>
          <p:cNvSpPr/>
          <p:nvPr/>
        </p:nvSpPr>
        <p:spPr>
          <a:xfrm>
            <a:off x="6766560" y="5596128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b="0">
                <a:solidFill>
                  <a:srgbClr val="4A5568"/>
                </a:solidFill>
              </a:rPr>
              <a:t>8.4%</a:t>
            </a:r>
            <a:endParaRPr lang="en-US" sz="700"/>
          </a:p>
        </p:txBody>
      </p:sp>
      <p:sp>
        <p:nvSpPr>
          <p:cNvPr id="1191" name="Text 1191"/>
          <p:cNvSpPr/>
          <p:nvPr/>
        </p:nvSpPr>
        <p:spPr>
          <a:xfrm>
            <a:off x="7452360" y="5596128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b="1">
                <a:solidFill>
                  <a:srgbClr val="C0392B"/>
                </a:solidFill>
              </a:rPr>
              <a:t>-0.6%</a:t>
            </a:r>
            <a:endParaRPr lang="en-US" sz="700"/>
          </a:p>
        </p:txBody>
      </p:sp>
      <p:sp>
        <p:nvSpPr>
          <p:cNvPr id="1192" name="Shape 1192"/>
          <p:cNvSpPr/>
          <p:nvPr/>
        </p:nvSpPr>
        <p:spPr>
          <a:xfrm>
            <a:off x="4617720" y="5806440"/>
            <a:ext cx="35204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3" name="Text 1193"/>
          <p:cNvSpPr/>
          <p:nvPr/>
        </p:nvSpPr>
        <p:spPr>
          <a:xfrm>
            <a:off x="4654296" y="5833872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0">
                <a:solidFill>
                  <a:srgbClr val="1F3D6B"/>
                </a:solidFill>
              </a:rPr>
              <a:t>D10</a:t>
            </a:r>
            <a:endParaRPr lang="en-US" sz="700"/>
          </a:p>
        </p:txBody>
      </p:sp>
      <p:sp>
        <p:nvSpPr>
          <p:cNvPr id="1194" name="Text 1194"/>
          <p:cNvSpPr/>
          <p:nvPr/>
        </p:nvSpPr>
        <p:spPr>
          <a:xfrm>
            <a:off x="5897880" y="5833872"/>
            <a:ext cx="777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b="1">
                <a:solidFill>
                  <a:srgbClr val="1F3D6B"/>
                </a:solidFill>
              </a:rPr>
              <a:t>27.2K</a:t>
            </a:r>
            <a:endParaRPr lang="en-US" sz="700"/>
          </a:p>
        </p:txBody>
      </p:sp>
      <p:sp>
        <p:nvSpPr>
          <p:cNvPr id="1195" name="Text 1195"/>
          <p:cNvSpPr/>
          <p:nvPr/>
        </p:nvSpPr>
        <p:spPr>
          <a:xfrm>
            <a:off x="6766560" y="5833872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b="0">
                <a:solidFill>
                  <a:srgbClr val="4A5568"/>
                </a:solidFill>
              </a:rPr>
              <a:t>1.2%</a:t>
            </a:r>
            <a:endParaRPr lang="en-US" sz="700"/>
          </a:p>
        </p:txBody>
      </p:sp>
      <p:sp>
        <p:nvSpPr>
          <p:cNvPr id="1196" name="Text 1196"/>
          <p:cNvSpPr/>
          <p:nvPr/>
        </p:nvSpPr>
        <p:spPr>
          <a:xfrm>
            <a:off x="7452360" y="5833872"/>
            <a:ext cx="640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b="1">
                <a:solidFill>
                  <a:srgbClr val="C0392B"/>
                </a:solidFill>
              </a:rPr>
              <a:t>-2.4%</a:t>
            </a:r>
            <a:endParaRPr lang="en-US" sz="700"/>
          </a:p>
        </p:txBody>
      </p:sp>
      <p:sp>
        <p:nvSpPr>
          <p:cNvPr id="1197" name="Text 1197"/>
          <p:cNvSpPr/>
          <p:nvPr/>
        </p:nvSpPr>
        <p:spPr>
          <a:xfrm>
            <a:off x="4654296" y="6062472"/>
            <a:ext cx="3383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50" b="0">
                <a:solidFill>
                  <a:srgbClr val="8A94A6"/>
                </a:solidFill>
              </a:rPr>
              <a:t>Click a row → filter to that decile  ·  applies in place</a:t>
            </a:r>
            <a:endParaRPr lang="en-US" sz="650"/>
          </a:p>
        </p:txBody>
      </p:sp>
      <p:sp>
        <p:nvSpPr>
          <p:cNvPr id="1198" name="Shape 1198"/>
          <p:cNvSpPr/>
          <p:nvPr/>
        </p:nvSpPr>
        <p:spPr>
          <a:xfrm>
            <a:off x="8458200" y="4279392"/>
            <a:ext cx="3383280" cy="1993392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7620">
            <a:solidFill>
              <a:srgbClr val="D8E1EA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99" name="Shape 1199"/>
          <p:cNvSpPr/>
          <p:nvPr/>
        </p:nvSpPr>
        <p:spPr>
          <a:xfrm>
            <a:off x="8458200" y="4279392"/>
            <a:ext cx="45720" cy="1993392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0" name="Text 1200"/>
          <p:cNvSpPr/>
          <p:nvPr/>
        </p:nvSpPr>
        <p:spPr>
          <a:xfrm>
            <a:off x="8586216" y="4361688"/>
            <a:ext cx="3127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>
                <a:solidFill>
                  <a:srgbClr val="1F3D6B"/>
                </a:solidFill>
              </a:rPr>
              <a:t>Cross-Filter from Here</a:t>
            </a:r>
            <a:endParaRPr lang="en-US" sz="1000"/>
          </a:p>
        </p:txBody>
      </p:sp>
      <p:sp>
        <p:nvSpPr>
          <p:cNvPr id="1201" name="Text 1201"/>
          <p:cNvSpPr/>
          <p:nvPr/>
        </p:nvSpPr>
        <p:spPr>
          <a:xfrm>
            <a:off x="8586216" y="4562856"/>
            <a:ext cx="31272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0">
                <a:solidFill>
                  <a:srgbClr val="8A94A6"/>
                </a:solidFill>
              </a:rPr>
              <a:t>Stays on this screen</a:t>
            </a:r>
            <a:endParaRPr lang="en-US" sz="700"/>
          </a:p>
        </p:txBody>
      </p:sp>
      <p:sp>
        <p:nvSpPr>
          <p:cNvPr id="1202" name="Shape 1202"/>
          <p:cNvSpPr/>
          <p:nvPr/>
        </p:nvSpPr>
        <p:spPr>
          <a:xfrm>
            <a:off x="8586216" y="4718304"/>
            <a:ext cx="3127248" cy="4023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3" name="Shape 1203"/>
          <p:cNvSpPr/>
          <p:nvPr/>
        </p:nvSpPr>
        <p:spPr>
          <a:xfrm>
            <a:off x="8586216" y="4718304"/>
            <a:ext cx="36576" cy="402336"/>
          </a:xfrm>
          <a:prstGeom prst="rect">
            <a:avLst/>
          </a:prstGeom>
          <a:solidFill>
            <a:srgbClr val="2E5FA3"/>
          </a:solidFill>
          <a:ln w="635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4" name="Shape 1204"/>
          <p:cNvSpPr/>
          <p:nvPr/>
        </p:nvSpPr>
        <p:spPr>
          <a:xfrm>
            <a:off x="8686800" y="4782312"/>
            <a:ext cx="475488" cy="155448"/>
          </a:xfrm>
          <a:prstGeom prst="roundRect">
            <a:avLst>
              <a:gd name="adj" fmla="val 25000"/>
            </a:avLst>
          </a:prstGeom>
          <a:solidFill>
            <a:srgbClr val="E8F0FA"/>
          </a:solidFill>
          <a:ln w="12700">
            <a:solidFill>
              <a:srgbClr val="E8F0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5" name="Text 1205"/>
          <p:cNvSpPr/>
          <p:nvPr/>
        </p:nvSpPr>
        <p:spPr>
          <a:xfrm>
            <a:off x="8686800" y="4800600"/>
            <a:ext cx="4754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80" b="1">
                <a:solidFill>
                  <a:srgbClr val="2E5FA3"/>
                </a:solidFill>
              </a:rPr>
              <a:t>L2</a:t>
            </a:r>
            <a:endParaRPr lang="en-US" sz="580"/>
          </a:p>
        </p:txBody>
      </p:sp>
      <p:sp>
        <p:nvSpPr>
          <p:cNvPr id="1206" name="Text 1206"/>
          <p:cNvSpPr/>
          <p:nvPr/>
        </p:nvSpPr>
        <p:spPr>
          <a:xfrm>
            <a:off x="9235440" y="4773168"/>
            <a:ext cx="2377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>
                <a:solidFill>
                  <a:srgbClr val="1F3D6B"/>
                </a:solidFill>
              </a:rPr>
              <a:t>Decile focus</a:t>
            </a:r>
            <a:endParaRPr lang="en-US" sz="720"/>
          </a:p>
        </p:txBody>
      </p:sp>
      <p:sp>
        <p:nvSpPr>
          <p:cNvPr id="1207" name="Text 1207"/>
          <p:cNvSpPr/>
          <p:nvPr/>
        </p:nvSpPr>
        <p:spPr>
          <a:xfrm>
            <a:off x="9235440" y="4937760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20" b="0">
                <a:solidFill>
                  <a:srgbClr val="8A94A6"/>
                </a:solidFill>
              </a:rPr>
              <a:t>Re-filters every panel on this screen</a:t>
            </a:r>
            <a:endParaRPr lang="en-US" sz="620"/>
          </a:p>
        </p:txBody>
      </p:sp>
      <p:sp>
        <p:nvSpPr>
          <p:cNvPr id="1208" name="Shape 1208"/>
          <p:cNvSpPr/>
          <p:nvPr/>
        </p:nvSpPr>
        <p:spPr>
          <a:xfrm>
            <a:off x="8586216" y="5138928"/>
            <a:ext cx="3127248" cy="4023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9" name="Shape 1209"/>
          <p:cNvSpPr/>
          <p:nvPr/>
        </p:nvSpPr>
        <p:spPr>
          <a:xfrm>
            <a:off x="8586216" y="5138928"/>
            <a:ext cx="36576" cy="402336"/>
          </a:xfrm>
          <a:prstGeom prst="rect">
            <a:avLst/>
          </a:prstGeom>
          <a:solidFill>
            <a:srgbClr val="2E5FA3"/>
          </a:solidFill>
          <a:ln w="635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0" name="Shape 1210"/>
          <p:cNvSpPr/>
          <p:nvPr/>
        </p:nvSpPr>
        <p:spPr>
          <a:xfrm>
            <a:off x="8686800" y="5202936"/>
            <a:ext cx="475488" cy="155448"/>
          </a:xfrm>
          <a:prstGeom prst="roundRect">
            <a:avLst>
              <a:gd name="adj" fmla="val 25000"/>
            </a:avLst>
          </a:prstGeom>
          <a:solidFill>
            <a:srgbClr val="E8F0FA"/>
          </a:solidFill>
          <a:ln w="12700">
            <a:solidFill>
              <a:srgbClr val="E8F0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1" name="Text 1211"/>
          <p:cNvSpPr/>
          <p:nvPr/>
        </p:nvSpPr>
        <p:spPr>
          <a:xfrm>
            <a:off x="8686800" y="5221224"/>
            <a:ext cx="4754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80" b="1">
                <a:solidFill>
                  <a:srgbClr val="2E5FA3"/>
                </a:solidFill>
              </a:rPr>
              <a:t>L2</a:t>
            </a:r>
            <a:endParaRPr lang="en-US" sz="580"/>
          </a:p>
        </p:txBody>
      </p:sp>
      <p:sp>
        <p:nvSpPr>
          <p:cNvPr id="1212" name="Text 1212"/>
          <p:cNvSpPr/>
          <p:nvPr/>
        </p:nvSpPr>
        <p:spPr>
          <a:xfrm>
            <a:off x="9235440" y="5193792"/>
            <a:ext cx="2377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>
                <a:solidFill>
                  <a:srgbClr val="1F3D6B"/>
                </a:solidFill>
              </a:rPr>
              <a:t>Decile × segment</a:t>
            </a:r>
            <a:endParaRPr lang="en-US" sz="720"/>
          </a:p>
        </p:txBody>
      </p:sp>
      <p:sp>
        <p:nvSpPr>
          <p:cNvPr id="1213" name="Text 1213"/>
          <p:cNvSpPr/>
          <p:nvPr/>
        </p:nvSpPr>
        <p:spPr>
          <a:xfrm>
            <a:off x="9235440" y="5358384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20" b="0">
                <a:solidFill>
                  <a:srgbClr val="8A94A6"/>
                </a:solidFill>
              </a:rPr>
              <a:t>Splits the panels by age and region</a:t>
            </a:r>
            <a:endParaRPr lang="en-US" sz="620"/>
          </a:p>
        </p:txBody>
      </p:sp>
      <p:sp>
        <p:nvSpPr>
          <p:cNvPr id="1214" name="Shape 1214"/>
          <p:cNvSpPr/>
          <p:nvPr/>
        </p:nvSpPr>
        <p:spPr>
          <a:xfrm>
            <a:off x="8586216" y="5559552"/>
            <a:ext cx="3127248" cy="4023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5" name="Shape 1215"/>
          <p:cNvSpPr/>
          <p:nvPr/>
        </p:nvSpPr>
        <p:spPr>
          <a:xfrm>
            <a:off x="8586216" y="5559552"/>
            <a:ext cx="36576" cy="402336"/>
          </a:xfrm>
          <a:prstGeom prst="rect">
            <a:avLst/>
          </a:prstGeom>
          <a:solidFill>
            <a:srgbClr val="C0392B"/>
          </a:solidFill>
          <a:ln w="63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6" name="Shape 1216"/>
          <p:cNvSpPr/>
          <p:nvPr/>
        </p:nvSpPr>
        <p:spPr>
          <a:xfrm>
            <a:off x="8686800" y="5623560"/>
            <a:ext cx="475488" cy="155448"/>
          </a:xfrm>
          <a:prstGeom prst="roundRect">
            <a:avLst>
              <a:gd name="adj" fmla="val 25000"/>
            </a:avLst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7" name="Text 1217"/>
          <p:cNvSpPr/>
          <p:nvPr/>
        </p:nvSpPr>
        <p:spPr>
          <a:xfrm>
            <a:off x="8686800" y="5641848"/>
            <a:ext cx="4754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80" b="1">
                <a:solidFill>
                  <a:srgbClr val="C0392B"/>
                </a:solidFill>
              </a:rPr>
              <a:t>ALERT</a:t>
            </a:r>
            <a:endParaRPr lang="en-US" sz="580"/>
          </a:p>
        </p:txBody>
      </p:sp>
      <p:sp>
        <p:nvSpPr>
          <p:cNvPr id="1218" name="Text 1218"/>
          <p:cNvSpPr/>
          <p:nvPr/>
        </p:nvSpPr>
        <p:spPr>
          <a:xfrm>
            <a:off x="9235440" y="5614416"/>
            <a:ext cx="2377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>
                <a:solidFill>
                  <a:srgbClr val="1F3D6B"/>
                </a:solidFill>
              </a:rPr>
              <a:t>D10 share -2.0pt</a:t>
            </a:r>
            <a:endParaRPr lang="en-US" sz="720"/>
          </a:p>
        </p:txBody>
      </p:sp>
      <p:sp>
        <p:nvSpPr>
          <p:cNvPr id="1219" name="Text 1219"/>
          <p:cNvSpPr/>
          <p:nvPr/>
        </p:nvSpPr>
        <p:spPr>
          <a:xfrm>
            <a:off x="9235440" y="5779008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20" b="0">
                <a:solidFill>
                  <a:srgbClr val="8A94A6"/>
                </a:solidFill>
              </a:rPr>
              <a:t>Low-value members shrinking for 3 months</a:t>
            </a:r>
            <a:endParaRPr lang="en-US" sz="620"/>
          </a:p>
        </p:txBody>
      </p:sp>
      <p:sp>
        <p:nvSpPr>
          <p:cNvPr id="1220" name="Text 1220"/>
          <p:cNvSpPr/>
          <p:nvPr/>
        </p:nvSpPr>
        <p:spPr>
          <a:xfrm>
            <a:off x="8586216" y="6062472"/>
            <a:ext cx="3383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50" b="0">
                <a:solidFill>
                  <a:srgbClr val="8A94A6"/>
                </a:solidFill>
              </a:rPr>
              <a:t>Selections carry across L1 and L2 — no deeper screen</a:t>
            </a:r>
            <a:endParaRPr lang="en-US" sz="650"/>
          </a:p>
        </p:txBody>
      </p:sp>
      <p:sp>
        <p:nvSpPr>
          <p:cNvPr id="80" name="Slide Number Placeholder 0">
            <a:extLst>
              <a:ext uri="{FF2B5EF4-FFF2-40B4-BE49-F238E27FC236}">
                <a16:creationId xmlns:a16="http://schemas.microsoft.com/office/drawing/2014/main" id="{95273B6F-A59E-1331-7B20-A432456C850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58016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794">
                <a:solidFill>
                  <a:srgbClr val="8B95A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7950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5334000" y="3329940"/>
            <a:ext cx="2743200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D6B"/>
                </a:solidFill>
              </a:rPr>
              <a:t>END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58016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8B95A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FS_経営会議用マス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9EBF5">
            <a:alpha val="70000"/>
          </a:srgbClr>
        </a:solidFill>
        <a:ln>
          <a:noFill/>
        </a:ln>
      </a:spPr>
      <a:bodyPr lIns="0" rIns="0" rtlCol="0" anchor="ctr"/>
      <a:lstStyle>
        <a:defPPr algn="ctr">
          <a:defRPr kumimoji="1" sz="1400" dirty="0" smtClean="0">
            <a:solidFill>
              <a:schemeClr val="tx1"/>
            </a:solidFill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36000" tIns="36000" rIns="36000" bIns="36000" rtlCol="0">
        <a:noAutofit/>
      </a:bodyPr>
      <a:lstStyle>
        <a:defPPr algn="l">
          <a:defRPr sz="1600" dirty="0" smtClean="0"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AFS_経営会議用マス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9EBF5">
            <a:alpha val="70000"/>
          </a:srgbClr>
        </a:solidFill>
        <a:ln>
          <a:noFill/>
        </a:ln>
      </a:spPr>
      <a:bodyPr lIns="0" rIns="0" rtlCol="0" anchor="ctr"/>
      <a:lstStyle>
        <a:defPPr algn="ctr">
          <a:defRPr kumimoji="1" sz="1400" dirty="0" smtClean="0">
            <a:solidFill>
              <a:schemeClr val="tx1"/>
            </a:solidFill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36000" tIns="36000" rIns="36000" bIns="36000" rtlCol="0">
        <a:noAutofit/>
      </a:bodyPr>
      <a:lstStyle>
        <a:defPPr algn="l">
          <a:defRPr sz="1600" dirty="0" smtClean="0"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AFS_経営会議用マス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9EBF5"/>
        </a:solidFill>
        <a:ln>
          <a:noFill/>
        </a:ln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l" hangingPunct="1">
          <a:spcBef>
            <a:spcPts val="300"/>
          </a:spcBef>
          <a:defRPr kumimoji="1" sz="1400" dirty="0">
            <a:solidFill>
              <a:schemeClr val="tx1"/>
            </a:solidFill>
            <a:latin typeface="BIZ UDPゴシック" panose="020B0400000000000000" pitchFamily="50" charset="-128"/>
            <a:ea typeface="BIZ UDPゴシック" panose="020B0400000000000000" pitchFamily="50" charset="-128"/>
            <a:cs typeface="Meiryo UI" panose="020B0604030504040204" pitchFamily="50" charset="-128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36000" tIns="36000" rIns="36000" bIns="36000" rtlCol="0">
        <a:spAutoFit/>
      </a:bodyPr>
      <a:lstStyle>
        <a:defPPr algn="l">
          <a:lnSpc>
            <a:spcPct val="120000"/>
          </a:lnSpc>
          <a:defRPr kumimoji="1" sz="1400" dirty="0" smtClean="0"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プレゼンテーション2" id="{6C92B7AB-3364-48A4-BE23-D47E31C2B2E7}" vid="{EAF0203E-4FAA-439B-B2C3-E1BC83454FF6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f1705cee-2cc3-4c95-8cf5-0176b0bce43d}" enabled="1" method="Standard" siteId="{f7e6bf0c-8593-44eb-8595-c6c4e1c55d9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293</TotalTime>
  <Words>4040</Words>
  <Application>Microsoft Office PowerPoint</Application>
  <PresentationFormat>Widescreen</PresentationFormat>
  <Paragraphs>1054</Paragraphs>
  <Slides>16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BIZ UDPゴシック</vt:lpstr>
      <vt:lpstr>Meiryo UI</vt:lpstr>
      <vt:lpstr>Aptos</vt:lpstr>
      <vt:lpstr>Aptos Display</vt:lpstr>
      <vt:lpstr>Arial</vt:lpstr>
      <vt:lpstr>AFS_経営会議用マスタ</vt:lpstr>
      <vt:lpstr>1_AFS_経営会議用マスタ</vt:lpstr>
      <vt:lpstr>2_AFS_経営会議用マスタ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ACS Trading Vietnam Co., 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Merchant Analysis Dashboard Redesign Plan</dc:title>
  <dc:subject>Merchant Analysis Dashboard redesign plan for migration from Looker Studio to Superset and ClickHouse</dc:subject>
  <dc:creator>Kato Takashi</dc:creator>
  <cp:lastModifiedBy>Kato Takashi</cp:lastModifiedBy>
  <cp:revision>6</cp:revision>
  <dcterms:created xsi:type="dcterms:W3CDTF">2026-08-04T11:10:37Z</dcterms:created>
  <dcterms:modified xsi:type="dcterms:W3CDTF">2026-08-07T01:52:31Z</dcterms:modified>
</cp:coreProperties>
</file>