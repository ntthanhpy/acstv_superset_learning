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49" r:id="rId2"/>
    <p:sldMasterId id="2147483650" r:id="rId3"/>
  </p:sldMasterIdLst>
  <p:notesMasterIdLst>
    <p:notesMasterId r:id="rId9"/>
  </p:notesMasterIdLst>
  <p:sldIdLst>
    <p:sldId id="256" r:id="rId4"/>
    <p:sldId id="257" r:id="rId5"/>
    <p:sldId id="259" r:id="rId6"/>
    <p:sldId id="272" r:id="rId7"/>
    <p:sldId id="27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12B253-AD91-45A8-8414-ABBB7C27157B}" v="20" dt="2026-08-07T01:46:17.6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24" autoAdjust="0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72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o Takashi" userId="462256b7-6371-4185-848f-3c3de46a5740" providerId="ADAL" clId="{60A7ED73-7FAE-4EF2-A107-7CBAFD4916B0}"/>
    <pc:docChg chg="custSel addSld delSld modSld">
      <pc:chgData name="Kato Takashi" userId="462256b7-6371-4185-848f-3c3de46a5740" providerId="ADAL" clId="{60A7ED73-7FAE-4EF2-A107-7CBAFD4916B0}" dt="2026-08-07T02:05:53.863" v="467" actId="26606"/>
      <pc:docMkLst>
        <pc:docMk/>
      </pc:docMkLst>
      <pc:sldChg chg="modSp mod">
        <pc:chgData name="Kato Takashi" userId="462256b7-6371-4185-848f-3c3de46a5740" providerId="ADAL" clId="{60A7ED73-7FAE-4EF2-A107-7CBAFD4916B0}" dt="2026-08-07T02:05:53.863" v="467" actId="26606"/>
        <pc:sldMkLst>
          <pc:docMk/>
          <pc:sldMk cId="0" sldId="256"/>
        </pc:sldMkLst>
        <pc:spChg chg="add mod">
          <ac:chgData name="Kato Takashi" userId="462256b7-6371-4185-848f-3c3de46a5740" providerId="ADAL" clId="{60A7ED73-7FAE-4EF2-A107-7CBAFD4916B0}" dt="2026-08-07T02:05:53.863" v="467" actId="26606"/>
          <ac:spMkLst>
            <pc:docMk/>
            <pc:sldMk cId="0" sldId="256"/>
            <ac:spMk id="25" creationId="{00000000-0000-0000-0000-000000000000}"/>
          </ac:spMkLst>
        </pc:spChg>
      </pc:sldChg>
      <pc:sldChg chg="addSp delSp modSp mod">
        <pc:chgData name="Kato Takashi" userId="462256b7-6371-4185-848f-3c3de46a5740" providerId="ADAL" clId="{60A7ED73-7FAE-4EF2-A107-7CBAFD4916B0}" dt="2026-08-07T02:05:53.863" v="467" actId="26606"/>
        <pc:sldMkLst>
          <pc:docMk/>
          <pc:sldMk cId="0" sldId="257"/>
        </pc:sldMkLst>
        <pc:spChg chg="mod">
          <ac:chgData name="Kato Takashi" userId="462256b7-6371-4185-848f-3c3de46a5740" providerId="ADAL" clId="{60A7ED73-7FAE-4EF2-A107-7CBAFD4916B0}" dt="2026-08-07T02:03:51.740" v="466" actId="26606"/>
          <ac:spMkLst>
            <pc:docMk/>
            <pc:sldMk cId="0" sldId="257"/>
            <ac:spMk id="8" creationId="{00000000-0000-0000-0000-000000000000}"/>
          </ac:spMkLst>
        </pc:spChg>
        <pc:spChg chg="mod">
          <ac:chgData name="Kato Takashi" userId="462256b7-6371-4185-848f-3c3de46a5740" providerId="ADAL" clId="{60A7ED73-7FAE-4EF2-A107-7CBAFD4916B0}" dt="2026-08-07T02:05:53.863" v="467" actId="2660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Kato Takashi" userId="462256b7-6371-4185-848f-3c3de46a5740" providerId="ADAL" clId="{60A7ED73-7FAE-4EF2-A107-7CBAFD4916B0}" dt="2026-08-07T02:05:53.863" v="467" actId="2660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Kato Takashi" userId="462256b7-6371-4185-848f-3c3de46a5740" providerId="ADAL" clId="{60A7ED73-7FAE-4EF2-A107-7CBAFD4916B0}" dt="2026-08-07T02:05:53.863" v="467" actId="26606"/>
          <ac:spMkLst>
            <pc:docMk/>
            <pc:sldMk cId="0" sldId="257"/>
            <ac:spMk id="21" creationId="{00000000-0000-0000-0000-000000000000}"/>
          </ac:spMkLst>
        </pc:spChg>
        <pc:spChg chg="mod">
          <ac:chgData name="Kato Takashi" userId="462256b7-6371-4185-848f-3c3de46a5740" providerId="ADAL" clId="{60A7ED73-7FAE-4EF2-A107-7CBAFD4916B0}" dt="2026-08-07T02:05:53.863" v="467" actId="26606"/>
          <ac:spMkLst>
            <pc:docMk/>
            <pc:sldMk cId="0" sldId="257"/>
            <ac:spMk id="23" creationId="{00000000-0000-0000-0000-000000000000}"/>
          </ac:spMkLst>
        </pc:spChg>
        <pc:spChg chg="mod">
          <ac:chgData name="Kato Takashi" userId="462256b7-6371-4185-848f-3c3de46a5740" providerId="ADAL" clId="{60A7ED73-7FAE-4EF2-A107-7CBAFD4916B0}" dt="2026-08-07T02:05:53.863" v="467" actId="26606"/>
          <ac:spMkLst>
            <pc:docMk/>
            <pc:sldMk cId="0" sldId="257"/>
            <ac:spMk id="26" creationId="{00000000-0000-0000-0000-000000000000}"/>
          </ac:spMkLst>
        </pc:spChg>
        <pc:spChg chg="mod">
          <ac:chgData name="Kato Takashi" userId="462256b7-6371-4185-848f-3c3de46a5740" providerId="ADAL" clId="{60A7ED73-7FAE-4EF2-A107-7CBAFD4916B0}" dt="2026-08-07T02:05:53.863" v="467" actId="26606"/>
          <ac:spMkLst>
            <pc:docMk/>
            <pc:sldMk cId="0" sldId="257"/>
            <ac:spMk id="28" creationId="{00000000-0000-0000-0000-000000000000}"/>
          </ac:spMkLst>
        </pc:spChg>
        <pc:spChg chg="mod">
          <ac:chgData name="Kato Takashi" userId="462256b7-6371-4185-848f-3c3de46a5740" providerId="ADAL" clId="{60A7ED73-7FAE-4EF2-A107-7CBAFD4916B0}" dt="2026-08-07T02:05:53.863" v="467" actId="26606"/>
          <ac:spMkLst>
            <pc:docMk/>
            <pc:sldMk cId="0" sldId="257"/>
            <ac:spMk id="33" creationId="{00000000-0000-0000-0000-000000000000}"/>
          </ac:spMkLst>
        </pc:spChg>
        <pc:spChg chg="add mod">
          <ac:chgData name="Kato Takashi" userId="462256b7-6371-4185-848f-3c3de46a5740" providerId="ADAL" clId="{60A7ED73-7FAE-4EF2-A107-7CBAFD4916B0}" dt="2026-08-07T02:05:53.863" v="467" actId="26606"/>
          <ac:spMkLst>
            <pc:docMk/>
            <pc:sldMk cId="0" sldId="257"/>
            <ac:spMk id="35" creationId="{00000000-0000-0000-0000-000000000000}"/>
          </ac:spMkLst>
        </pc:spChg>
        <pc:spChg chg="add del mod replId">
          <ac:chgData name="Kato Takashi" userId="462256b7-6371-4185-848f-3c3de46a5740" providerId="ADAL" clId="{60A7ED73-7FAE-4EF2-A107-7CBAFD4916B0}" dt="2026-08-07T02:05:53.863" v="467" actId="26606"/>
          <ac:spMkLst>
            <pc:docMk/>
            <pc:sldMk cId="0" sldId="257"/>
            <ac:spMk id="38" creationId="{00000000-0000-0000-0000-000000000000}"/>
          </ac:spMkLst>
        </pc:spChg>
        <pc:spChg chg="add">
          <ac:chgData name="Kato Takashi" userId="462256b7-6371-4185-848f-3c3de46a5740" providerId="ADAL" clId="{60A7ED73-7FAE-4EF2-A107-7CBAFD4916B0}" dt="2026-08-07T02:05:53.863" v="467" actId="26606"/>
          <ac:spMkLst>
            <pc:docMk/>
            <pc:sldMk cId="0" sldId="257"/>
            <ac:spMk id="41" creationId="{00000000-0000-0000-0000-000000000000}"/>
          </ac:spMkLst>
        </pc:spChg>
      </pc:sldChg>
      <pc:sldChg chg="del">
        <pc:chgData name="Kato Takashi" userId="462256b7-6371-4185-848f-3c3de46a5740" providerId="ADAL" clId="{60A7ED73-7FAE-4EF2-A107-7CBAFD4916B0}" dt="2026-08-07T01:31:25.666" v="0" actId="2696"/>
        <pc:sldMkLst>
          <pc:docMk/>
          <pc:sldMk cId="0" sldId="258"/>
        </pc:sldMkLst>
      </pc:sldChg>
      <pc:sldChg chg="modSp mod">
        <pc:chgData name="Kato Takashi" userId="462256b7-6371-4185-848f-3c3de46a5740" providerId="ADAL" clId="{60A7ED73-7FAE-4EF2-A107-7CBAFD4916B0}" dt="2026-08-07T02:05:53.863" v="467" actId="26606"/>
        <pc:sldMkLst>
          <pc:docMk/>
          <pc:sldMk cId="0" sldId="259"/>
        </pc:sldMkLst>
        <pc:spChg chg="mod">
          <ac:chgData name="Kato Takashi" userId="462256b7-6371-4185-848f-3c3de46a5740" providerId="ADAL" clId="{60A7ED73-7FAE-4EF2-A107-7CBAFD4916B0}" dt="2026-08-07T02:00:37.810" v="464" actId="2660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Kato Takashi" userId="462256b7-6371-4185-848f-3c3de46a5740" providerId="ADAL" clId="{60A7ED73-7FAE-4EF2-A107-7CBAFD4916B0}" dt="2026-08-07T02:00:37.810" v="464" actId="2660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Kato Takashi" userId="462256b7-6371-4185-848f-3c3de46a5740" providerId="ADAL" clId="{60A7ED73-7FAE-4EF2-A107-7CBAFD4916B0}" dt="2026-08-07T02:00:37.810" v="464" actId="26606"/>
          <ac:spMkLst>
            <pc:docMk/>
            <pc:sldMk cId="0" sldId="259"/>
            <ac:spMk id="20" creationId="{00000000-0000-0000-0000-000000000000}"/>
          </ac:spMkLst>
        </pc:spChg>
        <pc:spChg chg="add mod">
          <ac:chgData name="Kato Takashi" userId="462256b7-6371-4185-848f-3c3de46a5740" providerId="ADAL" clId="{60A7ED73-7FAE-4EF2-A107-7CBAFD4916B0}" dt="2026-08-07T02:05:53.863" v="467" actId="26606"/>
          <ac:spMkLst>
            <pc:docMk/>
            <pc:sldMk cId="0" sldId="259"/>
            <ac:spMk id="25" creationId="{00000000-0000-0000-0000-000000000000}"/>
          </ac:spMkLst>
        </pc:spChg>
      </pc:sldChg>
      <pc:sldChg chg="modSp del mod">
        <pc:chgData name="Kato Takashi" userId="462256b7-6371-4185-848f-3c3de46a5740" providerId="ADAL" clId="{60A7ED73-7FAE-4EF2-A107-7CBAFD4916B0}" dt="2026-08-07T01:57:42.453" v="444" actId="2696"/>
        <pc:sldMkLst>
          <pc:docMk/>
          <pc:sldMk cId="0" sldId="260"/>
        </pc:sldMkLst>
        <pc:spChg chg="add mod">
          <ac:chgData name="Kato Takashi" userId="462256b7-6371-4185-848f-3c3de46a5740" providerId="ADAL" clId="{60A7ED73-7FAE-4EF2-A107-7CBAFD4916B0}" dt="2026-08-07T01:56:46.424" v="443" actId="26606"/>
          <ac:spMkLst>
            <pc:docMk/>
            <pc:sldMk cId="0" sldId="260"/>
            <ac:spMk id="43" creationId="{00000000-0000-0000-0000-000000000000}"/>
          </ac:spMkLst>
        </pc:spChg>
      </pc:sldChg>
      <pc:sldChg chg="modSp mod">
        <pc:chgData name="Kato Takashi" userId="462256b7-6371-4185-848f-3c3de46a5740" providerId="ADAL" clId="{60A7ED73-7FAE-4EF2-A107-7CBAFD4916B0}" dt="2026-08-07T02:05:53.863" v="467" actId="26606"/>
        <pc:sldMkLst>
          <pc:docMk/>
          <pc:sldMk cId="0" sldId="271"/>
        </pc:sldMkLst>
        <pc:spChg chg="mod">
          <ac:chgData name="Kato Takashi" userId="462256b7-6371-4185-848f-3c3de46a5740" providerId="ADAL" clId="{60A7ED73-7FAE-4EF2-A107-7CBAFD4916B0}" dt="2026-08-07T02:00:37.810" v="464" actId="26606"/>
          <ac:spMkLst>
            <pc:docMk/>
            <pc:sldMk cId="0" sldId="271"/>
            <ac:spMk id="5" creationId="{00000000-0000-0000-0000-000000000000}"/>
          </ac:spMkLst>
        </pc:spChg>
        <pc:spChg chg="add mod">
          <ac:chgData name="Kato Takashi" userId="462256b7-6371-4185-848f-3c3de46a5740" providerId="ADAL" clId="{60A7ED73-7FAE-4EF2-A107-7CBAFD4916B0}" dt="2026-08-07T02:05:53.863" v="467" actId="26606"/>
          <ac:spMkLst>
            <pc:docMk/>
            <pc:sldMk cId="0" sldId="271"/>
            <ac:spMk id="25" creationId="{00000000-0000-0000-0000-000000000000}"/>
          </ac:spMkLst>
        </pc:spChg>
      </pc:sldChg>
      <pc:sldChg chg="addSp delSp modSp add mod">
        <pc:chgData name="Kato Takashi" userId="462256b7-6371-4185-848f-3c3de46a5740" providerId="ADAL" clId="{60A7ED73-7FAE-4EF2-A107-7CBAFD4916B0}" dt="2026-08-07T02:05:53.863" v="467" actId="26606"/>
        <pc:sldMkLst>
          <pc:docMk/>
          <pc:sldMk cId="412248822" sldId="272"/>
        </pc:sldMkLst>
        <pc:spChg chg="mod">
          <ac:chgData name="Kato Takashi" userId="462256b7-6371-4185-848f-3c3de46a5740" providerId="ADAL" clId="{60A7ED73-7FAE-4EF2-A107-7CBAFD4916B0}" dt="2026-08-07T02:00:37.810" v="464" actId="26606"/>
          <ac:spMkLst>
            <pc:docMk/>
            <pc:sldMk cId="412248822" sldId="272"/>
            <ac:spMk id="2" creationId="{7FEE3D3E-95D5-A84E-47AD-FBF207B012AB}"/>
          </ac:spMkLst>
        </pc:spChg>
        <pc:spChg chg="mod">
          <ac:chgData name="Kato Takashi" userId="462256b7-6371-4185-848f-3c3de46a5740" providerId="ADAL" clId="{60A7ED73-7FAE-4EF2-A107-7CBAFD4916B0}" dt="2026-08-07T01:56:46.424" v="443" actId="26606"/>
          <ac:spMkLst>
            <pc:docMk/>
            <pc:sldMk cId="412248822" sldId="272"/>
            <ac:spMk id="3" creationId="{6584FD25-DB1F-A68E-27B9-1D933D2E319E}"/>
          </ac:spMkLst>
        </pc:spChg>
        <pc:spChg chg="del">
          <ac:chgData name="Kato Takashi" userId="462256b7-6371-4185-848f-3c3de46a5740" providerId="ADAL" clId="{60A7ED73-7FAE-4EF2-A107-7CBAFD4916B0}" dt="2026-08-07T01:31:57.916" v="2" actId="478"/>
          <ac:spMkLst>
            <pc:docMk/>
            <pc:sldMk cId="412248822" sldId="272"/>
            <ac:spMk id="5" creationId="{B0344C0B-42C7-CF8C-1959-C3D1AD778E3A}"/>
          </ac:spMkLst>
        </pc:spChg>
        <pc:spChg chg="del">
          <ac:chgData name="Kato Takashi" userId="462256b7-6371-4185-848f-3c3de46a5740" providerId="ADAL" clId="{60A7ED73-7FAE-4EF2-A107-7CBAFD4916B0}" dt="2026-08-07T01:31:57.916" v="2" actId="478"/>
          <ac:spMkLst>
            <pc:docMk/>
            <pc:sldMk cId="412248822" sldId="272"/>
            <ac:spMk id="8" creationId="{ED8581DB-0850-202B-2442-17DC56D26A64}"/>
          </ac:spMkLst>
        </pc:spChg>
        <pc:spChg chg="del">
          <ac:chgData name="Kato Takashi" userId="462256b7-6371-4185-848f-3c3de46a5740" providerId="ADAL" clId="{60A7ED73-7FAE-4EF2-A107-7CBAFD4916B0}" dt="2026-08-07T01:31:57.916" v="2" actId="478"/>
          <ac:spMkLst>
            <pc:docMk/>
            <pc:sldMk cId="412248822" sldId="272"/>
            <ac:spMk id="17" creationId="{B36FEF93-7F6B-A8DD-CB3A-194B12E3F45D}"/>
          </ac:spMkLst>
        </pc:spChg>
        <pc:spChg chg="del">
          <ac:chgData name="Kato Takashi" userId="462256b7-6371-4185-848f-3c3de46a5740" providerId="ADAL" clId="{60A7ED73-7FAE-4EF2-A107-7CBAFD4916B0}" dt="2026-08-07T01:31:57.916" v="2" actId="478"/>
          <ac:spMkLst>
            <pc:docMk/>
            <pc:sldMk cId="412248822" sldId="272"/>
            <ac:spMk id="19" creationId="{404B9D48-F423-4C8E-38BE-A6D5DF6DAEE4}"/>
          </ac:spMkLst>
        </pc:spChg>
        <pc:spChg chg="del">
          <ac:chgData name="Kato Takashi" userId="462256b7-6371-4185-848f-3c3de46a5740" providerId="ADAL" clId="{60A7ED73-7FAE-4EF2-A107-7CBAFD4916B0}" dt="2026-08-07T01:31:57.916" v="2" actId="478"/>
          <ac:spMkLst>
            <pc:docMk/>
            <pc:sldMk cId="412248822" sldId="272"/>
            <ac:spMk id="24" creationId="{D404C9CD-D156-3E71-DC4A-6E0C3ADCE70D}"/>
          </ac:spMkLst>
        </pc:spChg>
        <pc:spChg chg="del">
          <ac:chgData name="Kato Takashi" userId="462256b7-6371-4185-848f-3c3de46a5740" providerId="ADAL" clId="{60A7ED73-7FAE-4EF2-A107-7CBAFD4916B0}" dt="2026-08-07T01:31:57.916" v="2" actId="478"/>
          <ac:spMkLst>
            <pc:docMk/>
            <pc:sldMk cId="412248822" sldId="272"/>
            <ac:spMk id="33" creationId="{F4FD03D8-29B4-D71B-51CA-D3AC4D8D9D84}"/>
          </ac:spMkLst>
        </pc:spChg>
        <pc:spChg chg="del">
          <ac:chgData name="Kato Takashi" userId="462256b7-6371-4185-848f-3c3de46a5740" providerId="ADAL" clId="{60A7ED73-7FAE-4EF2-A107-7CBAFD4916B0}" dt="2026-08-07T01:31:57.916" v="2" actId="478"/>
          <ac:spMkLst>
            <pc:docMk/>
            <pc:sldMk cId="412248822" sldId="272"/>
            <ac:spMk id="37" creationId="{FD5DB267-22F6-B7DA-F173-0F4EA3E5C949}"/>
          </ac:spMkLst>
        </pc:spChg>
        <pc:spChg chg="del">
          <ac:chgData name="Kato Takashi" userId="462256b7-6371-4185-848f-3c3de46a5740" providerId="ADAL" clId="{60A7ED73-7FAE-4EF2-A107-7CBAFD4916B0}" dt="2026-08-07T01:31:57.916" v="2" actId="478"/>
          <ac:spMkLst>
            <pc:docMk/>
            <pc:sldMk cId="412248822" sldId="272"/>
            <ac:spMk id="38" creationId="{C65846B9-7BE9-0EAF-3A71-9572A4D13FCB}"/>
          </ac:spMkLst>
        </pc:spChg>
        <pc:spChg chg="del">
          <ac:chgData name="Kato Takashi" userId="462256b7-6371-4185-848f-3c3de46a5740" providerId="ADAL" clId="{60A7ED73-7FAE-4EF2-A107-7CBAFD4916B0}" dt="2026-08-07T01:31:57.916" v="2" actId="478"/>
          <ac:spMkLst>
            <pc:docMk/>
            <pc:sldMk cId="412248822" sldId="272"/>
            <ac:spMk id="41" creationId="{53124338-DE9D-17E2-0D8E-8AAF7099F239}"/>
          </ac:spMkLst>
        </pc:spChg>
        <pc:spChg chg="del">
          <ac:chgData name="Kato Takashi" userId="462256b7-6371-4185-848f-3c3de46a5740" providerId="ADAL" clId="{60A7ED73-7FAE-4EF2-A107-7CBAFD4916B0}" dt="2026-08-07T01:31:57.916" v="2" actId="478"/>
          <ac:spMkLst>
            <pc:docMk/>
            <pc:sldMk cId="412248822" sldId="272"/>
            <ac:spMk id="42" creationId="{B18E8D37-1AE7-F0D8-B3BE-5723829C6ECB}"/>
          </ac:spMkLst>
        </pc:spChg>
        <pc:spChg chg="add mod">
          <ac:chgData name="Kato Takashi" userId="462256b7-6371-4185-848f-3c3de46a5740" providerId="ADAL" clId="{60A7ED73-7FAE-4EF2-A107-7CBAFD4916B0}" dt="2026-08-07T02:05:53.863" v="467" actId="26606"/>
          <ac:spMkLst>
            <pc:docMk/>
            <pc:sldMk cId="412248822" sldId="272"/>
            <ac:spMk id="43" creationId="{B425CD6E-30A5-D0DA-B342-E9BFDA19C465}"/>
          </ac:spMkLst>
        </pc:spChg>
        <pc:graphicFrameChg chg="add mod modGraphic">
          <ac:chgData name="Kato Takashi" userId="462256b7-6371-4185-848f-3c3de46a5740" providerId="ADAL" clId="{60A7ED73-7FAE-4EF2-A107-7CBAFD4916B0}" dt="2026-08-07T02:00:37.810" v="464" actId="26606"/>
          <ac:graphicFrameMkLst>
            <pc:docMk/>
            <pc:sldMk cId="412248822" sldId="272"/>
            <ac:graphicFrameMk id="44" creationId="{BD0998C6-D8C1-3DD6-3C42-304542AE46E1}"/>
          </ac:graphicFrameMkLst>
        </pc:graphicFrameChg>
      </pc:sldChg>
      <pc:sldChg chg="add del">
        <pc:chgData name="Kato Takashi" userId="462256b7-6371-4185-848f-3c3de46a5740" providerId="ADAL" clId="{60A7ED73-7FAE-4EF2-A107-7CBAFD4916B0}" dt="2026-08-07T01:38:41.521" v="195" actId="2696"/>
        <pc:sldMkLst>
          <pc:docMk/>
          <pc:sldMk cId="3304781324" sldId="2147477820"/>
        </pc:sldMkLst>
      </pc:sldChg>
      <pc:sldChg chg="add del">
        <pc:chgData name="Kato Takashi" userId="462256b7-6371-4185-848f-3c3de46a5740" providerId="ADAL" clId="{60A7ED73-7FAE-4EF2-A107-7CBAFD4916B0}" dt="2026-08-07T01:38:38.436" v="194" actId="2696"/>
        <pc:sldMkLst>
          <pc:docMk/>
          <pc:sldMk cId="908194339" sldId="2147477823"/>
        </pc:sldMkLst>
      </pc:sldChg>
      <pc:sldChg chg="add del">
        <pc:chgData name="Kato Takashi" userId="462256b7-6371-4185-848f-3c3de46a5740" providerId="ADAL" clId="{60A7ED73-7FAE-4EF2-A107-7CBAFD4916B0}" dt="2026-08-07T01:38:45.157" v="196" actId="2696"/>
        <pc:sldMkLst>
          <pc:docMk/>
          <pc:sldMk cId="3981144753" sldId="214747782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07/08/2026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current dashboard screenshot and attached Fraud Monitoring Dashboard deck used as style and structure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Derived from user instructions: move Looker Studio dashboard to Superset and ClickHouse; improve speed, display capability, drill-down trend analysis, count-to-percent switching, and maximum nesting level L3.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 requested maximum nesting L3 and click-to-drill-down trend understanding.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7A66B-742F-0005-3171-24CD6422A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A7EA3D-492C-57F5-A1A0-276F2D397A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7B39C9-4D39-F23B-948B-10AF512C9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Structure follows the attached Fraud Monitoring Dashboard pattern of L1 → L2 → L3, adapted to Merchant </a:t>
            </a:r>
            <a:r>
              <a:rPr lang="en-US"/>
              <a:t>Insight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0C469-518F-2ED4-1A55-B8B13683A3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0032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Closing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用（無地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3965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用（メッセージ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158E56-EFE5-4373-B289-0D6C556DCD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000" y="266259"/>
            <a:ext cx="11480911" cy="36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000" b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/>
              <a:t>タイトル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D5FAD5-80A9-45D8-B596-C9B30FF33F1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6000" y="1112370"/>
            <a:ext cx="11880000" cy="400110"/>
          </a:xfrm>
          <a:prstGeom prst="rect">
            <a:avLst/>
          </a:prstGeom>
          <a:solidFill>
            <a:srgbClr val="E9EBF5"/>
          </a:solidFill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メッセージ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AD12A10-D55A-4FD8-A808-15A78B34DC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000" y="45696"/>
            <a:ext cx="11480400" cy="180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457200" indent="0">
              <a:buNone/>
              <a:defRPr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914400" indent="0">
              <a:buNone/>
              <a:defRPr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71600" indent="0">
              <a:buNone/>
              <a:defRPr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828800" indent="0">
              <a:buNone/>
              <a:defRPr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kumimoji="1" lang="ja-JP" altLang="en-US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780316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用（無地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9442700-C942-DFC7-A97A-B275EC7DFC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C5DA87-3110-4B93-9076-FD3046395AB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31769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用（メッセージ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158E56-EFE5-4373-B289-0D6C556DCD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000" y="266259"/>
            <a:ext cx="11480911" cy="36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000" b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/>
              <a:t>タイトル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D5FAD5-80A9-45D8-B596-C9B30FF33F1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6000" y="862204"/>
            <a:ext cx="11880000" cy="307777"/>
          </a:xfrm>
          <a:prstGeom prst="rect">
            <a:avLst/>
          </a:prstGeom>
          <a:solidFill>
            <a:srgbClr val="E9EBF5"/>
          </a:solidFill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メッセージ</a:t>
            </a:r>
          </a:p>
        </p:txBody>
      </p:sp>
      <p:sp>
        <p:nvSpPr>
          <p:cNvPr id="7" name="bk object 16">
            <a:extLst>
              <a:ext uri="{FF2B5EF4-FFF2-40B4-BE49-F238E27FC236}">
                <a16:creationId xmlns:a16="http://schemas.microsoft.com/office/drawing/2014/main" id="{7C290F00-D7DF-491C-BCA2-CBF9212E2900}"/>
              </a:ext>
            </a:extLst>
          </p:cNvPr>
          <p:cNvSpPr/>
          <p:nvPr userDrawn="1"/>
        </p:nvSpPr>
        <p:spPr>
          <a:xfrm>
            <a:off x="0" y="648716"/>
            <a:ext cx="12192000" cy="9064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0">
                <a:schemeClr val="accent1">
                  <a:lumMod val="0"/>
                  <a:lumOff val="100000"/>
                </a:schemeClr>
              </a:gs>
              <a:gs pos="100000">
                <a:srgbClr val="4B5CAE"/>
              </a:gs>
            </a:gsLst>
            <a:lin ang="10800000" scaled="1"/>
            <a:tileRect/>
          </a:gradFill>
        </p:spPr>
        <p:txBody>
          <a:bodyPr wrap="square" lIns="0" tIns="0" rIns="0" bIns="0" rtlCol="0"/>
          <a:lstStyle/>
          <a:p>
            <a:endParaRPr>
              <a:latin typeface="BIZ UDPゴシック" panose="020B0400000000000000" pitchFamily="50" charset="-128"/>
            </a:endParaRP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AD12A10-D55A-4FD8-A808-15A78B34DC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000" y="45696"/>
            <a:ext cx="11480400" cy="180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457200" indent="0">
              <a:buNone/>
              <a:defRPr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914400" indent="0">
              <a:buNone/>
              <a:defRPr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71600" indent="0">
              <a:buNone/>
              <a:defRPr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828800" indent="0">
              <a:buNone/>
              <a:defRPr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kumimoji="1" lang="ja-JP" altLang="en-US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012016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用（メッセージ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158E56-EFE5-4373-B289-0D6C556DCD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000" y="266259"/>
            <a:ext cx="11480911" cy="36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800" b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/>
              <a:t>タイトル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D5FAD5-80A9-45D8-B596-C9B30FF33F1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6000" y="786190"/>
            <a:ext cx="11880000" cy="33855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メッセージ</a:t>
            </a:r>
          </a:p>
        </p:txBody>
      </p:sp>
      <p:sp>
        <p:nvSpPr>
          <p:cNvPr id="7" name="bk object 16">
            <a:extLst>
              <a:ext uri="{FF2B5EF4-FFF2-40B4-BE49-F238E27FC236}">
                <a16:creationId xmlns:a16="http://schemas.microsoft.com/office/drawing/2014/main" id="{7C290F00-D7DF-491C-BCA2-CBF9212E2900}"/>
              </a:ext>
            </a:extLst>
          </p:cNvPr>
          <p:cNvSpPr/>
          <p:nvPr userDrawn="1"/>
        </p:nvSpPr>
        <p:spPr>
          <a:xfrm>
            <a:off x="0" y="648716"/>
            <a:ext cx="12192000" cy="9064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0">
                <a:schemeClr val="accent1">
                  <a:lumMod val="0"/>
                  <a:lumOff val="100000"/>
                </a:schemeClr>
              </a:gs>
              <a:gs pos="100000">
                <a:srgbClr val="4B5CAE"/>
              </a:gs>
            </a:gsLst>
            <a:lin ang="10800000" scaled="1"/>
            <a:tileRect/>
          </a:gradFill>
        </p:spPr>
        <p:txBody>
          <a:bodyPr wrap="square" lIns="0" tIns="0" rIns="0" bIns="0" rtlCol="0"/>
          <a:lstStyle/>
          <a:p>
            <a:endParaRPr>
              <a:latin typeface="BIZ UDPゴシック" panose="020B0400000000000000" pitchFamily="50" charset="-128"/>
            </a:endParaRP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AD12A10-D55A-4FD8-A808-15A78B34DC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000" y="45696"/>
            <a:ext cx="11480400" cy="180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457200" indent="0">
              <a:buNone/>
              <a:defRPr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914400" indent="0">
              <a:buNone/>
              <a:defRPr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71600" indent="0">
              <a:buNone/>
              <a:defRPr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828800" indent="0">
              <a:buNone/>
              <a:defRPr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kumimoji="1" lang="ja-JP" altLang="en-US"/>
              <a:t>サブタイトル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217E139-488B-42C9-997E-0FD25609576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BC5DA87-3110-4B93-9076-FD3046395AB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340132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用（無地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6597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k object 16">
            <a:extLst>
              <a:ext uri="{FF2B5EF4-FFF2-40B4-BE49-F238E27FC236}">
                <a16:creationId xmlns:a16="http://schemas.microsoft.com/office/drawing/2014/main" id="{2555DC2F-36DE-4562-BAAA-FFDAE12FD8EA}"/>
              </a:ext>
            </a:extLst>
          </p:cNvPr>
          <p:cNvSpPr/>
          <p:nvPr userDrawn="1"/>
        </p:nvSpPr>
        <p:spPr>
          <a:xfrm>
            <a:off x="0" y="830000"/>
            <a:ext cx="12192000" cy="9064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0">
                <a:schemeClr val="accent1">
                  <a:lumMod val="0"/>
                  <a:lumOff val="100000"/>
                </a:schemeClr>
              </a:gs>
              <a:gs pos="100000">
                <a:srgbClr val="4B5CAE"/>
              </a:gs>
            </a:gsLst>
            <a:lin ang="10800000" scaled="1"/>
            <a:tileRect/>
          </a:gradFill>
        </p:spPr>
        <p:txBody>
          <a:bodyPr wrap="square" lIns="0" tIns="0" rIns="0" bIns="0" rtlCol="0"/>
          <a:lstStyle/>
          <a:p>
            <a:endParaRPr>
              <a:latin typeface="BIZ UDPゴシック" panose="020B0400000000000000" pitchFamily="50" charset="-128"/>
            </a:endParaRPr>
          </a:p>
        </p:txBody>
      </p:sp>
      <p:sp>
        <p:nvSpPr>
          <p:cNvPr id="9" name="フッター プレースホルダー 4">
            <a:extLst>
              <a:ext uri="{FF2B5EF4-FFF2-40B4-BE49-F238E27FC236}">
                <a16:creationId xmlns:a16="http://schemas.microsoft.com/office/drawing/2014/main" id="{F8F4BAF3-BA5F-4DAD-9310-E83E9B1710ED}"/>
              </a:ext>
            </a:extLst>
          </p:cNvPr>
          <p:cNvSpPr txBox="1">
            <a:spLocks/>
          </p:cNvSpPr>
          <p:nvPr userDrawn="1"/>
        </p:nvSpPr>
        <p:spPr>
          <a:xfrm>
            <a:off x="0" y="6560000"/>
            <a:ext cx="3788450" cy="186708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ja-JP" sz="1000" b="0" i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ACS Trading Co., Ltd. </a:t>
            </a:r>
            <a:endParaRPr lang="ja-JP" altLang="en-US" sz="1000" b="0" i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スライド番号プレースホルダー 5">
            <a:extLst>
              <a:ext uri="{FF2B5EF4-FFF2-40B4-BE49-F238E27FC236}">
                <a16:creationId xmlns:a16="http://schemas.microsoft.com/office/drawing/2014/main" id="{755BC429-FC2A-4053-8E8E-5494B7243B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841" y="6578841"/>
            <a:ext cx="540000" cy="252000"/>
          </a:xfrm>
          <a:prstGeom prst="rect">
            <a:avLst/>
          </a:prstGeom>
        </p:spPr>
        <p:txBody>
          <a:bodyPr lIns="36000" tIns="36000" rIns="36000" bIns="36000"/>
          <a:lstStyle>
            <a:lvl1pPr algn="r">
              <a:defRPr sz="1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5BC5DA87-3110-4B93-9076-FD3046395AB2}" type="slidenum">
              <a:rPr lang="ja-JP" altLang="en-US" smtClean="0"/>
              <a:pPr/>
              <a:t>‹#›</a:t>
            </a:fld>
            <a:endParaRPr lang="ja-JP" altLang="en-US"/>
          </a:p>
        </p:txBody>
      </p:sp>
      <p:pic>
        <p:nvPicPr>
          <p:cNvPr id="2" name="Picture 16" descr="Công ty TNHH TM ACS Việt Nam">
            <a:extLst>
              <a:ext uri="{FF2B5EF4-FFF2-40B4-BE49-F238E27FC236}">
                <a16:creationId xmlns:a16="http://schemas.microsoft.com/office/drawing/2014/main" id="{3C344C40-AF04-8B01-9FBF-E8C005ED84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8192" y="88469"/>
            <a:ext cx="514734" cy="529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電子マネーＷＡＯＮポイント」を「ＷＡＯＮ ＰＯＩＮＴ」に統合 | イオン株式会社のプレスリリース">
            <a:extLst>
              <a:ext uri="{FF2B5EF4-FFF2-40B4-BE49-F238E27FC236}">
                <a16:creationId xmlns:a16="http://schemas.microsoft.com/office/drawing/2014/main" id="{ED86FA25-3609-164B-A8D1-4DCB8115BC3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310007" y="70289"/>
            <a:ext cx="707592" cy="61999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4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k object 16">
            <a:extLst>
              <a:ext uri="{FF2B5EF4-FFF2-40B4-BE49-F238E27FC236}">
                <a16:creationId xmlns:a16="http://schemas.microsoft.com/office/drawing/2014/main" id="{2555DC2F-36DE-4562-BAAA-FFDAE12FD8EA}"/>
              </a:ext>
            </a:extLst>
          </p:cNvPr>
          <p:cNvSpPr/>
          <p:nvPr userDrawn="1"/>
        </p:nvSpPr>
        <p:spPr>
          <a:xfrm>
            <a:off x="0" y="712087"/>
            <a:ext cx="12192000" cy="9064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0">
                <a:schemeClr val="accent1">
                  <a:lumMod val="0"/>
                  <a:lumOff val="100000"/>
                </a:schemeClr>
              </a:gs>
              <a:gs pos="100000">
                <a:srgbClr val="4B5CAE"/>
              </a:gs>
            </a:gsLst>
            <a:lin ang="10800000" scaled="1"/>
            <a:tileRect/>
          </a:gradFill>
        </p:spPr>
        <p:txBody>
          <a:bodyPr wrap="square" lIns="0" tIns="0" rIns="0" bIns="0" rtlCol="0"/>
          <a:lstStyle/>
          <a:p>
            <a:endParaRPr>
              <a:latin typeface="BIZ UDPゴシック" panose="020B0400000000000000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EB927C-4F7E-43FF-967A-794581A6E1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6" t="4211" r="3793" b="3972"/>
          <a:stretch/>
        </p:blipFill>
        <p:spPr>
          <a:xfrm>
            <a:off x="11491244" y="102583"/>
            <a:ext cx="510148" cy="528748"/>
          </a:xfrm>
          <a:prstGeom prst="rect">
            <a:avLst/>
          </a:prstGeom>
        </p:spPr>
      </p:pic>
      <p:sp>
        <p:nvSpPr>
          <p:cNvPr id="9" name="フッター プレースホルダー 4">
            <a:extLst>
              <a:ext uri="{FF2B5EF4-FFF2-40B4-BE49-F238E27FC236}">
                <a16:creationId xmlns:a16="http://schemas.microsoft.com/office/drawing/2014/main" id="{F8F4BAF3-BA5F-4DAD-9310-E83E9B1710ED}"/>
              </a:ext>
            </a:extLst>
          </p:cNvPr>
          <p:cNvSpPr txBox="1">
            <a:spLocks/>
          </p:cNvSpPr>
          <p:nvPr userDrawn="1"/>
        </p:nvSpPr>
        <p:spPr>
          <a:xfrm>
            <a:off x="0" y="6671292"/>
            <a:ext cx="3788450" cy="186708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ja-JP" sz="1000" b="0" i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AEON Financial Service Co., Ltd. </a:t>
            </a:r>
            <a:endParaRPr lang="ja-JP" altLang="en-US" sz="1000" b="0" i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スライド番号プレースホルダー 5">
            <a:extLst>
              <a:ext uri="{FF2B5EF4-FFF2-40B4-BE49-F238E27FC236}">
                <a16:creationId xmlns:a16="http://schemas.microsoft.com/office/drawing/2014/main" id="{755BC429-FC2A-4053-8E8E-5494B7243B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841" y="6578841"/>
            <a:ext cx="540000" cy="252000"/>
          </a:xfrm>
          <a:prstGeom prst="rect">
            <a:avLst/>
          </a:prstGeom>
        </p:spPr>
        <p:txBody>
          <a:bodyPr lIns="36000" tIns="36000" rIns="36000" bIns="36000"/>
          <a:lstStyle>
            <a:lvl1pPr algn="r">
              <a:defRPr sz="1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5BC5DA87-3110-4B93-9076-FD3046395AB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993398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k object 16">
            <a:extLst>
              <a:ext uri="{FF2B5EF4-FFF2-40B4-BE49-F238E27FC236}">
                <a16:creationId xmlns:a16="http://schemas.microsoft.com/office/drawing/2014/main" id="{2555DC2F-36DE-4562-BAAA-FFDAE12FD8EA}"/>
              </a:ext>
            </a:extLst>
          </p:cNvPr>
          <p:cNvSpPr/>
          <p:nvPr userDrawn="1"/>
        </p:nvSpPr>
        <p:spPr>
          <a:xfrm>
            <a:off x="0" y="712087"/>
            <a:ext cx="12192000" cy="9064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0">
                <a:schemeClr val="accent1">
                  <a:lumMod val="0"/>
                  <a:lumOff val="100000"/>
                </a:schemeClr>
              </a:gs>
              <a:gs pos="100000">
                <a:srgbClr val="4B5CAE"/>
              </a:gs>
            </a:gsLst>
            <a:lin ang="10800000" scaled="1"/>
            <a:tileRect/>
          </a:gradFill>
        </p:spPr>
        <p:txBody>
          <a:bodyPr wrap="square" lIns="0" tIns="0" rIns="0" bIns="0" rtlCol="0"/>
          <a:lstStyle/>
          <a:p>
            <a:endParaRPr>
              <a:latin typeface="BIZ UDPゴシック" panose="020B0400000000000000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EB927C-4F7E-43FF-967A-794581A6E1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6" t="4211" r="3793" b="3972"/>
          <a:stretch/>
        </p:blipFill>
        <p:spPr>
          <a:xfrm>
            <a:off x="11491244" y="102583"/>
            <a:ext cx="510148" cy="528748"/>
          </a:xfrm>
          <a:prstGeom prst="rect">
            <a:avLst/>
          </a:prstGeom>
        </p:spPr>
      </p:pic>
      <p:sp>
        <p:nvSpPr>
          <p:cNvPr id="9" name="フッター プレースホルダー 4">
            <a:extLst>
              <a:ext uri="{FF2B5EF4-FFF2-40B4-BE49-F238E27FC236}">
                <a16:creationId xmlns:a16="http://schemas.microsoft.com/office/drawing/2014/main" id="{F8F4BAF3-BA5F-4DAD-9310-E83E9B1710ED}"/>
              </a:ext>
            </a:extLst>
          </p:cNvPr>
          <p:cNvSpPr txBox="1">
            <a:spLocks/>
          </p:cNvSpPr>
          <p:nvPr userDrawn="1"/>
        </p:nvSpPr>
        <p:spPr>
          <a:xfrm>
            <a:off x="0" y="6671292"/>
            <a:ext cx="3788450" cy="186708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ja-JP" sz="1000" b="0" i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AEON Financial Service Co., Ltd. </a:t>
            </a:r>
            <a:endParaRPr lang="ja-JP" altLang="en-US" sz="1000" b="0" i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スライド番号プレースホルダー 5">
            <a:extLst>
              <a:ext uri="{FF2B5EF4-FFF2-40B4-BE49-F238E27FC236}">
                <a16:creationId xmlns:a16="http://schemas.microsoft.com/office/drawing/2014/main" id="{755BC429-FC2A-4053-8E8E-5494B7243B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841" y="6578841"/>
            <a:ext cx="540000" cy="252000"/>
          </a:xfrm>
          <a:prstGeom prst="rect">
            <a:avLst/>
          </a:prstGeom>
        </p:spPr>
        <p:txBody>
          <a:bodyPr lIns="36000" tIns="36000" rIns="36000" bIns="36000"/>
          <a:lstStyle>
            <a:lvl1pPr algn="r">
              <a:defRPr sz="1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5BC5DA87-3110-4B93-9076-FD3046395AB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60653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11480" y="1325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8" b="1">
                <a:solidFill>
                  <a:srgbClr val="C1912F"/>
                </a:solidFill>
              </a:rPr>
              <a:t>WWP Data Analytic Project</a:t>
            </a:r>
            <a:endParaRPr lang="en-US" sz="828"/>
          </a:p>
        </p:txBody>
      </p:sp>
      <p:sp>
        <p:nvSpPr>
          <p:cNvPr id="4" name="Text 1"/>
          <p:cNvSpPr/>
          <p:nvPr/>
        </p:nvSpPr>
        <p:spPr>
          <a:xfrm>
            <a:off x="411480" y="169164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75" b="1" dirty="0">
                <a:solidFill>
                  <a:srgbClr val="1F3D6B"/>
                </a:solidFill>
              </a:rPr>
              <a:t>(Draft) Redesign Plan of WAON POINT Dashboard</a:t>
            </a:r>
            <a:endParaRPr lang="en-US" sz="2875" dirty="0"/>
          </a:p>
        </p:txBody>
      </p:sp>
      <p:sp>
        <p:nvSpPr>
          <p:cNvPr id="5" name="Shape 2"/>
          <p:cNvSpPr/>
          <p:nvPr/>
        </p:nvSpPr>
        <p:spPr>
          <a:xfrm>
            <a:off x="411480" y="2542032"/>
            <a:ext cx="594360" cy="0"/>
          </a:xfrm>
          <a:prstGeom prst="line">
            <a:avLst/>
          </a:prstGeom>
          <a:noFill/>
          <a:ln w="16510">
            <a:solidFill>
              <a:srgbClr val="C191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11480" y="281635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2">
                <a:solidFill>
                  <a:srgbClr val="4A5568"/>
                </a:solidFill>
              </a:rPr>
              <a:t>Migration from Looker Studio to Apache Superset + ClickHouse</a:t>
            </a:r>
            <a:endParaRPr lang="en-US" sz="1322"/>
          </a:p>
        </p:txBody>
      </p:sp>
      <p:sp>
        <p:nvSpPr>
          <p:cNvPr id="7" name="Text 4"/>
          <p:cNvSpPr/>
          <p:nvPr/>
        </p:nvSpPr>
        <p:spPr>
          <a:xfrm>
            <a:off x="411480" y="382219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1">
                <a:solidFill>
                  <a:srgbClr val="4A5568"/>
                </a:solidFill>
              </a:rPr>
              <a:t>Data Management Department / IT Division</a:t>
            </a:r>
            <a:endParaRPr lang="en-US" sz="931"/>
          </a:p>
          <a:p>
            <a:pPr marL="0" indent="0">
              <a:buNone/>
            </a:pPr>
            <a:r>
              <a:rPr lang="en-US" sz="931">
                <a:solidFill>
                  <a:srgbClr val="4A5568"/>
                </a:solidFill>
              </a:rPr>
              <a:t>ACS Trading Vietnam Co., Ltd.</a:t>
            </a:r>
            <a:endParaRPr lang="en-US" sz="931"/>
          </a:p>
          <a:p>
            <a:pPr marL="0" indent="0">
              <a:buNone/>
            </a:pPr>
            <a:r>
              <a:rPr lang="en-US" sz="931">
                <a:solidFill>
                  <a:srgbClr val="4A5568"/>
                </a:solidFill>
              </a:rPr>
              <a:t>4th August 2026</a:t>
            </a:r>
            <a:endParaRPr lang="en-US" sz="931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8016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80">
                <a:solidFill>
                  <a:srgbClr val="8B95A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42" b="1">
                <a:solidFill>
                  <a:srgbClr val="1F3D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</a:t>
            </a:r>
            <a:endParaRPr lang="en-US" sz="2542"/>
          </a:p>
        </p:txBody>
      </p:sp>
      <p:sp>
        <p:nvSpPr>
          <p:cNvPr id="3" name="Text 1"/>
          <p:cNvSpPr/>
          <p:nvPr/>
        </p:nvSpPr>
        <p:spPr>
          <a:xfrm>
            <a:off x="274320" y="502920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6">
                <a:solidFill>
                  <a:srgbClr val="4A5568"/>
                </a:solidFill>
              </a:rPr>
              <a:t>Redesign the dashboard from a static report into an interactive analysis cockpit for trend discovery and operational drill-down.</a:t>
            </a:r>
            <a:endParaRPr lang="en-US" sz="1076"/>
          </a:p>
        </p:txBody>
      </p:sp>
      <p:sp>
        <p:nvSpPr>
          <p:cNvPr id="5" name="Shape 2"/>
          <p:cNvSpPr/>
          <p:nvPr/>
        </p:nvSpPr>
        <p:spPr>
          <a:xfrm>
            <a:off x="320040" y="1050000"/>
            <a:ext cx="3657600" cy="1604772"/>
          </a:xfrm>
          <a:prstGeom prst="roundRect">
            <a:avLst>
              <a:gd name="adj" fmla="val 3704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20040" y="1050000"/>
            <a:ext cx="45720" cy="160477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38912" y="1156984"/>
            <a:ext cx="3456432" cy="2615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F3D6B"/>
                </a:solidFill>
              </a:rPr>
              <a:t>Purpose of This Plan</a:t>
            </a:r>
            <a:endParaRPr lang="en-US" sz="1000"/>
          </a:p>
        </p:txBody>
      </p:sp>
      <p:sp>
        <p:nvSpPr>
          <p:cNvPr id="8" name="Text 5"/>
          <p:cNvSpPr/>
          <p:nvPr/>
        </p:nvSpPr>
        <p:spPr>
          <a:xfrm>
            <a:off x="438912" y="1489826"/>
            <a:ext cx="3456432" cy="10936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30">
                <a:solidFill>
                  <a:srgbClr val="4A5568"/>
                </a:solidFill>
              </a:rPr>
              <a:t>Define a new screen structure for Superset and ClickHouse migration that improves speed, visualization flexibility, and drill-down analysis.</a:t>
            </a:r>
            <a:endParaRPr lang="en-US" sz="830"/>
          </a:p>
        </p:txBody>
      </p:sp>
      <p:sp>
        <p:nvSpPr>
          <p:cNvPr id="9" name="Shape 6"/>
          <p:cNvSpPr/>
          <p:nvPr/>
        </p:nvSpPr>
        <p:spPr>
          <a:xfrm>
            <a:off x="4251960" y="1050000"/>
            <a:ext cx="3657600" cy="1604772"/>
          </a:xfrm>
          <a:prstGeom prst="roundRect">
            <a:avLst>
              <a:gd name="adj" fmla="val 3704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251960" y="1050000"/>
            <a:ext cx="45720" cy="16047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370832" y="1156984"/>
            <a:ext cx="3456432" cy="2615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F3D6B"/>
                </a:solidFill>
              </a:rPr>
              <a:t>Pain Points in Current Looker Studio</a:t>
            </a:r>
            <a:endParaRPr lang="en-US" sz="1000"/>
          </a:p>
        </p:txBody>
      </p:sp>
      <p:sp>
        <p:nvSpPr>
          <p:cNvPr id="12" name="Text 9"/>
          <p:cNvSpPr/>
          <p:nvPr/>
        </p:nvSpPr>
        <p:spPr>
          <a:xfrm>
            <a:off x="4370832" y="1489826"/>
            <a:ext cx="3456432" cy="10936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30">
                <a:solidFill>
                  <a:srgbClr val="4A5568"/>
                </a:solidFill>
              </a:rPr>
              <a:t>The screen shows headline numbers, but trends, contribution drivers, and cross-segment changes are difficult to understand from the same view.</a:t>
            </a:r>
            <a:endParaRPr lang="en-US" sz="830"/>
          </a:p>
        </p:txBody>
      </p:sp>
      <p:sp>
        <p:nvSpPr>
          <p:cNvPr id="13" name="Shape 10"/>
          <p:cNvSpPr/>
          <p:nvPr/>
        </p:nvSpPr>
        <p:spPr>
          <a:xfrm>
            <a:off x="8183880" y="1050000"/>
            <a:ext cx="3657600" cy="1604772"/>
          </a:xfrm>
          <a:prstGeom prst="roundRect">
            <a:avLst>
              <a:gd name="adj" fmla="val 3704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183880" y="1050000"/>
            <a:ext cx="45720" cy="16047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302752" y="1156984"/>
            <a:ext cx="3456432" cy="2615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F3D6B"/>
                </a:solidFill>
              </a:rPr>
              <a:t>Target User Experience</a:t>
            </a:r>
            <a:endParaRPr lang="en-US" sz="1000"/>
          </a:p>
        </p:txBody>
      </p:sp>
      <p:sp>
        <p:nvSpPr>
          <p:cNvPr id="16" name="Text 13"/>
          <p:cNvSpPr/>
          <p:nvPr/>
        </p:nvSpPr>
        <p:spPr>
          <a:xfrm>
            <a:off x="8302752" y="1489826"/>
            <a:ext cx="3456432" cy="10936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30">
                <a:solidFill>
                  <a:srgbClr val="4A5568"/>
                </a:solidFill>
              </a:rPr>
              <a:t>Click a KPI or chart segment, move to L2 or L3, and immediately understand growth, decline, share, and contributing segments.</a:t>
            </a:r>
            <a:endParaRPr lang="en-US" sz="830"/>
          </a:p>
        </p:txBody>
      </p:sp>
      <p:sp>
        <p:nvSpPr>
          <p:cNvPr id="17" name="Text 14"/>
          <p:cNvSpPr/>
          <p:nvPr/>
        </p:nvSpPr>
        <p:spPr>
          <a:xfrm>
            <a:off x="320040" y="3130260"/>
            <a:ext cx="3657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44" b="1" dirty="0">
                <a:solidFill>
                  <a:srgbClr val="1F3D6B"/>
                </a:solidFill>
              </a:rPr>
              <a:t>Main redesign themes</a:t>
            </a:r>
            <a:endParaRPr lang="en-US" sz="1944" dirty="0"/>
          </a:p>
        </p:txBody>
      </p:sp>
      <p:sp>
        <p:nvSpPr>
          <p:cNvPr id="18" name="Shape 15"/>
          <p:cNvSpPr/>
          <p:nvPr/>
        </p:nvSpPr>
        <p:spPr>
          <a:xfrm>
            <a:off x="320040" y="3665184"/>
            <a:ext cx="1765140" cy="1723644"/>
          </a:xfrm>
          <a:prstGeom prst="roundRect">
            <a:avLst>
              <a:gd name="adj" fmla="val 3448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20040" y="3665184"/>
            <a:ext cx="45720" cy="1723644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10040" y="3772168"/>
            <a:ext cx="1585140" cy="2615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F3D6B"/>
                </a:solidFill>
              </a:rPr>
              <a:t>1. Trend First</a:t>
            </a:r>
            <a:endParaRPr lang="en-US" sz="1000"/>
          </a:p>
        </p:txBody>
      </p:sp>
      <p:sp>
        <p:nvSpPr>
          <p:cNvPr id="21" name="Text 18"/>
          <p:cNvSpPr/>
          <p:nvPr/>
        </p:nvSpPr>
        <p:spPr>
          <a:xfrm>
            <a:off x="410040" y="4105010"/>
            <a:ext cx="1585140" cy="12124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30">
                <a:solidFill>
                  <a:srgbClr val="4A5568"/>
                </a:solidFill>
              </a:rPr>
              <a:t>Every KPI must open a trend view with daily / weekly / monthly granularity.</a:t>
            </a:r>
            <a:endParaRPr lang="en-US" sz="830"/>
          </a:p>
        </p:txBody>
      </p:sp>
      <p:sp>
        <p:nvSpPr>
          <p:cNvPr id="22" name="Shape 19"/>
          <p:cNvSpPr/>
          <p:nvPr/>
        </p:nvSpPr>
        <p:spPr>
          <a:xfrm>
            <a:off x="2225180" y="3665184"/>
            <a:ext cx="1765140" cy="1723644"/>
          </a:xfrm>
          <a:prstGeom prst="roundRect">
            <a:avLst>
              <a:gd name="adj" fmla="val 3448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2225180" y="3665184"/>
            <a:ext cx="45720" cy="1723644"/>
          </a:xfrm>
          <a:prstGeom prst="rect">
            <a:avLst/>
          </a:prstGeom>
          <a:solidFill>
            <a:srgbClr val="D02C8C"/>
          </a:solidFill>
          <a:ln w="12700">
            <a:solidFill>
              <a:srgbClr val="D02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2315180" y="3772168"/>
            <a:ext cx="1585140" cy="2615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F3D6B"/>
                </a:solidFill>
              </a:rPr>
              <a:t>2. Count ↔ % Switch</a:t>
            </a:r>
            <a:endParaRPr lang="en-US" sz="1000"/>
          </a:p>
        </p:txBody>
      </p:sp>
      <p:sp>
        <p:nvSpPr>
          <p:cNvPr id="25" name="Text 22"/>
          <p:cNvSpPr/>
          <p:nvPr/>
        </p:nvSpPr>
        <p:spPr>
          <a:xfrm>
            <a:off x="2315180" y="4105010"/>
            <a:ext cx="1585140" cy="12124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30">
                <a:solidFill>
                  <a:srgbClr val="4A5568"/>
                </a:solidFill>
              </a:rPr>
              <a:t>The same chart should toggle between absolute count, share %, growth %, and index.</a:t>
            </a:r>
            <a:endParaRPr lang="en-US" sz="830"/>
          </a:p>
        </p:txBody>
      </p:sp>
      <p:sp>
        <p:nvSpPr>
          <p:cNvPr id="26" name="Shape 23"/>
          <p:cNvSpPr/>
          <p:nvPr/>
        </p:nvSpPr>
        <p:spPr>
          <a:xfrm>
            <a:off x="4130320" y="3665184"/>
            <a:ext cx="1765140" cy="1723644"/>
          </a:xfrm>
          <a:prstGeom prst="roundRect">
            <a:avLst>
              <a:gd name="adj" fmla="val 3448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130320" y="3665184"/>
            <a:ext cx="45720" cy="1723644"/>
          </a:xfrm>
          <a:prstGeom prst="rect">
            <a:avLst/>
          </a:prstGeom>
          <a:solidFill>
            <a:srgbClr val="D98F1F"/>
          </a:solidFill>
          <a:ln w="12700">
            <a:solidFill>
              <a:srgbClr val="D98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220320" y="3772168"/>
            <a:ext cx="1585140" cy="2615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F3D6B"/>
                </a:solidFill>
              </a:rPr>
              <a:t>3. Cross Filter</a:t>
            </a:r>
            <a:endParaRPr lang="en-US" sz="1000"/>
          </a:p>
        </p:txBody>
      </p:sp>
      <p:sp>
        <p:nvSpPr>
          <p:cNvPr id="29" name="Text 26"/>
          <p:cNvSpPr/>
          <p:nvPr/>
        </p:nvSpPr>
        <p:spPr>
          <a:xfrm>
            <a:off x="4220320" y="4105010"/>
            <a:ext cx="1585140" cy="12124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30">
                <a:solidFill>
                  <a:srgbClr val="4A5568"/>
                </a:solidFill>
              </a:rPr>
              <a:t>Clicking age, gender, province, merchant, or brand should filter the entire dashboard.</a:t>
            </a:r>
            <a:endParaRPr lang="en-US" sz="830"/>
          </a:p>
        </p:txBody>
      </p:sp>
      <p:sp>
        <p:nvSpPr>
          <p:cNvPr id="30" name="Shape 27"/>
          <p:cNvSpPr/>
          <p:nvPr/>
        </p:nvSpPr>
        <p:spPr>
          <a:xfrm>
            <a:off x="6035460" y="3665184"/>
            <a:ext cx="1765140" cy="1723644"/>
          </a:xfrm>
          <a:prstGeom prst="roundRect">
            <a:avLst>
              <a:gd name="adj" fmla="val 3448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6035460" y="3665184"/>
            <a:ext cx="45720" cy="172364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125460" y="3772168"/>
            <a:ext cx="1585140" cy="2615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F3D6B"/>
                </a:solidFill>
              </a:rPr>
              <a:t>4. L3 Maximum</a:t>
            </a:r>
            <a:endParaRPr lang="en-US" sz="1000"/>
          </a:p>
        </p:txBody>
      </p:sp>
      <p:sp>
        <p:nvSpPr>
          <p:cNvPr id="33" name="Text 30"/>
          <p:cNvSpPr/>
          <p:nvPr/>
        </p:nvSpPr>
        <p:spPr>
          <a:xfrm>
            <a:off x="6125460" y="4105010"/>
            <a:ext cx="1585140" cy="12124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30">
                <a:solidFill>
                  <a:srgbClr val="4A5568"/>
                </a:solidFill>
              </a:rPr>
              <a:t>Keep navigation simple: L1 overview and L2 analysis, with L3 detail only where row-level data is required.</a:t>
            </a:r>
            <a:endParaRPr lang="en-US" sz="830"/>
          </a:p>
        </p:txBody>
      </p:sp>
      <p:sp>
        <p:nvSpPr>
          <p:cNvPr id="34" name="Shape 31"/>
          <p:cNvSpPr/>
          <p:nvPr/>
        </p:nvSpPr>
        <p:spPr>
          <a:xfrm>
            <a:off x="7940600" y="3665184"/>
            <a:ext cx="1765140" cy="1723644"/>
          </a:xfrm>
          <a:prstGeom prst="roundRect">
            <a:avLst>
              <a:gd name="adj" fmla="val 3448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7940600" y="3665184"/>
            <a:ext cx="45720" cy="172364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8030600" y="3772168"/>
            <a:ext cx="1585140" cy="2615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F3D6B"/>
                </a:solidFill>
              </a:rPr>
              <a:t>5. Export to Slides</a:t>
            </a:r>
            <a:endParaRPr lang="en-US" sz="1000"/>
          </a:p>
        </p:txBody>
      </p:sp>
      <p:sp>
        <p:nvSpPr>
          <p:cNvPr id="37" name="Text 34"/>
          <p:cNvSpPr/>
          <p:nvPr/>
        </p:nvSpPr>
        <p:spPr>
          <a:xfrm>
            <a:off x="8030600" y="4105010"/>
            <a:ext cx="1585140" cy="12124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30">
                <a:solidFill>
                  <a:srgbClr val="4A5568"/>
                </a:solidFill>
              </a:rPr>
              <a:t>Every chart and table needs one-click copy or image / CSV export so results can be pasted straight into PowerPoint.</a:t>
            </a:r>
            <a:endParaRPr lang="en-US" sz="830"/>
          </a:p>
        </p:txBody>
      </p:sp>
      <p:sp>
        <p:nvSpPr>
          <p:cNvPr id="38" name="Shape 35"/>
          <p:cNvSpPr/>
          <p:nvPr/>
        </p:nvSpPr>
        <p:spPr>
          <a:xfrm>
            <a:off x="9845740" y="3665184"/>
            <a:ext cx="1765140" cy="1723644"/>
          </a:xfrm>
          <a:prstGeom prst="roundRect">
            <a:avLst>
              <a:gd name="adj" fmla="val 3448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9845740" y="3665184"/>
            <a:ext cx="45720" cy="172364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9935740" y="3772168"/>
            <a:ext cx="1585140" cy="2615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F3D6B"/>
                </a:solidFill>
              </a:rPr>
              <a:t>6. Superset Standards</a:t>
            </a:r>
            <a:endParaRPr lang="en-US" sz="1000"/>
          </a:p>
        </p:txBody>
      </p:sp>
      <p:sp>
        <p:nvSpPr>
          <p:cNvPr id="41" name="Text 38"/>
          <p:cNvSpPr/>
          <p:nvPr/>
        </p:nvSpPr>
        <p:spPr>
          <a:xfrm>
            <a:off x="9935740" y="4105010"/>
            <a:ext cx="1585140" cy="12124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30">
                <a:solidFill>
                  <a:srgbClr val="4A5568"/>
                </a:solidFill>
              </a:rPr>
              <a:t>Shared CSS template, fixed chart types and colors, and reusable datasets keep every dashboard consistent.</a:t>
            </a:r>
            <a:endParaRPr lang="en-US" sz="83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8016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794">
                <a:solidFill>
                  <a:srgbClr val="8B95A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42" b="1">
                <a:solidFill>
                  <a:srgbClr val="1F3D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Concept</a:t>
            </a:r>
            <a:endParaRPr lang="en-US" sz="2542"/>
          </a:p>
        </p:txBody>
      </p:sp>
      <p:sp>
        <p:nvSpPr>
          <p:cNvPr id="3" name="Text 1"/>
          <p:cNvSpPr/>
          <p:nvPr/>
        </p:nvSpPr>
        <p:spPr>
          <a:xfrm>
            <a:off x="274320" y="502920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6">
                <a:solidFill>
                  <a:srgbClr val="4A5568"/>
                </a:solidFill>
              </a:rPr>
              <a:t>From one static dashboard to a three-level analysis journey.</a:t>
            </a:r>
            <a:endParaRPr lang="en-US" sz="1076"/>
          </a:p>
        </p:txBody>
      </p:sp>
      <p:sp>
        <p:nvSpPr>
          <p:cNvPr id="5" name="Shape 2"/>
          <p:cNvSpPr/>
          <p:nvPr/>
        </p:nvSpPr>
        <p:spPr>
          <a:xfrm>
            <a:off x="502920" y="1050000"/>
            <a:ext cx="2926080" cy="1248156"/>
          </a:xfrm>
          <a:prstGeom prst="roundRect">
            <a:avLst>
              <a:gd name="adj" fmla="val 4762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02920" y="1050000"/>
            <a:ext cx="45720" cy="1248156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21792" y="1156984"/>
            <a:ext cx="2724912" cy="2615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286" b="1">
                <a:solidFill>
                  <a:srgbClr val="1F3D6B"/>
                </a:solidFill>
              </a:rPr>
              <a:t>L1 Executive Overview</a:t>
            </a:r>
            <a:endParaRPr lang="en-US" sz="1286"/>
          </a:p>
        </p:txBody>
      </p:sp>
      <p:sp>
        <p:nvSpPr>
          <p:cNvPr id="8" name="Text 5"/>
          <p:cNvSpPr/>
          <p:nvPr/>
        </p:nvSpPr>
        <p:spPr>
          <a:xfrm>
            <a:off x="621792" y="1489826"/>
            <a:ext cx="2724912" cy="73700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1">
                <a:solidFill>
                  <a:srgbClr val="4A5568"/>
                </a:solidFill>
              </a:rPr>
              <a:t>Snapshot, KPI trend entry points, key alerts</a:t>
            </a:r>
            <a:endParaRPr lang="en-US" sz="1031"/>
          </a:p>
        </p:txBody>
      </p:sp>
      <p:sp>
        <p:nvSpPr>
          <p:cNvPr id="9" name="Shape 6"/>
          <p:cNvSpPr/>
          <p:nvPr/>
        </p:nvSpPr>
        <p:spPr>
          <a:xfrm>
            <a:off x="4617720" y="1050000"/>
            <a:ext cx="2926080" cy="1248156"/>
          </a:xfrm>
          <a:prstGeom prst="roundRect">
            <a:avLst>
              <a:gd name="adj" fmla="val 4762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17720" y="1050000"/>
            <a:ext cx="45720" cy="1248156"/>
          </a:xfrm>
          <a:prstGeom prst="rect">
            <a:avLst/>
          </a:prstGeom>
          <a:solidFill>
            <a:srgbClr val="D98F1F"/>
          </a:solidFill>
          <a:ln w="12700">
            <a:solidFill>
              <a:srgbClr val="D98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736592" y="1156984"/>
            <a:ext cx="2724912" cy="2615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286" b="1">
                <a:solidFill>
                  <a:srgbClr val="1F3D6B"/>
                </a:solidFill>
              </a:rPr>
              <a:t>L2 Analysis Views</a:t>
            </a:r>
            <a:endParaRPr lang="en-US" sz="1286"/>
          </a:p>
        </p:txBody>
      </p:sp>
      <p:sp>
        <p:nvSpPr>
          <p:cNvPr id="12" name="Text 9"/>
          <p:cNvSpPr/>
          <p:nvPr/>
        </p:nvSpPr>
        <p:spPr>
          <a:xfrm>
            <a:off x="4736592" y="1489826"/>
            <a:ext cx="2724912" cy="73700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1">
                <a:solidFill>
                  <a:srgbClr val="4A5568"/>
                </a:solidFill>
              </a:rPr>
              <a:t>Trend, contribution, composition, map, ranking tabs</a:t>
            </a:r>
            <a:endParaRPr lang="en-US" sz="1031"/>
          </a:p>
        </p:txBody>
      </p:sp>
      <p:sp>
        <p:nvSpPr>
          <p:cNvPr id="13" name="Shape 10"/>
          <p:cNvSpPr/>
          <p:nvPr/>
        </p:nvSpPr>
        <p:spPr>
          <a:xfrm>
            <a:off x="8732520" y="1050000"/>
            <a:ext cx="2926080" cy="1248156"/>
          </a:xfrm>
          <a:prstGeom prst="roundRect">
            <a:avLst>
              <a:gd name="adj" fmla="val 4762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732520" y="1050000"/>
            <a:ext cx="45720" cy="124815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851392" y="1156984"/>
            <a:ext cx="2724912" cy="26151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286" b="1">
                <a:solidFill>
                  <a:srgbClr val="1F3D6B"/>
                </a:solidFill>
              </a:rPr>
              <a:t>L3 Row-Level Detail</a:t>
            </a:r>
            <a:endParaRPr lang="en-US" sz="1286"/>
          </a:p>
        </p:txBody>
      </p:sp>
      <p:sp>
        <p:nvSpPr>
          <p:cNvPr id="16" name="Text 13"/>
          <p:cNvSpPr/>
          <p:nvPr/>
        </p:nvSpPr>
        <p:spPr>
          <a:xfrm>
            <a:off x="8851392" y="1489826"/>
            <a:ext cx="2724912" cy="73700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1">
                <a:solidFill>
                  <a:srgbClr val="4A5568"/>
                </a:solidFill>
              </a:rPr>
              <a:t>Transaction-level and member-level lists, used only where row detail is required</a:t>
            </a:r>
            <a:endParaRPr lang="en-US" sz="1031"/>
          </a:p>
        </p:txBody>
      </p:sp>
      <p:sp>
        <p:nvSpPr>
          <p:cNvPr id="17" name="Shape 14"/>
          <p:cNvSpPr/>
          <p:nvPr/>
        </p:nvSpPr>
        <p:spPr>
          <a:xfrm>
            <a:off x="3474720" y="1656247"/>
            <a:ext cx="1005840" cy="0"/>
          </a:xfrm>
          <a:prstGeom prst="line">
            <a:avLst/>
          </a:prstGeom>
          <a:noFill/>
          <a:ln w="25400">
            <a:solidFill>
              <a:srgbClr val="1F3D6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7589520" y="1656247"/>
            <a:ext cx="1005840" cy="0"/>
          </a:xfrm>
          <a:prstGeom prst="line">
            <a:avLst/>
          </a:prstGeom>
          <a:noFill/>
          <a:ln w="25400">
            <a:solidFill>
              <a:srgbClr val="1F3D6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02920" y="2951952"/>
            <a:ext cx="2743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69" b="1">
                <a:solidFill>
                  <a:srgbClr val="1F3D6B"/>
                </a:solidFill>
              </a:rPr>
              <a:t>Design principle</a:t>
            </a:r>
            <a:endParaRPr lang="en-US" sz="1869"/>
          </a:p>
        </p:txBody>
      </p:sp>
      <p:sp>
        <p:nvSpPr>
          <p:cNvPr id="20" name="Text 17"/>
          <p:cNvSpPr/>
          <p:nvPr/>
        </p:nvSpPr>
        <p:spPr>
          <a:xfrm>
            <a:off x="594360" y="3463101"/>
            <a:ext cx="5029200" cy="1545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226">
                <a:solidFill>
                  <a:srgbClr val="4A5568"/>
                </a:solidFill>
              </a:rPr>
              <a:t>L1 must be readable by executives in one glance.</a:t>
            </a:r>
            <a:endParaRPr lang="en-US" sz="1226"/>
          </a:p>
          <a:p>
            <a:r>
              <a:rPr lang="en-US" sz="1226">
                <a:solidFill>
                  <a:srgbClr val="4A5568"/>
                </a:solidFill>
              </a:rPr>
              <a:t>L2 must explain trends and changes by segment.</a:t>
            </a:r>
            <a:endParaRPr lang="en-US" sz="1226"/>
          </a:p>
          <a:p>
            <a:r>
              <a:rPr lang="en-US" sz="1226">
                <a:solidFill>
                  <a:srgbClr val="4A5568"/>
                </a:solidFill>
              </a:rPr>
              <a:t>L3 is added only where row-level detail is needed; other breakdowns use L2 filters.</a:t>
            </a:r>
            <a:endParaRPr lang="en-US" sz="1226"/>
          </a:p>
          <a:p>
            <a:r>
              <a:rPr lang="en-US" sz="1226">
                <a:solidFill>
                  <a:srgbClr val="4A5568"/>
                </a:solidFill>
              </a:rPr>
              <a:t>No screen should go deeper than L3.</a:t>
            </a:r>
            <a:endParaRPr lang="en-US" sz="1226"/>
          </a:p>
        </p:txBody>
      </p:sp>
      <p:sp>
        <p:nvSpPr>
          <p:cNvPr id="21" name="Text 18"/>
          <p:cNvSpPr/>
          <p:nvPr/>
        </p:nvSpPr>
        <p:spPr>
          <a:xfrm>
            <a:off x="6400800" y="2951952"/>
            <a:ext cx="3200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69" b="1">
                <a:solidFill>
                  <a:srgbClr val="1F3D6B"/>
                </a:solidFill>
              </a:rPr>
              <a:t>Interaction principle</a:t>
            </a:r>
            <a:endParaRPr lang="en-US" sz="1869"/>
          </a:p>
        </p:txBody>
      </p:sp>
      <p:sp>
        <p:nvSpPr>
          <p:cNvPr id="22" name="Text 19"/>
          <p:cNvSpPr/>
          <p:nvPr/>
        </p:nvSpPr>
        <p:spPr>
          <a:xfrm>
            <a:off x="6492240" y="3463101"/>
            <a:ext cx="4846320" cy="1545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226">
                <a:solidFill>
                  <a:srgbClr val="4A5568"/>
                </a:solidFill>
              </a:rPr>
              <a:t>KPI click opens related trend analysis.</a:t>
            </a:r>
            <a:endParaRPr lang="en-US" sz="1226"/>
          </a:p>
          <a:p>
            <a:r>
              <a:rPr lang="en-US" sz="1226">
                <a:solidFill>
                  <a:srgbClr val="4A5568"/>
                </a:solidFill>
              </a:rPr>
              <a:t>Chart click applies cross-filter context.</a:t>
            </a:r>
            <a:endParaRPr lang="en-US" sz="1226"/>
          </a:p>
          <a:p>
            <a:r>
              <a:rPr lang="en-US" sz="1226">
                <a:solidFill>
                  <a:srgbClr val="4A5568"/>
                </a:solidFill>
              </a:rPr>
              <a:t>Table row click opens entity detail.</a:t>
            </a:r>
            <a:endParaRPr lang="en-US" sz="1226"/>
          </a:p>
          <a:p>
            <a:r>
              <a:rPr lang="en-US" sz="1226">
                <a:solidFill>
                  <a:srgbClr val="4A5568"/>
                </a:solidFill>
              </a:rPr>
              <a:t>Filter bar remains persistent across tabs.</a:t>
            </a:r>
            <a:endParaRPr lang="en-US" sz="1226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8016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794">
                <a:solidFill>
                  <a:srgbClr val="8B95A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BBBA65-B1B2-E3B0-7E31-FE70F79EB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FEE3D3E-95D5-A84E-47AD-FBF207B012AB}"/>
              </a:ext>
            </a:extLst>
          </p:cNvPr>
          <p:cNvSpPr/>
          <p:nvPr/>
        </p:nvSpPr>
        <p:spPr>
          <a:xfrm>
            <a:off x="274320" y="1097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97" b="1" dirty="0">
                <a:solidFill>
                  <a:srgbClr val="1F3D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</a:t>
            </a:r>
            <a:r>
              <a:rPr lang="en-US" sz="2197" b="1">
                <a:solidFill>
                  <a:srgbClr val="1F3D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List</a:t>
            </a:r>
            <a:endParaRPr lang="en-US" sz="2197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584FD25-DB1F-A68E-27B9-1D933D2E319E}"/>
              </a:ext>
            </a:extLst>
          </p:cNvPr>
          <p:cNvSpPr/>
          <p:nvPr/>
        </p:nvSpPr>
        <p:spPr>
          <a:xfrm>
            <a:off x="274320" y="502920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>
                <a:solidFill>
                  <a:srgbClr val="4A5568"/>
                </a:solidFill>
              </a:rPr>
              <a:t>The new navigation keeps the screen count controlled, while enabling deep trend analysis when needed. Store- and tenant-level breakdowns are handled by filters on the L2 screens, so L3 is reserved for row-level detail views.</a:t>
            </a:r>
            <a:endParaRPr lang="en-US" sz="930"/>
          </a:p>
        </p:txBody>
      </p:sp>
      <p:sp>
        <p:nvSpPr>
          <p:cNvPr id="43" name="Slide Number Placeholder 0">
            <a:extLst>
              <a:ext uri="{FF2B5EF4-FFF2-40B4-BE49-F238E27FC236}">
                <a16:creationId xmlns:a16="http://schemas.microsoft.com/office/drawing/2014/main" id="{B425CD6E-30A5-D0DA-B342-E9BFDA19C46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58016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551">
                <a:solidFill>
                  <a:srgbClr val="8B95A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BD0998C6-D8C1-3DD6-3C42-304542AE46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995893"/>
              </p:ext>
            </p:extLst>
          </p:nvPr>
        </p:nvGraphicFramePr>
        <p:xfrm>
          <a:off x="549478" y="1129642"/>
          <a:ext cx="11008538" cy="5743388"/>
        </p:xfrm>
        <a:graphic>
          <a:graphicData uri="http://schemas.openxmlformats.org/drawingml/2006/table">
            <a:tbl>
              <a:tblPr/>
              <a:tblGrid>
                <a:gridCol w="1256270">
                  <a:extLst>
                    <a:ext uri="{9D8B030D-6E8A-4147-A177-3AD203B41FA5}">
                      <a16:colId xmlns:a16="http://schemas.microsoft.com/office/drawing/2014/main" val="1941386740"/>
                    </a:ext>
                  </a:extLst>
                </a:gridCol>
                <a:gridCol w="1429230">
                  <a:extLst>
                    <a:ext uri="{9D8B030D-6E8A-4147-A177-3AD203B41FA5}">
                      <a16:colId xmlns:a16="http://schemas.microsoft.com/office/drawing/2014/main" val="2690564575"/>
                    </a:ext>
                  </a:extLst>
                </a:gridCol>
                <a:gridCol w="2658676">
                  <a:extLst>
                    <a:ext uri="{9D8B030D-6E8A-4147-A177-3AD203B41FA5}">
                      <a16:colId xmlns:a16="http://schemas.microsoft.com/office/drawing/2014/main" val="2263394665"/>
                    </a:ext>
                  </a:extLst>
                </a:gridCol>
                <a:gridCol w="2750725">
                  <a:extLst>
                    <a:ext uri="{9D8B030D-6E8A-4147-A177-3AD203B41FA5}">
                      <a16:colId xmlns:a16="http://schemas.microsoft.com/office/drawing/2014/main" val="670712659"/>
                    </a:ext>
                  </a:extLst>
                </a:gridCol>
                <a:gridCol w="2913637">
                  <a:extLst>
                    <a:ext uri="{9D8B030D-6E8A-4147-A177-3AD203B41FA5}">
                      <a16:colId xmlns:a16="http://schemas.microsoft.com/office/drawing/2014/main" val="4227595576"/>
                    </a:ext>
                  </a:extLst>
                </a:gridCol>
              </a:tblGrid>
              <a:tr h="26732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Dashboard Name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Major User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Purpose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Key KPIs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Layers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0261673"/>
                  </a:ext>
                </a:extLst>
              </a:tr>
              <a:tr h="58625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(1) Executive Summary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ACSTV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Provide a high-level overview of member count, sales, and KPI status for executive decision-making.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Total Members, Sales, KPI Achievement Rate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L1 · Executive Summary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032620"/>
                  </a:ext>
                </a:extLst>
              </a:tr>
              <a:tr h="81223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(2) Merchant Insight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Tx/>
                        <a:buChar char="-"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Merchants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Provide merchants with insights into member behavior to improve engagement and loyalty strategies.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No. of Purchasing Members, Purchase Amount, Visit Frequency, Point Activity, Living Area, Demographic Trends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b="1">
                          <a:solidFill>
                            <a:srgbClr val="1F3D6B"/>
                          </a:solidFill>
                        </a:rPr>
                        <a:t>L1 · Merchant Insight Overview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1F3D6B"/>
                          </a:solidFill>
                        </a:rPr>
                        <a:t>L2 · Demographic Analysis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1F3D6B"/>
                          </a:solidFill>
                        </a:rPr>
                        <a:t>L2 · Geography Analysis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1F3D6B"/>
                          </a:solidFill>
                        </a:rPr>
                        <a:t>L2 · Visit Timing Analysis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1F3D6B"/>
                          </a:solidFill>
                        </a:rPr>
                        <a:t>L2 · Decile Analysis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716520"/>
                  </a:ext>
                </a:extLst>
              </a:tr>
              <a:tr h="64157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(3) Mall Insight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Merchants (Stores in Mall)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Track weekly/monthly trends of sales and visits, and identify issues when targets are missed.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Sales Trend, Visit Count, Target vs Actual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b="1">
                          <a:solidFill>
                            <a:srgbClr val="1F3D6B"/>
                          </a:solidFill>
                        </a:rPr>
                        <a:t>L1 · Mall Insight Overview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900" b="1">
                          <a:solidFill>
                            <a:srgbClr val="1F3D6B"/>
                          </a:solidFill>
                        </a:rPr>
                        <a:t>L2 · Sales &amp; Visit Trend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900" b="1">
                          <a:solidFill>
                            <a:srgbClr val="1F3D6B"/>
                          </a:solidFill>
                        </a:rPr>
                        <a:t>L2 · Tenant / Floor Ranking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900" b="1">
                          <a:solidFill>
                            <a:srgbClr val="1F3D6B"/>
                          </a:solidFill>
                        </a:rPr>
                        <a:t>L2 · Target vs Actual Gap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29751"/>
                  </a:ext>
                </a:extLst>
              </a:tr>
              <a:tr h="4544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(4) Point &amp; Voucher Analysis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ACSTV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Evaluate point usage and voucher campaign effectiveness.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Point Usage Rate, Voucher Redemption Rate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b="1">
                          <a:solidFill>
                            <a:srgbClr val="1F3D6B"/>
                          </a:solidFill>
                        </a:rPr>
                        <a:t>L1 · Point &amp; Voucher Overview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900" b="1">
                          <a:solidFill>
                            <a:srgbClr val="1F3D6B"/>
                          </a:solidFill>
                        </a:rPr>
                        <a:t>L2 · Point Issuance &amp; Usage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900" b="1">
                          <a:solidFill>
                            <a:srgbClr val="1F3D6B"/>
                          </a:solidFill>
                        </a:rPr>
                        <a:t>L2 · Voucher Campaign Detail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82798"/>
                  </a:ext>
                </a:extLst>
              </a:tr>
              <a:tr h="4544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(5) Promotion Effectiveness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ACSTV</a:t>
                      </a:r>
                    </a:p>
                    <a:p>
                      <a:pPr marL="171450" marR="0" lvl="0" indent="-17145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Merchants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Measure the impact and ROI of multiple-point promotions.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Promotion ROI, Participation Rate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b="1">
                          <a:solidFill>
                            <a:srgbClr val="1F3D6B"/>
                          </a:solidFill>
                        </a:rPr>
                        <a:t>L1 · Promotion Overview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900" b="1">
                          <a:solidFill>
                            <a:srgbClr val="1F3D6B"/>
                          </a:solidFill>
                        </a:rPr>
                        <a:t>L2 · Campaign ROI Detail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900" b="1">
                          <a:solidFill>
                            <a:srgbClr val="1F3D6B"/>
                          </a:solidFill>
                        </a:rPr>
                        <a:t>L2 · Participant Analysis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429076"/>
                  </a:ext>
                </a:extLst>
              </a:tr>
              <a:tr h="4544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(6) Cross-Merchant Flow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ACSTV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Visualize member movement across group stores and mall tenants to maximize synergy.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Member Flow, Store Visit Distribution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b="1">
                          <a:solidFill>
                            <a:srgbClr val="1F3D6B"/>
                          </a:solidFill>
                        </a:rPr>
                        <a:t>L1 · Cross-Merchant Overview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900" b="1">
                          <a:solidFill>
                            <a:srgbClr val="1F3D6B"/>
                          </a:solidFill>
                        </a:rPr>
                        <a:t>L2 · Store-to-Store Flow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900" b="1">
                          <a:solidFill>
                            <a:srgbClr val="1F3D6B"/>
                          </a:solidFill>
                        </a:rPr>
                        <a:t>L2 · Visit Distribution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9609"/>
                  </a:ext>
                </a:extLst>
              </a:tr>
              <a:tr h="4544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(7) Fraud Detection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ACSTV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Identify members suspected of fraudulent activity for risk management.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Suspicious Transactions, Member Flags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b="1">
                          <a:solidFill>
                            <a:srgbClr val="1F3D6B"/>
                          </a:solidFill>
                        </a:rPr>
                        <a:t>L1 · Fraud Monitoring Overview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900" b="1">
                          <a:solidFill>
                            <a:srgbClr val="1F3D6B"/>
                          </a:solidFill>
                        </a:rPr>
                        <a:t>L2 · Suspicious Transaction Detail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900" b="1">
                          <a:solidFill>
                            <a:srgbClr val="1F3D6B"/>
                          </a:solidFill>
                        </a:rPr>
                        <a:t>L2 · Flagged Member List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900" b="1">
                          <a:solidFill>
                            <a:srgbClr val="1F3D6B"/>
                          </a:solidFill>
                        </a:rPr>
                        <a:t>L3 · Transaction-Level Alert Detail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543364"/>
                  </a:ext>
                </a:extLst>
              </a:tr>
              <a:tr h="4544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(8) Member Segmentation (RFM)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ACSTV</a:t>
                      </a:r>
                    </a:p>
                    <a:p>
                      <a:pPr marL="171450" marR="0" lvl="0" indent="-17145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Merchants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Analyze customer attributes and behavior to improve targeting accuracy.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Segment Performance, Demographics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b="1">
                          <a:solidFill>
                            <a:srgbClr val="1F3D6B"/>
                          </a:solidFill>
                        </a:rPr>
                        <a:t>L1 · RFM Segment Overview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900" b="1">
                          <a:solidFill>
                            <a:srgbClr val="1F3D6B"/>
                          </a:solidFill>
                        </a:rPr>
                        <a:t>L2 · Segment Performance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900" b="1">
                          <a:solidFill>
                            <a:srgbClr val="1F3D6B"/>
                          </a:solidFill>
                        </a:rPr>
                        <a:t>L2 · Segment Demographics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900" b="1">
                          <a:solidFill>
                            <a:srgbClr val="1F3D6B"/>
                          </a:solidFill>
                        </a:rPr>
                        <a:t>L3 · Member List by Segment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777810"/>
                  </a:ext>
                </a:extLst>
              </a:tr>
              <a:tr h="4544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(9) AEON Finance Potential Analysis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ACSTV</a:t>
                      </a:r>
                    </a:p>
                    <a:p>
                      <a:pPr marL="171450" marR="0" lvl="0" indent="-17145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ACF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Identify potential members for AEON Finance product purchases.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Financial Interest Score, Member Profile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900" b="1">
                          <a:solidFill>
                            <a:srgbClr val="1F3D6B"/>
                          </a:solidFill>
                        </a:rPr>
                        <a:t>L1 · Finance Potential Overview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900" b="1">
                          <a:solidFill>
                            <a:srgbClr val="1F3D6B"/>
                          </a:solidFill>
                        </a:rPr>
                        <a:t>L2 · Interest Score Distribution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900" b="1">
                          <a:solidFill>
                            <a:srgbClr val="1F3D6B"/>
                          </a:solidFill>
                        </a:rPr>
                        <a:t>L2 · Target Member Profile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8826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248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11480" y="1234440"/>
            <a:ext cx="64008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1912F"/>
                </a:solidFill>
              </a:rPr>
              <a:t>WWP Data Analytic Project  —  Thank you</a:t>
            </a:r>
            <a:endParaRPr lang="en-US" sz="1000"/>
          </a:p>
        </p:txBody>
      </p:sp>
      <p:sp>
        <p:nvSpPr>
          <p:cNvPr id="4" name="Text 1"/>
          <p:cNvSpPr/>
          <p:nvPr/>
        </p:nvSpPr>
        <p:spPr>
          <a:xfrm>
            <a:off x="822960" y="2331720"/>
            <a:ext cx="27432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1F3D6B"/>
                </a:solidFill>
              </a:rPr>
              <a:t>END</a:t>
            </a:r>
            <a:endParaRPr lang="en-US" sz="4400"/>
          </a:p>
        </p:txBody>
      </p:sp>
      <p:sp>
        <p:nvSpPr>
          <p:cNvPr id="5" name="Text 2"/>
          <p:cNvSpPr/>
          <p:nvPr/>
        </p:nvSpPr>
        <p:spPr>
          <a:xfrm>
            <a:off x="822960" y="3063240"/>
            <a:ext cx="92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4A5568"/>
                </a:solidFill>
              </a:rPr>
              <a:t>WAON POINT Dashboard redesign for Superset + ClickHouse migration</a:t>
            </a:r>
            <a:endParaRPr lang="en-US" sz="16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8016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B95A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FS_経営会議用マス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9EBF5">
            <a:alpha val="70000"/>
          </a:srgbClr>
        </a:solidFill>
        <a:ln>
          <a:noFill/>
        </a:ln>
      </a:spPr>
      <a:bodyPr lIns="0" rIns="0" rtlCol="0" anchor="ctr"/>
      <a:lstStyle>
        <a:defPPr algn="ctr">
          <a:defRPr kumimoji="1" sz="1400" dirty="0" smtClean="0">
            <a:solidFill>
              <a:schemeClr val="tx1"/>
            </a:solidFill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36000" tIns="36000" rIns="36000" bIns="36000" rtlCol="0">
        <a:noAutofit/>
      </a:bodyPr>
      <a:lstStyle>
        <a:defPPr algn="l">
          <a:defRPr sz="1600" dirty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AFS_経営会議用マス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9EBF5">
            <a:alpha val="70000"/>
          </a:srgbClr>
        </a:solidFill>
        <a:ln>
          <a:noFill/>
        </a:ln>
      </a:spPr>
      <a:bodyPr lIns="0" rIns="0" rtlCol="0" anchor="ctr"/>
      <a:lstStyle>
        <a:defPPr algn="ctr">
          <a:defRPr kumimoji="1" sz="1400" dirty="0" smtClean="0">
            <a:solidFill>
              <a:schemeClr val="tx1"/>
            </a:solidFill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36000" tIns="36000" rIns="36000" bIns="36000" rtlCol="0">
        <a:noAutofit/>
      </a:bodyPr>
      <a:lstStyle>
        <a:defPPr algn="l">
          <a:defRPr sz="1600" dirty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AFS_経営会議用マス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9EBF5"/>
        </a:solidFill>
        <a:ln>
          <a:noFill/>
        </a:ln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l" hangingPunct="1">
          <a:spcBef>
            <a:spcPts val="300"/>
          </a:spcBef>
          <a:defRPr kumimoji="1" sz="1400" dirty="0">
            <a:solidFill>
              <a:schemeClr val="tx1"/>
            </a:solidFill>
            <a:latin typeface="BIZ UDPゴシック" panose="020B0400000000000000" pitchFamily="50" charset="-128"/>
            <a:ea typeface="BIZ UDPゴシック" panose="020B0400000000000000" pitchFamily="50" charset="-128"/>
            <a:cs typeface="Meiryo UI" panose="020B0604030504040204" pitchFamily="50" charset="-128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tIns="36000" rIns="36000" bIns="36000" rtlCol="0">
        <a:spAutoFit/>
      </a:bodyPr>
      <a:lstStyle>
        <a:defPPr algn="l">
          <a:lnSpc>
            <a:spcPct val="120000"/>
          </a:lnSpc>
          <a:defRPr kumimoji="1" sz="1400" dirty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プレゼンテーション2" id="{6C92B7AB-3364-48A4-BE23-D47E31C2B2E7}" vid="{EAF0203E-4FAA-439B-B2C3-E1BC83454FF6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1705cee-2cc3-4c95-8cf5-0176b0bce43d}" enabled="1" method="Standard" siteId="{f7e6bf0c-8593-44eb-8595-c6c4e1c55d9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976</Words>
  <Application>Microsoft Office PowerPoint</Application>
  <PresentationFormat>Widescreen</PresentationFormat>
  <Paragraphs>139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BIZ UDPゴシック</vt:lpstr>
      <vt:lpstr>Meiryo</vt:lpstr>
      <vt:lpstr>Meiryo UI</vt:lpstr>
      <vt:lpstr>Aptos</vt:lpstr>
      <vt:lpstr>Aptos Display</vt:lpstr>
      <vt:lpstr>Arial</vt:lpstr>
      <vt:lpstr>AFS_経営会議用マスタ</vt:lpstr>
      <vt:lpstr>1_AFS_経営会議用マスタ</vt:lpstr>
      <vt:lpstr>2_AFS_経営会議用マスタ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ACS Trading Vietnam Co.,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Merchant Analysis Dashboard Redesign Plan</dc:title>
  <dc:subject>Merchant Analysis Dashboard redesign plan for migration from Looker Studio to Superset and ClickHouse</dc:subject>
  <dc:creator>Kato Takashi</dc:creator>
  <cp:lastModifiedBy>Kato Takashi</cp:lastModifiedBy>
  <cp:revision>5</cp:revision>
  <dcterms:created xsi:type="dcterms:W3CDTF">2026-08-04T11:10:37Z</dcterms:created>
  <dcterms:modified xsi:type="dcterms:W3CDTF">2026-08-07T02:06:04Z</dcterms:modified>
</cp:coreProperties>
</file>